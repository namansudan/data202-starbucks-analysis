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Bobby Jones" charset="1" panose="00000000000000000000"/>
      <p:regular r:id="rId24"/>
    </p:embeddedFont>
    <p:embeddedFont>
      <p:font typeface="Yeseva One" charset="1" panose="00000500000000000000"/>
      <p:regular r:id="rId25"/>
    </p:embeddedFont>
    <p:embeddedFont>
      <p:font typeface="Jua" charset="1" panose="000000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0.png" Type="http://schemas.openxmlformats.org/officeDocument/2006/relationships/image"/><Relationship Id="rId5"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1.jpeg" Type="http://schemas.openxmlformats.org/officeDocument/2006/relationships/image"/><Relationship Id="rId5"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2.jpeg" Type="http://schemas.openxmlformats.org/officeDocument/2006/relationships/image"/><Relationship Id="rId5"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3.png" Type="http://schemas.openxmlformats.org/officeDocument/2006/relationships/image"/><Relationship Id="rId5"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6.pn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 Id="rId8" Target="../embeddings/oleObject1.bin" Type="http://schemas.openxmlformats.org/officeDocument/2006/relationships/oleObjec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6.png" Type="http://schemas.openxmlformats.org/officeDocument/2006/relationships/image"/><Relationship Id="rId5" Target="../media/image1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6.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 Id="rId7" Target="../embeddings/oleObject2.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jpeg" Type="http://schemas.openxmlformats.org/officeDocument/2006/relationships/image"/><Relationship Id="rId3"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jpeg" Type="http://schemas.openxmlformats.org/officeDocument/2006/relationships/image"/><Relationship Id="rId3"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0.png" Type="http://schemas.openxmlformats.org/officeDocument/2006/relationships/image"/><Relationship Id="rId5"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25.png" Type="http://schemas.openxmlformats.org/officeDocument/2006/relationships/image"/><Relationship Id="rId5" Target="../media/image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26.png" Type="http://schemas.openxmlformats.org/officeDocument/2006/relationships/image"/><Relationship Id="rId5" Target="../media/image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27.png" Type="http://schemas.openxmlformats.org/officeDocument/2006/relationships/image"/><Relationship Id="rId5" Target="../media/image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A48C7E"/>
        </a:solidFill>
      </p:bgPr>
    </p:bg>
    <p:spTree>
      <p:nvGrpSpPr>
        <p:cNvPr id="1" name=""/>
        <p:cNvGrpSpPr/>
        <p:nvPr/>
      </p:nvGrpSpPr>
      <p:grpSpPr>
        <a:xfrm>
          <a:off x="0" y="0"/>
          <a:ext cx="0" cy="0"/>
          <a:chOff x="0" y="0"/>
          <a:chExt cx="0" cy="0"/>
        </a:xfrm>
      </p:grpSpPr>
      <p:sp>
        <p:nvSpPr>
          <p:cNvPr name="Freeform 2" id="2"/>
          <p:cNvSpPr/>
          <p:nvPr/>
        </p:nvSpPr>
        <p:spPr>
          <a:xfrm flipH="true" flipV="false" rot="0">
            <a:off x="-3887630" y="2721257"/>
            <a:ext cx="14305751" cy="8011220"/>
          </a:xfrm>
          <a:custGeom>
            <a:avLst/>
            <a:gdLst/>
            <a:ahLst/>
            <a:cxnLst/>
            <a:rect r="r" b="b" t="t" l="l"/>
            <a:pathLst>
              <a:path h="8011220" w="14305751">
                <a:moveTo>
                  <a:pt x="14305751" y="0"/>
                </a:moveTo>
                <a:lnTo>
                  <a:pt x="0" y="0"/>
                </a:lnTo>
                <a:lnTo>
                  <a:pt x="0" y="8011221"/>
                </a:lnTo>
                <a:lnTo>
                  <a:pt x="14305751" y="8011221"/>
                </a:lnTo>
                <a:lnTo>
                  <a:pt x="1430575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386678" y="305317"/>
            <a:ext cx="6350116" cy="9676367"/>
          </a:xfrm>
          <a:custGeom>
            <a:avLst/>
            <a:gdLst/>
            <a:ahLst/>
            <a:cxnLst/>
            <a:rect r="r" b="b" t="t" l="l"/>
            <a:pathLst>
              <a:path h="9676367" w="6350116">
                <a:moveTo>
                  <a:pt x="6350115" y="0"/>
                </a:moveTo>
                <a:lnTo>
                  <a:pt x="0" y="0"/>
                </a:lnTo>
                <a:lnTo>
                  <a:pt x="0" y="9676366"/>
                </a:lnTo>
                <a:lnTo>
                  <a:pt x="6350115" y="9676366"/>
                </a:lnTo>
                <a:lnTo>
                  <a:pt x="6350115" y="0"/>
                </a:lnTo>
                <a:close/>
              </a:path>
            </a:pathLst>
          </a:custGeom>
          <a:blipFill>
            <a:blip r:embed="rId4"/>
            <a:stretch>
              <a:fillRect l="0" t="0" r="0" b="0"/>
            </a:stretch>
          </a:blipFill>
        </p:spPr>
      </p:sp>
      <p:sp>
        <p:nvSpPr>
          <p:cNvPr name="Freeform 4" id="4"/>
          <p:cNvSpPr/>
          <p:nvPr/>
        </p:nvSpPr>
        <p:spPr>
          <a:xfrm flipH="false" flipV="false" rot="696050">
            <a:off x="283742" y="4932068"/>
            <a:ext cx="2638426" cy="5945748"/>
          </a:xfrm>
          <a:custGeom>
            <a:avLst/>
            <a:gdLst/>
            <a:ahLst/>
            <a:cxnLst/>
            <a:rect r="r" b="b" t="t" l="l"/>
            <a:pathLst>
              <a:path h="5945748" w="2638426">
                <a:moveTo>
                  <a:pt x="0" y="0"/>
                </a:moveTo>
                <a:lnTo>
                  <a:pt x="2638426" y="0"/>
                </a:lnTo>
                <a:lnTo>
                  <a:pt x="2638426" y="5945749"/>
                </a:lnTo>
                <a:lnTo>
                  <a:pt x="0" y="5945749"/>
                </a:lnTo>
                <a:lnTo>
                  <a:pt x="0" y="0"/>
                </a:lnTo>
                <a:close/>
              </a:path>
            </a:pathLst>
          </a:custGeom>
          <a:blipFill>
            <a:blip r:embed="rId5"/>
            <a:stretch>
              <a:fillRect l="0" t="0" r="0" b="0"/>
            </a:stretch>
          </a:blipFill>
        </p:spPr>
      </p:sp>
      <p:sp>
        <p:nvSpPr>
          <p:cNvPr name="Freeform 5" id="5"/>
          <p:cNvSpPr/>
          <p:nvPr/>
        </p:nvSpPr>
        <p:spPr>
          <a:xfrm flipH="false" flipV="false" rot="0">
            <a:off x="12381188" y="4684189"/>
            <a:ext cx="10802578" cy="8229600"/>
          </a:xfrm>
          <a:custGeom>
            <a:avLst/>
            <a:gdLst/>
            <a:ahLst/>
            <a:cxnLst/>
            <a:rect r="r" b="b" t="t" l="l"/>
            <a:pathLst>
              <a:path h="8229600" w="10802578">
                <a:moveTo>
                  <a:pt x="0" y="0"/>
                </a:moveTo>
                <a:lnTo>
                  <a:pt x="10802577" y="0"/>
                </a:lnTo>
                <a:lnTo>
                  <a:pt x="10802577" y="8229600"/>
                </a:lnTo>
                <a:lnTo>
                  <a:pt x="0" y="8229600"/>
                </a:lnTo>
                <a:lnTo>
                  <a:pt x="0" y="0"/>
                </a:lnTo>
                <a:close/>
              </a:path>
            </a:pathLst>
          </a:custGeom>
          <a:blipFill>
            <a:blip r:embed="rId6">
              <a:alphaModFix amt="38000"/>
            </a:blip>
            <a:stretch>
              <a:fillRect l="0" t="0" r="0" b="0"/>
            </a:stretch>
          </a:blipFill>
        </p:spPr>
      </p:sp>
      <p:sp>
        <p:nvSpPr>
          <p:cNvPr name="TextBox 6" id="6"/>
          <p:cNvSpPr txBox="true"/>
          <p:nvPr/>
        </p:nvSpPr>
        <p:spPr>
          <a:xfrm rot="0">
            <a:off x="8876550" y="873636"/>
            <a:ext cx="8382750" cy="2483537"/>
          </a:xfrm>
          <a:prstGeom prst="rect">
            <a:avLst/>
          </a:prstGeom>
        </p:spPr>
        <p:txBody>
          <a:bodyPr anchor="t" rtlCol="false" tIns="0" lIns="0" bIns="0" rIns="0">
            <a:spAutoFit/>
          </a:bodyPr>
          <a:lstStyle/>
          <a:p>
            <a:pPr algn="l">
              <a:lnSpc>
                <a:spcPts val="20087"/>
              </a:lnSpc>
              <a:spcBef>
                <a:spcPct val="0"/>
              </a:spcBef>
            </a:pPr>
            <a:r>
              <a:rPr lang="en-US" sz="14347">
                <a:solidFill>
                  <a:srgbClr val="FFFDF7"/>
                </a:solidFill>
                <a:latin typeface="Bobby Jones"/>
                <a:ea typeface="Bobby Jones"/>
                <a:cs typeface="Bobby Jones"/>
                <a:sym typeface="Bobby Jones"/>
              </a:rPr>
              <a:t>Starbucks</a:t>
            </a:r>
          </a:p>
        </p:txBody>
      </p:sp>
      <p:sp>
        <p:nvSpPr>
          <p:cNvPr name="TextBox 7" id="7"/>
          <p:cNvSpPr txBox="true"/>
          <p:nvPr/>
        </p:nvSpPr>
        <p:spPr>
          <a:xfrm rot="0">
            <a:off x="9144000" y="3667630"/>
            <a:ext cx="8375468" cy="2062617"/>
          </a:xfrm>
          <a:prstGeom prst="rect">
            <a:avLst/>
          </a:prstGeom>
        </p:spPr>
        <p:txBody>
          <a:bodyPr anchor="t" rtlCol="false" tIns="0" lIns="0" bIns="0" rIns="0">
            <a:spAutoFit/>
          </a:bodyPr>
          <a:lstStyle/>
          <a:p>
            <a:pPr algn="ctr">
              <a:lnSpc>
                <a:spcPts val="5487"/>
              </a:lnSpc>
              <a:spcBef>
                <a:spcPct val="0"/>
              </a:spcBef>
            </a:pPr>
            <a:r>
              <a:rPr lang="en-US" sz="3919" spc="1281">
                <a:solidFill>
                  <a:srgbClr val="FFFDF7"/>
                </a:solidFill>
                <a:latin typeface="Bobby Jones"/>
                <a:ea typeface="Bobby Jones"/>
                <a:cs typeface="Bobby Jones"/>
                <a:sym typeface="Bobby Jones"/>
              </a:rPr>
              <a:t>“Every great solution starts with a good cup of coffee.”</a:t>
            </a:r>
          </a:p>
        </p:txBody>
      </p:sp>
      <p:sp>
        <p:nvSpPr>
          <p:cNvPr name="Freeform 8" id="8"/>
          <p:cNvSpPr/>
          <p:nvPr/>
        </p:nvSpPr>
        <p:spPr>
          <a:xfrm flipH="false" flipV="false" rot="0">
            <a:off x="346318" y="0"/>
            <a:ext cx="1364764" cy="1705955"/>
          </a:xfrm>
          <a:custGeom>
            <a:avLst/>
            <a:gdLst/>
            <a:ahLst/>
            <a:cxnLst/>
            <a:rect r="r" b="b" t="t" l="l"/>
            <a:pathLst>
              <a:path h="1705955" w="1364764">
                <a:moveTo>
                  <a:pt x="0" y="0"/>
                </a:moveTo>
                <a:lnTo>
                  <a:pt x="1364764" y="0"/>
                </a:lnTo>
                <a:lnTo>
                  <a:pt x="1364764" y="1705955"/>
                </a:lnTo>
                <a:lnTo>
                  <a:pt x="0" y="1705955"/>
                </a:lnTo>
                <a:lnTo>
                  <a:pt x="0" y="0"/>
                </a:lnTo>
                <a:close/>
              </a:path>
            </a:pathLst>
          </a:custGeom>
          <a:blipFill>
            <a:blip r:embed="rId7"/>
            <a:stretch>
              <a:fillRect l="-12500" t="0" r="-12500" b="0"/>
            </a:stretch>
          </a:blipFill>
        </p:spPr>
      </p:sp>
      <p:sp>
        <p:nvSpPr>
          <p:cNvPr name="TextBox 9" id="9"/>
          <p:cNvSpPr txBox="true"/>
          <p:nvPr/>
        </p:nvSpPr>
        <p:spPr>
          <a:xfrm rot="0">
            <a:off x="504110" y="1263151"/>
            <a:ext cx="1049179" cy="249093"/>
          </a:xfrm>
          <a:prstGeom prst="rect">
            <a:avLst/>
          </a:prstGeom>
        </p:spPr>
        <p:txBody>
          <a:bodyPr anchor="t" rtlCol="false" tIns="0" lIns="0" bIns="0" rIns="0">
            <a:spAutoFit/>
          </a:bodyPr>
          <a:lstStyle/>
          <a:p>
            <a:pPr algn="ctr">
              <a:lnSpc>
                <a:spcPts val="1945"/>
              </a:lnSpc>
            </a:pPr>
            <a:r>
              <a:rPr lang="en-US" sz="1389">
                <a:solidFill>
                  <a:srgbClr val="FAF8ED"/>
                </a:solidFill>
                <a:latin typeface="Yeseva One"/>
                <a:ea typeface="Yeseva One"/>
                <a:cs typeface="Yeseva One"/>
                <a:sym typeface="Yeseva One"/>
              </a:rPr>
              <a:t>Starbucks</a:t>
            </a:r>
          </a:p>
        </p:txBody>
      </p:sp>
      <p:sp>
        <p:nvSpPr>
          <p:cNvPr name="TextBox 10" id="10"/>
          <p:cNvSpPr txBox="true"/>
          <p:nvPr/>
        </p:nvSpPr>
        <p:spPr>
          <a:xfrm rot="0">
            <a:off x="9792799" y="6498310"/>
            <a:ext cx="7077871" cy="862915"/>
          </a:xfrm>
          <a:prstGeom prst="rect">
            <a:avLst/>
          </a:prstGeom>
        </p:spPr>
        <p:txBody>
          <a:bodyPr anchor="t" rtlCol="false" tIns="0" lIns="0" bIns="0" rIns="0">
            <a:spAutoFit/>
          </a:bodyPr>
          <a:lstStyle/>
          <a:p>
            <a:pPr algn="ctr" marL="0" indent="0" lvl="0">
              <a:lnSpc>
                <a:spcPts val="3424"/>
              </a:lnSpc>
              <a:spcBef>
                <a:spcPct val="0"/>
              </a:spcBef>
            </a:pPr>
            <a:r>
              <a:rPr lang="en-US" sz="2446" spc="799" strike="noStrike" u="none">
                <a:solidFill>
                  <a:srgbClr val="FFFDF7"/>
                </a:solidFill>
                <a:latin typeface="Bobby Jones"/>
                <a:ea typeface="Bobby Jones"/>
                <a:cs typeface="Bobby Jones"/>
                <a:sym typeface="Bobby Jones"/>
              </a:rPr>
              <a:t>Presented By:</a:t>
            </a:r>
          </a:p>
          <a:p>
            <a:pPr algn="ctr" marL="0" indent="0" lvl="0">
              <a:lnSpc>
                <a:spcPts val="3424"/>
              </a:lnSpc>
              <a:spcBef>
                <a:spcPct val="0"/>
              </a:spcBef>
            </a:pPr>
            <a:r>
              <a:rPr lang="en-US" sz="2446" spc="799" strike="noStrike" u="none">
                <a:solidFill>
                  <a:srgbClr val="FFFDF7"/>
                </a:solidFill>
                <a:latin typeface="Bobby Jones"/>
                <a:ea typeface="Bobby Jones"/>
                <a:cs typeface="Bobby Jones"/>
                <a:sym typeface="Bobby Jones"/>
              </a:rPr>
              <a:t>NamaN, Priya, Varuna, Sanjana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BCBBB"/>
        </a:solidFill>
      </p:bgPr>
    </p:bg>
    <p:spTree>
      <p:nvGrpSpPr>
        <p:cNvPr id="1" name=""/>
        <p:cNvGrpSpPr/>
        <p:nvPr/>
      </p:nvGrpSpPr>
      <p:grpSpPr>
        <a:xfrm>
          <a:off x="0" y="0"/>
          <a:ext cx="0" cy="0"/>
          <a:chOff x="0" y="0"/>
          <a:chExt cx="0" cy="0"/>
        </a:xfrm>
      </p:grpSpPr>
      <p:sp>
        <p:nvSpPr>
          <p:cNvPr name="Freeform 2" id="2"/>
          <p:cNvSpPr/>
          <p:nvPr/>
        </p:nvSpPr>
        <p:spPr>
          <a:xfrm flipH="false" flipV="false" rot="0">
            <a:off x="13312778" y="-769428"/>
            <a:ext cx="6794492" cy="11825856"/>
          </a:xfrm>
          <a:custGeom>
            <a:avLst/>
            <a:gdLst/>
            <a:ahLst/>
            <a:cxnLst/>
            <a:rect r="r" b="b" t="t" l="l"/>
            <a:pathLst>
              <a:path h="11825856" w="6794492">
                <a:moveTo>
                  <a:pt x="0" y="0"/>
                </a:moveTo>
                <a:lnTo>
                  <a:pt x="6794492" y="0"/>
                </a:lnTo>
                <a:lnTo>
                  <a:pt x="6794492" y="11825856"/>
                </a:lnTo>
                <a:lnTo>
                  <a:pt x="0" y="11825856"/>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13788" y="-1061144"/>
            <a:ext cx="6794492" cy="11825856"/>
          </a:xfrm>
          <a:custGeom>
            <a:avLst/>
            <a:gdLst/>
            <a:ahLst/>
            <a:cxnLst/>
            <a:rect r="r" b="b" t="t" l="l"/>
            <a:pathLst>
              <a:path h="11825856" w="6794492">
                <a:moveTo>
                  <a:pt x="0" y="0"/>
                </a:moveTo>
                <a:lnTo>
                  <a:pt x="6794491" y="0"/>
                </a:lnTo>
                <a:lnTo>
                  <a:pt x="6794491" y="11825856"/>
                </a:lnTo>
                <a:lnTo>
                  <a:pt x="0" y="11825856"/>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990171" y="6657975"/>
            <a:ext cx="7892972" cy="5308024"/>
          </a:xfrm>
          <a:custGeom>
            <a:avLst/>
            <a:gdLst/>
            <a:ahLst/>
            <a:cxnLst/>
            <a:rect r="r" b="b" t="t" l="l"/>
            <a:pathLst>
              <a:path h="5308024" w="7892972">
                <a:moveTo>
                  <a:pt x="0" y="0"/>
                </a:moveTo>
                <a:lnTo>
                  <a:pt x="7892972" y="0"/>
                </a:lnTo>
                <a:lnTo>
                  <a:pt x="7892972" y="5308024"/>
                </a:lnTo>
                <a:lnTo>
                  <a:pt x="0" y="5308024"/>
                </a:lnTo>
                <a:lnTo>
                  <a:pt x="0" y="0"/>
                </a:lnTo>
                <a:close/>
              </a:path>
            </a:pathLst>
          </a:custGeom>
          <a:blipFill>
            <a:blip r:embed="rId4"/>
            <a:stretch>
              <a:fillRect l="0" t="0" r="0" b="0"/>
            </a:stretch>
          </a:blipFill>
        </p:spPr>
      </p:sp>
      <p:sp>
        <p:nvSpPr>
          <p:cNvPr name="TextBox 5" id="5"/>
          <p:cNvSpPr txBox="true"/>
          <p:nvPr/>
        </p:nvSpPr>
        <p:spPr>
          <a:xfrm rot="0">
            <a:off x="1975725" y="589615"/>
            <a:ext cx="13921864" cy="1116341"/>
          </a:xfrm>
          <a:prstGeom prst="rect">
            <a:avLst/>
          </a:prstGeom>
        </p:spPr>
        <p:txBody>
          <a:bodyPr anchor="t" rtlCol="false" tIns="0" lIns="0" bIns="0" rIns="0">
            <a:spAutoFit/>
          </a:bodyPr>
          <a:lstStyle/>
          <a:p>
            <a:pPr algn="ctr">
              <a:lnSpc>
                <a:spcPts val="8160"/>
              </a:lnSpc>
            </a:pPr>
            <a:r>
              <a:rPr lang="en-US" sz="8500">
                <a:solidFill>
                  <a:srgbClr val="7D4C3D"/>
                </a:solidFill>
                <a:latin typeface="Bobby Jones"/>
                <a:ea typeface="Bobby Jones"/>
                <a:cs typeface="Bobby Jones"/>
                <a:sym typeface="Bobby Jones"/>
              </a:rPr>
              <a:t>Starbucks Dataset</a:t>
            </a:r>
          </a:p>
        </p:txBody>
      </p:sp>
      <p:sp>
        <p:nvSpPr>
          <p:cNvPr name="TextBox 6" id="6"/>
          <p:cNvSpPr txBox="true"/>
          <p:nvPr/>
        </p:nvSpPr>
        <p:spPr>
          <a:xfrm rot="0">
            <a:off x="8207983" y="2449300"/>
            <a:ext cx="9051317" cy="2295525"/>
          </a:xfrm>
          <a:prstGeom prst="rect">
            <a:avLst/>
          </a:prstGeom>
        </p:spPr>
        <p:txBody>
          <a:bodyPr anchor="t" rtlCol="false" tIns="0" lIns="0" bIns="0" rIns="0">
            <a:spAutoFit/>
          </a:bodyPr>
          <a:lstStyle/>
          <a:p>
            <a:pPr algn="l">
              <a:lnSpc>
                <a:spcPts val="2945"/>
              </a:lnSpc>
            </a:pPr>
            <a:r>
              <a:rPr lang="en-US" sz="2454" spc="49">
                <a:solidFill>
                  <a:srgbClr val="7D4C3D"/>
                </a:solidFill>
                <a:latin typeface="Jua"/>
                <a:ea typeface="Jua"/>
                <a:cs typeface="Jua"/>
                <a:sym typeface="Jua"/>
              </a:rPr>
              <a:t>This dataset is a high - resolution behavioral map capturing the longitudinal purchasing history of 14,988 unique customers. It goes beyond simple transaction logs by tracking the relationship between specific behavioral traits such as customization frequency and visit consistency and total lifetime revenue.</a:t>
            </a:r>
          </a:p>
          <a:p>
            <a:pPr algn="ctr">
              <a:lnSpc>
                <a:spcPts val="2945"/>
              </a:lnSpc>
            </a:pPr>
          </a:p>
        </p:txBody>
      </p:sp>
      <p:sp>
        <p:nvSpPr>
          <p:cNvPr name="Freeform 7" id="7"/>
          <p:cNvSpPr/>
          <p:nvPr/>
        </p:nvSpPr>
        <p:spPr>
          <a:xfrm flipH="false" flipV="false" rot="0">
            <a:off x="346318" y="0"/>
            <a:ext cx="1364764" cy="1705955"/>
          </a:xfrm>
          <a:custGeom>
            <a:avLst/>
            <a:gdLst/>
            <a:ahLst/>
            <a:cxnLst/>
            <a:rect r="r" b="b" t="t" l="l"/>
            <a:pathLst>
              <a:path h="1705955" w="1364764">
                <a:moveTo>
                  <a:pt x="0" y="0"/>
                </a:moveTo>
                <a:lnTo>
                  <a:pt x="1364764" y="0"/>
                </a:lnTo>
                <a:lnTo>
                  <a:pt x="1364764" y="1705955"/>
                </a:lnTo>
                <a:lnTo>
                  <a:pt x="0" y="1705955"/>
                </a:lnTo>
                <a:lnTo>
                  <a:pt x="0" y="0"/>
                </a:lnTo>
                <a:close/>
              </a:path>
            </a:pathLst>
          </a:custGeom>
          <a:blipFill>
            <a:blip r:embed="rId5"/>
            <a:stretch>
              <a:fillRect l="-12500" t="0" r="-12500" b="0"/>
            </a:stretch>
          </a:blipFill>
        </p:spPr>
      </p:sp>
      <p:sp>
        <p:nvSpPr>
          <p:cNvPr name="TextBox 8" id="8"/>
          <p:cNvSpPr txBox="true"/>
          <p:nvPr/>
        </p:nvSpPr>
        <p:spPr>
          <a:xfrm rot="0">
            <a:off x="504110" y="1263151"/>
            <a:ext cx="1049179" cy="249093"/>
          </a:xfrm>
          <a:prstGeom prst="rect">
            <a:avLst/>
          </a:prstGeom>
        </p:spPr>
        <p:txBody>
          <a:bodyPr anchor="t" rtlCol="false" tIns="0" lIns="0" bIns="0" rIns="0">
            <a:spAutoFit/>
          </a:bodyPr>
          <a:lstStyle/>
          <a:p>
            <a:pPr algn="ctr">
              <a:lnSpc>
                <a:spcPts val="1945"/>
              </a:lnSpc>
            </a:pPr>
            <a:r>
              <a:rPr lang="en-US" sz="1389">
                <a:solidFill>
                  <a:srgbClr val="FAF8ED"/>
                </a:solidFill>
                <a:latin typeface="Yeseva One"/>
                <a:ea typeface="Yeseva One"/>
                <a:cs typeface="Yeseva One"/>
                <a:sym typeface="Yeseva One"/>
              </a:rPr>
              <a:t>Starbucks</a:t>
            </a:r>
          </a:p>
        </p:txBody>
      </p:sp>
      <p:sp>
        <p:nvSpPr>
          <p:cNvPr name="TextBox 9" id="9"/>
          <p:cNvSpPr txBox="true"/>
          <p:nvPr/>
        </p:nvSpPr>
        <p:spPr>
          <a:xfrm rot="0">
            <a:off x="2777179" y="5076825"/>
            <a:ext cx="12733641" cy="1181100"/>
          </a:xfrm>
          <a:prstGeom prst="rect">
            <a:avLst/>
          </a:prstGeom>
        </p:spPr>
        <p:txBody>
          <a:bodyPr anchor="t" rtlCol="false" tIns="0" lIns="0" bIns="0" rIns="0">
            <a:spAutoFit/>
          </a:bodyPr>
          <a:lstStyle/>
          <a:p>
            <a:pPr algn="ctr" marL="0" indent="0" lvl="0">
              <a:lnSpc>
                <a:spcPts val="2945"/>
              </a:lnSpc>
              <a:spcBef>
                <a:spcPct val="0"/>
              </a:spcBef>
            </a:pPr>
            <a:r>
              <a:rPr lang="en-US" sz="2454" spc="49" strike="noStrike" u="none">
                <a:solidFill>
                  <a:srgbClr val="7D4C3D"/>
                </a:solidFill>
                <a:latin typeface="Jua"/>
                <a:ea typeface="Jua"/>
                <a:cs typeface="Jua"/>
                <a:sym typeface="Jua"/>
              </a:rPr>
              <a:t>Why we choose this topic</a:t>
            </a:r>
          </a:p>
          <a:p>
            <a:pPr algn="ctr" marL="0" indent="0" lvl="0">
              <a:lnSpc>
                <a:spcPts val="2945"/>
              </a:lnSpc>
              <a:spcBef>
                <a:spcPct val="0"/>
              </a:spcBef>
            </a:pPr>
          </a:p>
          <a:p>
            <a:pPr algn="ctr" marL="0" indent="0" lvl="0">
              <a:lnSpc>
                <a:spcPts val="2945"/>
              </a:lnSpc>
              <a:spcBef>
                <a:spcPct val="0"/>
              </a:spcBef>
            </a:pPr>
            <a:r>
              <a:rPr lang="en-US" sz="2454" spc="49" strike="noStrike" u="none">
                <a:solidFill>
                  <a:srgbClr val="7D4C3D"/>
                </a:solidFill>
                <a:latin typeface="Jua"/>
                <a:ea typeface="Jua"/>
                <a:cs typeface="Jua"/>
                <a:sym typeface="Jua"/>
              </a:rPr>
              <a:t>Statistical Significance, Behavioral Depth, Real-World Complexity And,We love Coffee.........</a:t>
            </a:r>
          </a:p>
        </p:txBody>
      </p:sp>
    </p:spTree>
  </p:cSld>
  <p:clrMapOvr>
    <a:masterClrMapping/>
  </p:clrMapOvr>
  <p:transition spd="fast">
    <p:wipe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BCBBB"/>
        </a:solidFill>
      </p:bgPr>
    </p:bg>
    <p:spTree>
      <p:nvGrpSpPr>
        <p:cNvPr id="1" name=""/>
        <p:cNvGrpSpPr/>
        <p:nvPr/>
      </p:nvGrpSpPr>
      <p:grpSpPr>
        <a:xfrm>
          <a:off x="0" y="0"/>
          <a:ext cx="0" cy="0"/>
          <a:chOff x="0" y="0"/>
          <a:chExt cx="0" cy="0"/>
        </a:xfrm>
      </p:grpSpPr>
      <p:sp>
        <p:nvSpPr>
          <p:cNvPr name="Freeform 2" id="2"/>
          <p:cNvSpPr/>
          <p:nvPr/>
        </p:nvSpPr>
        <p:spPr>
          <a:xfrm flipH="false" flipV="false" rot="0">
            <a:off x="-370702" y="-244773"/>
            <a:ext cx="6794492" cy="11825856"/>
          </a:xfrm>
          <a:custGeom>
            <a:avLst/>
            <a:gdLst/>
            <a:ahLst/>
            <a:cxnLst/>
            <a:rect r="r" b="b" t="t" l="l"/>
            <a:pathLst>
              <a:path h="11825856" w="6794492">
                <a:moveTo>
                  <a:pt x="0" y="0"/>
                </a:moveTo>
                <a:lnTo>
                  <a:pt x="6794492" y="0"/>
                </a:lnTo>
                <a:lnTo>
                  <a:pt x="6794492" y="11825856"/>
                </a:lnTo>
                <a:lnTo>
                  <a:pt x="0" y="11825856"/>
                </a:lnTo>
                <a:lnTo>
                  <a:pt x="0" y="0"/>
                </a:lnTo>
                <a:close/>
              </a:path>
            </a:pathLst>
          </a:custGeom>
          <a:blipFill>
            <a:blip r:embed="rId2">
              <a:alphaModFix amt="3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8089" y="3677775"/>
            <a:ext cx="5379405" cy="3980759"/>
          </a:xfrm>
          <a:custGeom>
            <a:avLst/>
            <a:gdLst/>
            <a:ahLst/>
            <a:cxnLst/>
            <a:rect r="r" b="b" t="t" l="l"/>
            <a:pathLst>
              <a:path h="3980759" w="5379405">
                <a:moveTo>
                  <a:pt x="0" y="0"/>
                </a:moveTo>
                <a:lnTo>
                  <a:pt x="5379405" y="0"/>
                </a:lnTo>
                <a:lnTo>
                  <a:pt x="5379405" y="3980759"/>
                </a:lnTo>
                <a:lnTo>
                  <a:pt x="0" y="3980759"/>
                </a:lnTo>
                <a:lnTo>
                  <a:pt x="0" y="0"/>
                </a:lnTo>
                <a:close/>
              </a:path>
            </a:pathLst>
          </a:custGeom>
          <a:blipFill>
            <a:blip r:embed="rId4"/>
            <a:stretch>
              <a:fillRect l="0" t="0" r="0" b="0"/>
            </a:stretch>
          </a:blipFill>
        </p:spPr>
      </p:sp>
      <p:sp>
        <p:nvSpPr>
          <p:cNvPr name="TextBox 4" id="4"/>
          <p:cNvSpPr txBox="true"/>
          <p:nvPr/>
        </p:nvSpPr>
        <p:spPr>
          <a:xfrm rot="0">
            <a:off x="4334840" y="2220630"/>
            <a:ext cx="13107527" cy="542925"/>
          </a:xfrm>
          <a:prstGeom prst="rect">
            <a:avLst/>
          </a:prstGeom>
        </p:spPr>
        <p:txBody>
          <a:bodyPr anchor="t" rtlCol="false" tIns="0" lIns="0" bIns="0" rIns="0">
            <a:spAutoFit/>
          </a:bodyPr>
          <a:lstStyle/>
          <a:p>
            <a:pPr algn="ctr">
              <a:lnSpc>
                <a:spcPts val="3795"/>
              </a:lnSpc>
            </a:pPr>
            <a:r>
              <a:rPr lang="en-US" sz="3162" spc="63">
                <a:solidFill>
                  <a:srgbClr val="7D4C3D"/>
                </a:solidFill>
                <a:latin typeface="Jua"/>
                <a:ea typeface="Jua"/>
                <a:cs typeface="Jua"/>
                <a:sym typeface="Jua"/>
              </a:rPr>
              <a:t>Central Question: What factors drive customer spending at Starbucks?</a:t>
            </a:r>
          </a:p>
        </p:txBody>
      </p:sp>
      <p:sp>
        <p:nvSpPr>
          <p:cNvPr name="TextBox 5" id="5"/>
          <p:cNvSpPr txBox="true"/>
          <p:nvPr/>
        </p:nvSpPr>
        <p:spPr>
          <a:xfrm rot="0">
            <a:off x="3213692" y="1184291"/>
            <a:ext cx="14628725" cy="855364"/>
          </a:xfrm>
          <a:prstGeom prst="rect">
            <a:avLst/>
          </a:prstGeom>
        </p:spPr>
        <p:txBody>
          <a:bodyPr anchor="t" rtlCol="false" tIns="0" lIns="0" bIns="0" rIns="0">
            <a:spAutoFit/>
          </a:bodyPr>
          <a:lstStyle/>
          <a:p>
            <a:pPr algn="l">
              <a:lnSpc>
                <a:spcPts val="6240"/>
              </a:lnSpc>
            </a:pPr>
            <a:r>
              <a:rPr lang="en-US" sz="6500">
                <a:solidFill>
                  <a:srgbClr val="7D4C3D"/>
                </a:solidFill>
                <a:latin typeface="Bobby Jones"/>
                <a:ea typeface="Bobby Jones"/>
                <a:cs typeface="Bobby Jones"/>
                <a:sym typeface="Bobby Jones"/>
              </a:rPr>
              <a:t>Problem Definition &amp; Research Question</a:t>
            </a:r>
          </a:p>
        </p:txBody>
      </p:sp>
      <p:sp>
        <p:nvSpPr>
          <p:cNvPr name="TextBox 6" id="6"/>
          <p:cNvSpPr txBox="true"/>
          <p:nvPr/>
        </p:nvSpPr>
        <p:spPr>
          <a:xfrm rot="0">
            <a:off x="5533495" y="2944530"/>
            <a:ext cx="12156522" cy="542925"/>
          </a:xfrm>
          <a:prstGeom prst="rect">
            <a:avLst/>
          </a:prstGeom>
        </p:spPr>
        <p:txBody>
          <a:bodyPr anchor="t" rtlCol="false" tIns="0" lIns="0" bIns="0" rIns="0">
            <a:spAutoFit/>
          </a:bodyPr>
          <a:lstStyle/>
          <a:p>
            <a:pPr algn="ctr">
              <a:lnSpc>
                <a:spcPts val="3795"/>
              </a:lnSpc>
            </a:pPr>
            <a:r>
              <a:rPr lang="en-US" sz="3162" spc="63">
                <a:solidFill>
                  <a:srgbClr val="7D4C3D"/>
                </a:solidFill>
                <a:latin typeface="Jua"/>
                <a:ea typeface="Jua"/>
                <a:cs typeface="Jua"/>
                <a:sym typeface="Jua"/>
              </a:rPr>
              <a:t>Sub-questions guiding our analysis:</a:t>
            </a:r>
          </a:p>
        </p:txBody>
      </p:sp>
      <p:sp>
        <p:nvSpPr>
          <p:cNvPr name="TextBox 7" id="7"/>
          <p:cNvSpPr txBox="true"/>
          <p:nvPr/>
        </p:nvSpPr>
        <p:spPr>
          <a:xfrm rot="0">
            <a:off x="6500592" y="3677955"/>
            <a:ext cx="11553445" cy="1228725"/>
          </a:xfrm>
          <a:prstGeom prst="rect">
            <a:avLst/>
          </a:prstGeom>
        </p:spPr>
        <p:txBody>
          <a:bodyPr anchor="t" rtlCol="false" tIns="0" lIns="0" bIns="0" rIns="0">
            <a:spAutoFit/>
          </a:bodyPr>
          <a:lstStyle/>
          <a:p>
            <a:pPr algn="l">
              <a:lnSpc>
                <a:spcPts val="3075"/>
              </a:lnSpc>
            </a:pPr>
            <a:r>
              <a:rPr lang="en-US" sz="2562" spc="51">
                <a:solidFill>
                  <a:srgbClr val="7D4C3D"/>
                </a:solidFill>
                <a:latin typeface="Jua"/>
                <a:ea typeface="Jua"/>
                <a:cs typeface="Jua"/>
                <a:sym typeface="Jua"/>
              </a:rPr>
              <a:t>1. Data Exploration (Naman): </a:t>
            </a:r>
            <a:r>
              <a:rPr lang="en-US" sz="2562" spc="51">
                <a:solidFill>
                  <a:srgbClr val="7D4C3D"/>
                </a:solidFill>
                <a:latin typeface="Jua"/>
                <a:ea typeface="Jua"/>
                <a:cs typeface="Jua"/>
                <a:sym typeface="Jua"/>
              </a:rPr>
              <a:t>What does the spending landscape look like? Which segments show the biggest differences?</a:t>
            </a:r>
          </a:p>
          <a:p>
            <a:pPr algn="ctr">
              <a:lnSpc>
                <a:spcPts val="3075"/>
              </a:lnSpc>
            </a:pPr>
          </a:p>
        </p:txBody>
      </p:sp>
      <p:sp>
        <p:nvSpPr>
          <p:cNvPr name="TextBox 8" id="8"/>
          <p:cNvSpPr txBox="true"/>
          <p:nvPr/>
        </p:nvSpPr>
        <p:spPr>
          <a:xfrm rot="0">
            <a:off x="6462492" y="4682317"/>
            <a:ext cx="11553445" cy="1228725"/>
          </a:xfrm>
          <a:prstGeom prst="rect">
            <a:avLst/>
          </a:prstGeom>
        </p:spPr>
        <p:txBody>
          <a:bodyPr anchor="t" rtlCol="false" tIns="0" lIns="0" bIns="0" rIns="0">
            <a:spAutoFit/>
          </a:bodyPr>
          <a:lstStyle/>
          <a:p>
            <a:pPr algn="l">
              <a:lnSpc>
                <a:spcPts val="3075"/>
              </a:lnSpc>
            </a:pPr>
            <a:r>
              <a:rPr lang="en-US" sz="2562" spc="51">
                <a:solidFill>
                  <a:srgbClr val="7D4C3D"/>
                </a:solidFill>
                <a:latin typeface="Jua"/>
                <a:ea typeface="Jua"/>
                <a:cs typeface="Jua"/>
                <a:sym typeface="Jua"/>
              </a:rPr>
              <a:t>2. Correlation &amp; Distributions (Priya): How strongly do cart size and customizations relate to spending? Does spending follow a normal distribution?</a:t>
            </a:r>
          </a:p>
        </p:txBody>
      </p:sp>
      <p:sp>
        <p:nvSpPr>
          <p:cNvPr name="TextBox 9" id="9"/>
          <p:cNvSpPr txBox="true"/>
          <p:nvPr/>
        </p:nvSpPr>
        <p:spPr>
          <a:xfrm rot="0">
            <a:off x="6423790" y="6082492"/>
            <a:ext cx="11553445" cy="838200"/>
          </a:xfrm>
          <a:prstGeom prst="rect">
            <a:avLst/>
          </a:prstGeom>
        </p:spPr>
        <p:txBody>
          <a:bodyPr anchor="t" rtlCol="false" tIns="0" lIns="0" bIns="0" rIns="0">
            <a:spAutoFit/>
          </a:bodyPr>
          <a:lstStyle/>
          <a:p>
            <a:pPr algn="just">
              <a:lnSpc>
                <a:spcPts val="3075"/>
              </a:lnSpc>
            </a:pPr>
            <a:r>
              <a:rPr lang="en-US" sz="2562" spc="51">
                <a:solidFill>
                  <a:srgbClr val="7D4C3D"/>
                </a:solidFill>
                <a:latin typeface="Jua"/>
                <a:ea typeface="Jua"/>
                <a:cs typeface="Jua"/>
                <a:sym typeface="Jua"/>
              </a:rPr>
              <a:t>3. Hypothesis Testing (Sanjana): Are the spending differences between Mobile vs Non-Mobile and Rewards vs Non-Rewards statistically significant?</a:t>
            </a:r>
          </a:p>
        </p:txBody>
      </p:sp>
      <p:sp>
        <p:nvSpPr>
          <p:cNvPr name="TextBox 10" id="10"/>
          <p:cNvSpPr txBox="true"/>
          <p:nvPr/>
        </p:nvSpPr>
        <p:spPr>
          <a:xfrm rot="0">
            <a:off x="6385690" y="7092142"/>
            <a:ext cx="11553445" cy="838200"/>
          </a:xfrm>
          <a:prstGeom prst="rect">
            <a:avLst/>
          </a:prstGeom>
        </p:spPr>
        <p:txBody>
          <a:bodyPr anchor="t" rtlCol="false" tIns="0" lIns="0" bIns="0" rIns="0">
            <a:spAutoFit/>
          </a:bodyPr>
          <a:lstStyle/>
          <a:p>
            <a:pPr algn="just">
              <a:lnSpc>
                <a:spcPts val="3075"/>
              </a:lnSpc>
            </a:pPr>
            <a:r>
              <a:rPr lang="en-US" sz="2562" spc="51">
                <a:solidFill>
                  <a:srgbClr val="7D4C3D"/>
                </a:solidFill>
                <a:latin typeface="Jua"/>
                <a:ea typeface="Jua"/>
                <a:cs typeface="Jua"/>
                <a:sym typeface="Jua"/>
              </a:rPr>
              <a:t>4. Probability &amp; Bayes Theorem (Varuna): How rare are high-value spenders? Given a high-value order, who most likely placed it?</a:t>
            </a:r>
          </a:p>
        </p:txBody>
      </p:sp>
      <p:sp>
        <p:nvSpPr>
          <p:cNvPr name="TextBox 11" id="11"/>
          <p:cNvSpPr txBox="true"/>
          <p:nvPr/>
        </p:nvSpPr>
        <p:spPr>
          <a:xfrm rot="0">
            <a:off x="5685895" y="8244667"/>
            <a:ext cx="12156522" cy="542925"/>
          </a:xfrm>
          <a:prstGeom prst="rect">
            <a:avLst/>
          </a:prstGeom>
        </p:spPr>
        <p:txBody>
          <a:bodyPr anchor="t" rtlCol="false" tIns="0" lIns="0" bIns="0" rIns="0">
            <a:spAutoFit/>
          </a:bodyPr>
          <a:lstStyle/>
          <a:p>
            <a:pPr algn="ctr">
              <a:lnSpc>
                <a:spcPts val="3795"/>
              </a:lnSpc>
            </a:pPr>
            <a:r>
              <a:rPr lang="en-US" sz="3162" spc="63">
                <a:solidFill>
                  <a:srgbClr val="7D4C3D"/>
                </a:solidFill>
                <a:latin typeface="Jua"/>
                <a:ea typeface="Jua"/>
                <a:cs typeface="Jua"/>
                <a:sym typeface="Jua"/>
              </a:rPr>
              <a:t>Business Motivation:</a:t>
            </a:r>
          </a:p>
        </p:txBody>
      </p:sp>
      <p:sp>
        <p:nvSpPr>
          <p:cNvPr name="TextBox 12" id="12"/>
          <p:cNvSpPr txBox="true"/>
          <p:nvPr/>
        </p:nvSpPr>
        <p:spPr>
          <a:xfrm rot="0">
            <a:off x="4811090" y="8863792"/>
            <a:ext cx="13185195" cy="838200"/>
          </a:xfrm>
          <a:prstGeom prst="rect">
            <a:avLst/>
          </a:prstGeom>
        </p:spPr>
        <p:txBody>
          <a:bodyPr anchor="t" rtlCol="false" tIns="0" lIns="0" bIns="0" rIns="0">
            <a:spAutoFit/>
          </a:bodyPr>
          <a:lstStyle/>
          <a:p>
            <a:pPr algn="just">
              <a:lnSpc>
                <a:spcPts val="3075"/>
              </a:lnSpc>
            </a:pPr>
            <a:r>
              <a:rPr lang="en-US" sz="2562" spc="51">
                <a:solidFill>
                  <a:srgbClr val="7D4C3D"/>
                </a:solidFill>
                <a:latin typeface="Jua"/>
                <a:ea typeface="Jua"/>
                <a:cs typeface="Jua"/>
                <a:sym typeface="Jua"/>
              </a:rPr>
              <a:t>Understanding spending drivers helps Starbucks optimize its mobile app strategy, loyalty program, and in-store experience to increase revenue per order.</a:t>
            </a:r>
          </a:p>
        </p:txBody>
      </p:sp>
      <p:sp>
        <p:nvSpPr>
          <p:cNvPr name="Freeform 13" id="13"/>
          <p:cNvSpPr/>
          <p:nvPr/>
        </p:nvSpPr>
        <p:spPr>
          <a:xfrm flipH="false" flipV="false" rot="0">
            <a:off x="346318" y="0"/>
            <a:ext cx="1364764" cy="1705955"/>
          </a:xfrm>
          <a:custGeom>
            <a:avLst/>
            <a:gdLst/>
            <a:ahLst/>
            <a:cxnLst/>
            <a:rect r="r" b="b" t="t" l="l"/>
            <a:pathLst>
              <a:path h="1705955" w="1364764">
                <a:moveTo>
                  <a:pt x="0" y="0"/>
                </a:moveTo>
                <a:lnTo>
                  <a:pt x="1364764" y="0"/>
                </a:lnTo>
                <a:lnTo>
                  <a:pt x="1364764" y="1705955"/>
                </a:lnTo>
                <a:lnTo>
                  <a:pt x="0" y="1705955"/>
                </a:lnTo>
                <a:lnTo>
                  <a:pt x="0" y="0"/>
                </a:lnTo>
                <a:close/>
              </a:path>
            </a:pathLst>
          </a:custGeom>
          <a:blipFill>
            <a:blip r:embed="rId5"/>
            <a:stretch>
              <a:fillRect l="-12500" t="0" r="-12500" b="0"/>
            </a:stretch>
          </a:blipFill>
        </p:spPr>
      </p:sp>
      <p:sp>
        <p:nvSpPr>
          <p:cNvPr name="TextBox 14" id="14"/>
          <p:cNvSpPr txBox="true"/>
          <p:nvPr/>
        </p:nvSpPr>
        <p:spPr>
          <a:xfrm rot="0">
            <a:off x="504110" y="1263151"/>
            <a:ext cx="1049179" cy="249093"/>
          </a:xfrm>
          <a:prstGeom prst="rect">
            <a:avLst/>
          </a:prstGeom>
        </p:spPr>
        <p:txBody>
          <a:bodyPr anchor="t" rtlCol="false" tIns="0" lIns="0" bIns="0" rIns="0">
            <a:spAutoFit/>
          </a:bodyPr>
          <a:lstStyle/>
          <a:p>
            <a:pPr algn="ctr">
              <a:lnSpc>
                <a:spcPts val="1945"/>
              </a:lnSpc>
            </a:pPr>
            <a:r>
              <a:rPr lang="en-US" sz="1389">
                <a:solidFill>
                  <a:srgbClr val="FAF8ED"/>
                </a:solidFill>
                <a:latin typeface="Yeseva One"/>
                <a:ea typeface="Yeseva One"/>
                <a:cs typeface="Yeseva One"/>
                <a:sym typeface="Yeseva One"/>
              </a:rPr>
              <a:t>Starbucks</a:t>
            </a:r>
          </a:p>
        </p:txBody>
      </p:sp>
    </p:spTree>
  </p:cSld>
  <p:clrMapOvr>
    <a:masterClrMapping/>
  </p:clrMapOvr>
  <p:transition spd="fast">
    <p:wipe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BCBBB"/>
        </a:solidFill>
      </p:bgPr>
    </p:bg>
    <p:spTree>
      <p:nvGrpSpPr>
        <p:cNvPr id="1" name=""/>
        <p:cNvGrpSpPr/>
        <p:nvPr/>
      </p:nvGrpSpPr>
      <p:grpSpPr>
        <a:xfrm>
          <a:off x="0" y="0"/>
          <a:ext cx="0" cy="0"/>
          <a:chOff x="0" y="0"/>
          <a:chExt cx="0" cy="0"/>
        </a:xfrm>
      </p:grpSpPr>
      <p:sp>
        <p:nvSpPr>
          <p:cNvPr name="Freeform 2" id="2"/>
          <p:cNvSpPr/>
          <p:nvPr/>
        </p:nvSpPr>
        <p:spPr>
          <a:xfrm flipH="false" flipV="false" rot="0">
            <a:off x="-370702" y="-244773"/>
            <a:ext cx="6794492" cy="11825856"/>
          </a:xfrm>
          <a:custGeom>
            <a:avLst/>
            <a:gdLst/>
            <a:ahLst/>
            <a:cxnLst/>
            <a:rect r="r" b="b" t="t" l="l"/>
            <a:pathLst>
              <a:path h="11825856" w="6794492">
                <a:moveTo>
                  <a:pt x="0" y="0"/>
                </a:moveTo>
                <a:lnTo>
                  <a:pt x="6794492" y="0"/>
                </a:lnTo>
                <a:lnTo>
                  <a:pt x="6794492" y="11825856"/>
                </a:lnTo>
                <a:lnTo>
                  <a:pt x="0" y="11825856"/>
                </a:lnTo>
                <a:lnTo>
                  <a:pt x="0" y="0"/>
                </a:lnTo>
                <a:close/>
              </a:path>
            </a:pathLst>
          </a:custGeom>
          <a:blipFill>
            <a:blip r:embed="rId2">
              <a:alphaModFix amt="3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8724" y="5572905"/>
            <a:ext cx="16702018" cy="4572177"/>
          </a:xfrm>
          <a:custGeom>
            <a:avLst/>
            <a:gdLst/>
            <a:ahLst/>
            <a:cxnLst/>
            <a:rect r="r" b="b" t="t" l="l"/>
            <a:pathLst>
              <a:path h="4572177" w="16702018">
                <a:moveTo>
                  <a:pt x="0" y="0"/>
                </a:moveTo>
                <a:lnTo>
                  <a:pt x="16702018" y="0"/>
                </a:lnTo>
                <a:lnTo>
                  <a:pt x="16702018" y="4572177"/>
                </a:lnTo>
                <a:lnTo>
                  <a:pt x="0" y="4572177"/>
                </a:lnTo>
                <a:lnTo>
                  <a:pt x="0" y="0"/>
                </a:lnTo>
                <a:close/>
              </a:path>
            </a:pathLst>
          </a:custGeom>
          <a:blipFill>
            <a:blip r:embed="rId4"/>
            <a:stretch>
              <a:fillRect l="0" t="0" r="0" b="0"/>
            </a:stretch>
          </a:blipFill>
        </p:spPr>
      </p:sp>
      <p:sp>
        <p:nvSpPr>
          <p:cNvPr name="TextBox 4" id="4"/>
          <p:cNvSpPr txBox="true"/>
          <p:nvPr/>
        </p:nvSpPr>
        <p:spPr>
          <a:xfrm rot="0">
            <a:off x="2032694" y="513115"/>
            <a:ext cx="16029508" cy="1288943"/>
          </a:xfrm>
          <a:prstGeom prst="rect">
            <a:avLst/>
          </a:prstGeom>
        </p:spPr>
        <p:txBody>
          <a:bodyPr anchor="t" rtlCol="false" tIns="0" lIns="0" bIns="0" rIns="0">
            <a:spAutoFit/>
          </a:bodyPr>
          <a:lstStyle/>
          <a:p>
            <a:pPr algn="l">
              <a:lnSpc>
                <a:spcPts val="4896"/>
              </a:lnSpc>
            </a:pPr>
            <a:r>
              <a:rPr lang="en-US" sz="5100">
                <a:solidFill>
                  <a:srgbClr val="7D4C3D"/>
                </a:solidFill>
                <a:latin typeface="Bobby Jones"/>
                <a:ea typeface="Bobby Jones"/>
                <a:cs typeface="Bobby Jones"/>
                <a:sym typeface="Bobby Jones"/>
              </a:rPr>
              <a:t>Data Exploration: Descriptive Statistics &amp; Key Segments</a:t>
            </a:r>
          </a:p>
          <a:p>
            <a:pPr algn="l">
              <a:lnSpc>
                <a:spcPts val="4896"/>
              </a:lnSpc>
            </a:pPr>
          </a:p>
        </p:txBody>
      </p:sp>
      <p:sp>
        <p:nvSpPr>
          <p:cNvPr name="TextBox 5" id="5"/>
          <p:cNvSpPr txBox="true"/>
          <p:nvPr/>
        </p:nvSpPr>
        <p:spPr>
          <a:xfrm rot="0">
            <a:off x="3146481" y="1230030"/>
            <a:ext cx="12156522" cy="542925"/>
          </a:xfrm>
          <a:prstGeom prst="rect">
            <a:avLst/>
          </a:prstGeom>
        </p:spPr>
        <p:txBody>
          <a:bodyPr anchor="t" rtlCol="false" tIns="0" lIns="0" bIns="0" rIns="0">
            <a:spAutoFit/>
          </a:bodyPr>
          <a:lstStyle/>
          <a:p>
            <a:pPr algn="ctr">
              <a:lnSpc>
                <a:spcPts val="3795"/>
              </a:lnSpc>
            </a:pPr>
            <a:r>
              <a:rPr lang="en-US" sz="3162" spc="63">
                <a:solidFill>
                  <a:srgbClr val="7D4C3D"/>
                </a:solidFill>
                <a:latin typeface="Jua"/>
                <a:ea typeface="Jua"/>
                <a:cs typeface="Jua"/>
                <a:sym typeface="Jua"/>
              </a:rPr>
              <a:t>Descriptive Statistics (Lecture 1):</a:t>
            </a:r>
          </a:p>
        </p:txBody>
      </p:sp>
      <p:sp>
        <p:nvSpPr>
          <p:cNvPr name="TextBox 6" id="6"/>
          <p:cNvSpPr txBox="true"/>
          <p:nvPr/>
        </p:nvSpPr>
        <p:spPr>
          <a:xfrm rot="0">
            <a:off x="302450" y="1781955"/>
            <a:ext cx="4633563" cy="3886200"/>
          </a:xfrm>
          <a:prstGeom prst="rect">
            <a:avLst/>
          </a:prstGeom>
        </p:spPr>
        <p:txBody>
          <a:bodyPr anchor="t" rtlCol="false" tIns="0" lIns="0" bIns="0" rIns="0">
            <a:spAutoFit/>
          </a:bodyPr>
          <a:lstStyle/>
          <a:p>
            <a:pPr algn="l">
              <a:lnSpc>
                <a:spcPts val="2375"/>
              </a:lnSpc>
            </a:pPr>
            <a:r>
              <a:rPr lang="en-US" sz="1979" spc="39">
                <a:solidFill>
                  <a:srgbClr val="7D4C3D"/>
                </a:solidFill>
                <a:latin typeface="Jua"/>
                <a:ea typeface="Jua"/>
                <a:cs typeface="Jua"/>
                <a:sym typeface="Jua"/>
              </a:rPr>
              <a:t>total_spend: </a:t>
            </a:r>
          </a:p>
          <a:p>
            <a:pPr algn="l">
              <a:lnSpc>
                <a:spcPts val="2375"/>
              </a:lnSpc>
            </a:pPr>
            <a:r>
              <a:rPr lang="en-US" sz="1979" spc="39">
                <a:solidFill>
                  <a:srgbClr val="7D4C3D"/>
                </a:solidFill>
                <a:latin typeface="Jua"/>
                <a:ea typeface="Jua"/>
                <a:cs typeface="Jua"/>
                <a:sym typeface="Jua"/>
              </a:rPr>
              <a:t>  </a:t>
            </a:r>
            <a:r>
              <a:rPr lang="en-US" sz="1979" spc="39">
                <a:solidFill>
                  <a:srgbClr val="7D4C3D"/>
                </a:solidFill>
                <a:latin typeface="Jua"/>
                <a:ea typeface="Jua"/>
                <a:cs typeface="Jua"/>
                <a:sym typeface="Jua"/>
              </a:rPr>
              <a:t>Mean = $14.87, </a:t>
            </a:r>
          </a:p>
          <a:p>
            <a:pPr algn="l">
              <a:lnSpc>
                <a:spcPts val="2375"/>
              </a:lnSpc>
            </a:pPr>
            <a:r>
              <a:rPr lang="en-US" sz="1979" spc="39">
                <a:solidFill>
                  <a:srgbClr val="7D4C3D"/>
                </a:solidFill>
                <a:latin typeface="Jua"/>
                <a:ea typeface="Jua"/>
                <a:cs typeface="Jua"/>
                <a:sym typeface="Jua"/>
              </a:rPr>
              <a:t>  </a:t>
            </a:r>
            <a:r>
              <a:rPr lang="en-US" sz="1979" spc="39">
                <a:solidFill>
                  <a:srgbClr val="7D4C3D"/>
                </a:solidFill>
                <a:latin typeface="Jua"/>
                <a:ea typeface="Jua"/>
                <a:cs typeface="Jua"/>
                <a:sym typeface="Jua"/>
              </a:rPr>
              <a:t>Median = $14.17, </a:t>
            </a:r>
          </a:p>
          <a:p>
            <a:pPr algn="l">
              <a:lnSpc>
                <a:spcPts val="2375"/>
              </a:lnSpc>
            </a:pPr>
            <a:r>
              <a:rPr lang="en-US" sz="1979" spc="39">
                <a:solidFill>
                  <a:srgbClr val="7D4C3D"/>
                </a:solidFill>
                <a:latin typeface="Jua"/>
                <a:ea typeface="Jua"/>
                <a:cs typeface="Jua"/>
                <a:sym typeface="Jua"/>
              </a:rPr>
              <a:t>  </a:t>
            </a:r>
            <a:r>
              <a:rPr lang="en-US" sz="1979" spc="39">
                <a:solidFill>
                  <a:srgbClr val="7D4C3D"/>
                </a:solidFill>
                <a:latin typeface="Jua"/>
                <a:ea typeface="Jua"/>
                <a:cs typeface="Jua"/>
                <a:sym typeface="Jua"/>
              </a:rPr>
              <a:t>SD = $5.51</a:t>
            </a:r>
          </a:p>
          <a:p>
            <a:pPr algn="l">
              <a:lnSpc>
                <a:spcPts val="2375"/>
              </a:lnSpc>
            </a:pPr>
            <a:r>
              <a:rPr lang="en-US" sz="1979" spc="39">
                <a:solidFill>
                  <a:srgbClr val="7D4C3D"/>
                </a:solidFill>
                <a:latin typeface="Jua"/>
                <a:ea typeface="Jua"/>
                <a:cs typeface="Jua"/>
                <a:sym typeface="Jua"/>
              </a:rPr>
              <a:t>Five-Number Summary: </a:t>
            </a:r>
          </a:p>
          <a:p>
            <a:pPr algn="l">
              <a:lnSpc>
                <a:spcPts val="2375"/>
              </a:lnSpc>
            </a:pPr>
            <a:r>
              <a:rPr lang="en-US" sz="1979" spc="39">
                <a:solidFill>
                  <a:srgbClr val="7D4C3D"/>
                </a:solidFill>
                <a:latin typeface="Jua"/>
                <a:ea typeface="Jua"/>
                <a:cs typeface="Jua"/>
                <a:sym typeface="Jua"/>
              </a:rPr>
              <a:t>  </a:t>
            </a:r>
            <a:r>
              <a:rPr lang="en-US" sz="1979" spc="39">
                <a:solidFill>
                  <a:srgbClr val="7D4C3D"/>
                </a:solidFill>
                <a:latin typeface="Jua"/>
                <a:ea typeface="Jua"/>
                <a:cs typeface="Jua"/>
                <a:sym typeface="Jua"/>
              </a:rPr>
              <a:t>Min $3.51, </a:t>
            </a:r>
          </a:p>
          <a:p>
            <a:pPr algn="l">
              <a:lnSpc>
                <a:spcPts val="2375"/>
              </a:lnSpc>
            </a:pPr>
            <a:r>
              <a:rPr lang="en-US" sz="1979" spc="39">
                <a:solidFill>
                  <a:srgbClr val="7D4C3D"/>
                </a:solidFill>
                <a:latin typeface="Jua"/>
                <a:ea typeface="Jua"/>
                <a:cs typeface="Jua"/>
                <a:sym typeface="Jua"/>
              </a:rPr>
              <a:t>  </a:t>
            </a:r>
            <a:r>
              <a:rPr lang="en-US" sz="1979" spc="39">
                <a:solidFill>
                  <a:srgbClr val="7D4C3D"/>
                </a:solidFill>
                <a:latin typeface="Jua"/>
                <a:ea typeface="Jua"/>
                <a:cs typeface="Jua"/>
                <a:sym typeface="Jua"/>
              </a:rPr>
              <a:t>Q1 $10.84, </a:t>
            </a:r>
          </a:p>
          <a:p>
            <a:pPr algn="l">
              <a:lnSpc>
                <a:spcPts val="2375"/>
              </a:lnSpc>
            </a:pPr>
            <a:r>
              <a:rPr lang="en-US" sz="1979" spc="39">
                <a:solidFill>
                  <a:srgbClr val="7D4C3D"/>
                </a:solidFill>
                <a:latin typeface="Jua"/>
                <a:ea typeface="Jua"/>
                <a:cs typeface="Jua"/>
                <a:sym typeface="Jua"/>
              </a:rPr>
              <a:t>  </a:t>
            </a:r>
            <a:r>
              <a:rPr lang="en-US" sz="1979" spc="39">
                <a:solidFill>
                  <a:srgbClr val="7D4C3D"/>
                </a:solidFill>
                <a:latin typeface="Jua"/>
                <a:ea typeface="Jua"/>
                <a:cs typeface="Jua"/>
                <a:sym typeface="Jua"/>
              </a:rPr>
              <a:t>Median $14.17, </a:t>
            </a:r>
          </a:p>
          <a:p>
            <a:pPr algn="l">
              <a:lnSpc>
                <a:spcPts val="2375"/>
              </a:lnSpc>
            </a:pPr>
            <a:r>
              <a:rPr lang="en-US" sz="1979" spc="39">
                <a:solidFill>
                  <a:srgbClr val="7D4C3D"/>
                </a:solidFill>
                <a:latin typeface="Jua"/>
                <a:ea typeface="Jua"/>
                <a:cs typeface="Jua"/>
                <a:sym typeface="Jua"/>
              </a:rPr>
              <a:t>  </a:t>
            </a:r>
            <a:r>
              <a:rPr lang="en-US" sz="1979" spc="39">
                <a:solidFill>
                  <a:srgbClr val="7D4C3D"/>
                </a:solidFill>
                <a:latin typeface="Jua"/>
                <a:ea typeface="Jua"/>
                <a:cs typeface="Jua"/>
                <a:sym typeface="Jua"/>
              </a:rPr>
              <a:t>Q3 $18.18, </a:t>
            </a:r>
          </a:p>
          <a:p>
            <a:pPr algn="l">
              <a:lnSpc>
                <a:spcPts val="2375"/>
              </a:lnSpc>
            </a:pPr>
            <a:r>
              <a:rPr lang="en-US" sz="1979" spc="39">
                <a:solidFill>
                  <a:srgbClr val="7D4C3D"/>
                </a:solidFill>
                <a:latin typeface="Jua"/>
                <a:ea typeface="Jua"/>
                <a:cs typeface="Jua"/>
                <a:sym typeface="Jua"/>
              </a:rPr>
              <a:t>  </a:t>
            </a:r>
            <a:r>
              <a:rPr lang="en-US" sz="1979" spc="39">
                <a:solidFill>
                  <a:srgbClr val="7D4C3D"/>
                </a:solidFill>
                <a:latin typeface="Jua"/>
                <a:ea typeface="Jua"/>
                <a:cs typeface="Jua"/>
                <a:sym typeface="Jua"/>
              </a:rPr>
              <a:t>Max $40.31</a:t>
            </a:r>
          </a:p>
          <a:p>
            <a:pPr algn="l">
              <a:lnSpc>
                <a:spcPts val="2375"/>
              </a:lnSpc>
            </a:pPr>
            <a:r>
              <a:rPr lang="en-US" sz="1979" spc="39">
                <a:solidFill>
                  <a:srgbClr val="7D4C3D"/>
                </a:solidFill>
                <a:latin typeface="Jua"/>
                <a:ea typeface="Jua"/>
                <a:cs typeface="Jua"/>
                <a:sym typeface="Jua"/>
              </a:rPr>
              <a:t>  </a:t>
            </a:r>
            <a:r>
              <a:rPr lang="en-US" sz="1979" spc="39">
                <a:solidFill>
                  <a:srgbClr val="7D4C3D"/>
                </a:solidFill>
                <a:latin typeface="Jua"/>
                <a:ea typeface="Jua"/>
                <a:cs typeface="Jua"/>
                <a:sym typeface="Jua"/>
              </a:rPr>
              <a:t>IQR = $7.34, </a:t>
            </a:r>
          </a:p>
          <a:p>
            <a:pPr algn="l">
              <a:lnSpc>
                <a:spcPts val="2375"/>
              </a:lnSpc>
            </a:pPr>
            <a:r>
              <a:rPr lang="en-US" sz="1979" spc="39">
                <a:solidFill>
                  <a:srgbClr val="7D4C3D"/>
                </a:solidFill>
                <a:latin typeface="Jua"/>
                <a:ea typeface="Jua"/>
                <a:cs typeface="Jua"/>
                <a:sym typeface="Jua"/>
              </a:rPr>
              <a:t>Outliers: 1,415 (1.42%) above $29.19</a:t>
            </a:r>
          </a:p>
          <a:p>
            <a:pPr algn="ctr">
              <a:lnSpc>
                <a:spcPts val="2375"/>
              </a:lnSpc>
            </a:pPr>
          </a:p>
        </p:txBody>
      </p:sp>
      <p:sp>
        <p:nvSpPr>
          <p:cNvPr name="TextBox 7" id="7"/>
          <p:cNvSpPr txBox="true"/>
          <p:nvPr/>
        </p:nvSpPr>
        <p:spPr>
          <a:xfrm rot="0">
            <a:off x="6102965" y="1834342"/>
            <a:ext cx="4543267" cy="3017384"/>
          </a:xfrm>
          <a:prstGeom prst="rect">
            <a:avLst/>
          </a:prstGeom>
        </p:spPr>
        <p:txBody>
          <a:bodyPr anchor="t" rtlCol="false" tIns="0" lIns="0" bIns="0" rIns="0">
            <a:spAutoFit/>
          </a:bodyPr>
          <a:lstStyle/>
          <a:p>
            <a:pPr algn="l">
              <a:lnSpc>
                <a:spcPts val="2379"/>
              </a:lnSpc>
            </a:pPr>
            <a:r>
              <a:rPr lang="en-US" sz="1983" spc="39">
                <a:solidFill>
                  <a:srgbClr val="7D4C3D"/>
                </a:solidFill>
                <a:latin typeface="Jua"/>
                <a:ea typeface="Jua"/>
                <a:cs typeface="Jua"/>
                <a:sym typeface="Jua"/>
              </a:rPr>
              <a:t>Mean Spend by Segment (the key finding):</a:t>
            </a:r>
          </a:p>
          <a:p>
            <a:pPr algn="l">
              <a:lnSpc>
                <a:spcPts val="2379"/>
              </a:lnSpc>
            </a:pPr>
            <a:r>
              <a:rPr lang="en-US" sz="1983" spc="39">
                <a:solidFill>
                  <a:srgbClr val="7D4C3D"/>
                </a:solidFill>
                <a:latin typeface="Jua"/>
                <a:ea typeface="Jua"/>
                <a:cs typeface="Jua"/>
                <a:sym typeface="Jua"/>
              </a:rPr>
              <a:t>  </a:t>
            </a:r>
            <a:r>
              <a:rPr lang="en-US" sz="1983" spc="39">
                <a:solidFill>
                  <a:srgbClr val="7D4C3D"/>
                </a:solidFill>
                <a:latin typeface="Jua"/>
                <a:ea typeface="Jua"/>
                <a:cs typeface="Jua"/>
                <a:sym typeface="Jua"/>
              </a:rPr>
              <a:t>Mobile App: $18.08 (42.5% of orders)</a:t>
            </a:r>
          </a:p>
          <a:p>
            <a:pPr algn="l">
              <a:lnSpc>
                <a:spcPts val="2379"/>
              </a:lnSpc>
            </a:pPr>
            <a:r>
              <a:rPr lang="en-US" sz="1983" spc="39">
                <a:solidFill>
                  <a:srgbClr val="7D4C3D"/>
                </a:solidFill>
                <a:latin typeface="Jua"/>
                <a:ea typeface="Jua"/>
                <a:cs typeface="Jua"/>
                <a:sym typeface="Jua"/>
              </a:rPr>
              <a:t>  </a:t>
            </a:r>
            <a:r>
              <a:rPr lang="en-US" sz="1983" spc="39">
                <a:solidFill>
                  <a:srgbClr val="7D4C3D"/>
                </a:solidFill>
                <a:latin typeface="Jua"/>
                <a:ea typeface="Jua"/>
                <a:cs typeface="Jua"/>
                <a:sym typeface="Jua"/>
              </a:rPr>
              <a:t>Drive-Thru: $12.48,</a:t>
            </a:r>
          </a:p>
          <a:p>
            <a:pPr algn="l">
              <a:lnSpc>
                <a:spcPts val="2379"/>
              </a:lnSpc>
            </a:pPr>
            <a:r>
              <a:rPr lang="en-US" sz="1983" spc="39">
                <a:solidFill>
                  <a:srgbClr val="7D4C3D"/>
                </a:solidFill>
                <a:latin typeface="Jua"/>
                <a:ea typeface="Jua"/>
                <a:cs typeface="Jua"/>
                <a:sym typeface="Jua"/>
              </a:rPr>
              <a:t>  </a:t>
            </a:r>
            <a:r>
              <a:rPr lang="en-US" sz="1983" spc="39">
                <a:solidFill>
                  <a:srgbClr val="7D4C3D"/>
                </a:solidFill>
                <a:latin typeface="Jua"/>
                <a:ea typeface="Jua"/>
                <a:cs typeface="Jua"/>
                <a:sym typeface="Jua"/>
              </a:rPr>
              <a:t>In-Store: $12.51,</a:t>
            </a:r>
          </a:p>
          <a:p>
            <a:pPr algn="l">
              <a:lnSpc>
                <a:spcPts val="2379"/>
              </a:lnSpc>
            </a:pPr>
            <a:r>
              <a:rPr lang="en-US" sz="1983" spc="39">
                <a:solidFill>
                  <a:srgbClr val="7D4C3D"/>
                </a:solidFill>
                <a:latin typeface="Jua"/>
                <a:ea typeface="Jua"/>
                <a:cs typeface="Jua"/>
                <a:sym typeface="Jua"/>
              </a:rPr>
              <a:t>  </a:t>
            </a:r>
            <a:r>
              <a:rPr lang="en-US" sz="1983" spc="39">
                <a:solidFill>
                  <a:srgbClr val="7D4C3D"/>
                </a:solidFill>
                <a:latin typeface="Jua"/>
                <a:ea typeface="Jua"/>
                <a:cs typeface="Jua"/>
                <a:sym typeface="Jua"/>
              </a:rPr>
              <a:t>Kiosk: $12.49</a:t>
            </a:r>
          </a:p>
          <a:p>
            <a:pPr algn="l">
              <a:lnSpc>
                <a:spcPts val="2379"/>
              </a:lnSpc>
            </a:pPr>
          </a:p>
          <a:p>
            <a:pPr algn="l">
              <a:lnSpc>
                <a:spcPts val="2379"/>
              </a:lnSpc>
            </a:pPr>
            <a:r>
              <a:rPr lang="en-US" sz="1983" spc="39">
                <a:solidFill>
                  <a:srgbClr val="7D4C3D"/>
                </a:solidFill>
                <a:latin typeface="Jua"/>
                <a:ea typeface="Jua"/>
                <a:cs typeface="Jua"/>
                <a:sym typeface="Jua"/>
              </a:rPr>
              <a:t>Gap: Mobile App is $5.59 above every other channel</a:t>
            </a:r>
          </a:p>
          <a:p>
            <a:pPr algn="l">
              <a:lnSpc>
                <a:spcPts val="2379"/>
              </a:lnSpc>
            </a:pPr>
          </a:p>
        </p:txBody>
      </p:sp>
      <p:sp>
        <p:nvSpPr>
          <p:cNvPr name="TextBox 8" id="8"/>
          <p:cNvSpPr txBox="true"/>
          <p:nvPr/>
        </p:nvSpPr>
        <p:spPr>
          <a:xfrm rot="0">
            <a:off x="12421482" y="1805767"/>
            <a:ext cx="5731439" cy="2638425"/>
          </a:xfrm>
          <a:prstGeom prst="rect">
            <a:avLst/>
          </a:prstGeom>
        </p:spPr>
        <p:txBody>
          <a:bodyPr anchor="t" rtlCol="false" tIns="0" lIns="0" bIns="0" rIns="0">
            <a:spAutoFit/>
          </a:bodyPr>
          <a:lstStyle/>
          <a:p>
            <a:pPr algn="just">
              <a:lnSpc>
                <a:spcPts val="2595"/>
              </a:lnSpc>
            </a:pPr>
            <a:r>
              <a:rPr lang="en-US" sz="2162" spc="43">
                <a:solidFill>
                  <a:srgbClr val="7D4C3D"/>
                </a:solidFill>
                <a:latin typeface="Jua"/>
                <a:ea typeface="Jua"/>
                <a:cs typeface="Jua"/>
                <a:sym typeface="Jua"/>
              </a:rPr>
              <a:t>Rewards Members vs Non-Members:</a:t>
            </a:r>
          </a:p>
          <a:p>
            <a:pPr algn="just">
              <a:lnSpc>
                <a:spcPts val="2595"/>
              </a:lnSpc>
            </a:pPr>
            <a:r>
              <a:rPr lang="en-US" sz="2162" spc="43">
                <a:solidFill>
                  <a:srgbClr val="7D4C3D"/>
                </a:solidFill>
                <a:latin typeface="Jua"/>
                <a:ea typeface="Jua"/>
                <a:cs typeface="Jua"/>
                <a:sym typeface="Jua"/>
              </a:rPr>
              <a:t>$15.72 vs $14.09 (+$1.63)</a:t>
            </a:r>
          </a:p>
          <a:p>
            <a:pPr algn="just">
              <a:lnSpc>
                <a:spcPts val="2595"/>
              </a:lnSpc>
            </a:pPr>
          </a:p>
          <a:p>
            <a:pPr algn="just">
              <a:lnSpc>
                <a:spcPts val="2595"/>
              </a:lnSpc>
            </a:pPr>
            <a:r>
              <a:rPr lang="en-US" sz="2162" spc="43">
                <a:solidFill>
                  <a:srgbClr val="7D4C3D"/>
                </a:solidFill>
                <a:latin typeface="Jua"/>
                <a:ea typeface="Jua"/>
                <a:cs typeface="Jua"/>
                <a:sym typeface="Jua"/>
              </a:rPr>
              <a:t>Age: 18-34 spend ~$15.55, 55+ spend $13.06</a:t>
            </a:r>
          </a:p>
          <a:p>
            <a:pPr algn="just">
              <a:lnSpc>
                <a:spcPts val="2595"/>
              </a:lnSpc>
            </a:pPr>
          </a:p>
          <a:p>
            <a:pPr algn="just">
              <a:lnSpc>
                <a:spcPts val="2595"/>
              </a:lnSpc>
            </a:pPr>
            <a:r>
              <a:rPr lang="en-US" sz="2162" spc="43">
                <a:solidFill>
                  <a:srgbClr val="7D4C3D"/>
                </a:solidFill>
                <a:latin typeface="Jua"/>
                <a:ea typeface="Jua"/>
                <a:cs typeface="Jua"/>
                <a:sym typeface="Jua"/>
              </a:rPr>
              <a:t>Drink Category: No meaningful difference (all within $0.09)</a:t>
            </a:r>
          </a:p>
          <a:p>
            <a:pPr algn="just">
              <a:lnSpc>
                <a:spcPts val="2595"/>
              </a:lnSpc>
            </a:pPr>
          </a:p>
        </p:txBody>
      </p:sp>
      <p:sp>
        <p:nvSpPr>
          <p:cNvPr name="Freeform 9" id="9"/>
          <p:cNvSpPr/>
          <p:nvPr/>
        </p:nvSpPr>
        <p:spPr>
          <a:xfrm flipH="false" flipV="false" rot="0">
            <a:off x="346318" y="0"/>
            <a:ext cx="1364764" cy="1705955"/>
          </a:xfrm>
          <a:custGeom>
            <a:avLst/>
            <a:gdLst/>
            <a:ahLst/>
            <a:cxnLst/>
            <a:rect r="r" b="b" t="t" l="l"/>
            <a:pathLst>
              <a:path h="1705955" w="1364764">
                <a:moveTo>
                  <a:pt x="0" y="0"/>
                </a:moveTo>
                <a:lnTo>
                  <a:pt x="1364764" y="0"/>
                </a:lnTo>
                <a:lnTo>
                  <a:pt x="1364764" y="1705955"/>
                </a:lnTo>
                <a:lnTo>
                  <a:pt x="0" y="1705955"/>
                </a:lnTo>
                <a:lnTo>
                  <a:pt x="0" y="0"/>
                </a:lnTo>
                <a:close/>
              </a:path>
            </a:pathLst>
          </a:custGeom>
          <a:blipFill>
            <a:blip r:embed="rId5"/>
            <a:stretch>
              <a:fillRect l="-12500" t="0" r="-12500" b="0"/>
            </a:stretch>
          </a:blipFill>
        </p:spPr>
      </p:sp>
      <p:sp>
        <p:nvSpPr>
          <p:cNvPr name="TextBox 10" id="10"/>
          <p:cNvSpPr txBox="true"/>
          <p:nvPr/>
        </p:nvSpPr>
        <p:spPr>
          <a:xfrm rot="0">
            <a:off x="504110" y="1263151"/>
            <a:ext cx="1049179" cy="249093"/>
          </a:xfrm>
          <a:prstGeom prst="rect">
            <a:avLst/>
          </a:prstGeom>
        </p:spPr>
        <p:txBody>
          <a:bodyPr anchor="t" rtlCol="false" tIns="0" lIns="0" bIns="0" rIns="0">
            <a:spAutoFit/>
          </a:bodyPr>
          <a:lstStyle/>
          <a:p>
            <a:pPr algn="ctr">
              <a:lnSpc>
                <a:spcPts val="1945"/>
              </a:lnSpc>
            </a:pPr>
            <a:r>
              <a:rPr lang="en-US" sz="1389">
                <a:solidFill>
                  <a:srgbClr val="FAF8ED"/>
                </a:solidFill>
                <a:latin typeface="Yeseva One"/>
                <a:ea typeface="Yeseva One"/>
                <a:cs typeface="Yeseva One"/>
                <a:sym typeface="Yeseva One"/>
              </a:rPr>
              <a:t>Starbucks</a:t>
            </a:r>
          </a:p>
        </p:txBody>
      </p:sp>
    </p:spTree>
  </p:cSld>
  <p:clrMapOvr>
    <a:masterClrMapping/>
  </p:clrMapOvr>
  <p:transition spd="fast">
    <p:wipe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BCBBB"/>
        </a:solidFill>
      </p:bgPr>
    </p:bg>
    <p:spTree>
      <p:nvGrpSpPr>
        <p:cNvPr id="1" name=""/>
        <p:cNvGrpSpPr/>
        <p:nvPr/>
      </p:nvGrpSpPr>
      <p:grpSpPr>
        <a:xfrm>
          <a:off x="0" y="0"/>
          <a:ext cx="0" cy="0"/>
          <a:chOff x="0" y="0"/>
          <a:chExt cx="0" cy="0"/>
        </a:xfrm>
      </p:grpSpPr>
      <p:sp>
        <p:nvSpPr>
          <p:cNvPr name="Freeform 2" id="2"/>
          <p:cNvSpPr/>
          <p:nvPr/>
        </p:nvSpPr>
        <p:spPr>
          <a:xfrm flipH="false" flipV="false" rot="0">
            <a:off x="-370702" y="-244773"/>
            <a:ext cx="6794492" cy="11825856"/>
          </a:xfrm>
          <a:custGeom>
            <a:avLst/>
            <a:gdLst/>
            <a:ahLst/>
            <a:cxnLst/>
            <a:rect r="r" b="b" t="t" l="l"/>
            <a:pathLst>
              <a:path h="11825856" w="6794492">
                <a:moveTo>
                  <a:pt x="0" y="0"/>
                </a:moveTo>
                <a:lnTo>
                  <a:pt x="6794492" y="0"/>
                </a:lnTo>
                <a:lnTo>
                  <a:pt x="6794492" y="11825856"/>
                </a:lnTo>
                <a:lnTo>
                  <a:pt x="0" y="11825856"/>
                </a:lnTo>
                <a:lnTo>
                  <a:pt x="0" y="0"/>
                </a:lnTo>
                <a:close/>
              </a:path>
            </a:pathLst>
          </a:custGeom>
          <a:blipFill>
            <a:blip r:embed="rId2">
              <a:alphaModFix amt="3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794591" y="5824302"/>
            <a:ext cx="12244434" cy="4316163"/>
          </a:xfrm>
          <a:custGeom>
            <a:avLst/>
            <a:gdLst/>
            <a:ahLst/>
            <a:cxnLst/>
            <a:rect r="r" b="b" t="t" l="l"/>
            <a:pathLst>
              <a:path h="4316163" w="12244434">
                <a:moveTo>
                  <a:pt x="0" y="0"/>
                </a:moveTo>
                <a:lnTo>
                  <a:pt x="12244434" y="0"/>
                </a:lnTo>
                <a:lnTo>
                  <a:pt x="12244434" y="4316163"/>
                </a:lnTo>
                <a:lnTo>
                  <a:pt x="0" y="4316163"/>
                </a:lnTo>
                <a:lnTo>
                  <a:pt x="0" y="0"/>
                </a:lnTo>
                <a:close/>
              </a:path>
            </a:pathLst>
          </a:custGeom>
          <a:blipFill>
            <a:blip r:embed="rId4"/>
            <a:stretch>
              <a:fillRect l="0" t="0" r="0" b="0"/>
            </a:stretch>
          </a:blipFill>
        </p:spPr>
      </p:sp>
      <p:sp>
        <p:nvSpPr>
          <p:cNvPr name="TextBox 4" id="4"/>
          <p:cNvSpPr txBox="true"/>
          <p:nvPr/>
        </p:nvSpPr>
        <p:spPr>
          <a:xfrm rot="0">
            <a:off x="1852362" y="1123950"/>
            <a:ext cx="15406938" cy="1235222"/>
          </a:xfrm>
          <a:prstGeom prst="rect">
            <a:avLst/>
          </a:prstGeom>
        </p:spPr>
        <p:txBody>
          <a:bodyPr anchor="t" rtlCol="false" tIns="0" lIns="0" bIns="0" rIns="0">
            <a:spAutoFit/>
          </a:bodyPr>
          <a:lstStyle/>
          <a:p>
            <a:pPr algn="l">
              <a:lnSpc>
                <a:spcPts val="4704"/>
              </a:lnSpc>
            </a:pPr>
            <a:r>
              <a:rPr lang="en-US" sz="4900">
                <a:solidFill>
                  <a:srgbClr val="7D4C3D"/>
                </a:solidFill>
                <a:latin typeface="Bobby Jones"/>
                <a:ea typeface="Bobby Jones"/>
                <a:cs typeface="Bobby Jones"/>
                <a:sym typeface="Bobby Jones"/>
              </a:rPr>
              <a:t>Data Exploration: Descriptive Statistics &amp; Key Segments</a:t>
            </a:r>
          </a:p>
          <a:p>
            <a:pPr algn="l">
              <a:lnSpc>
                <a:spcPts val="4704"/>
              </a:lnSpc>
            </a:pPr>
          </a:p>
        </p:txBody>
      </p:sp>
      <p:sp>
        <p:nvSpPr>
          <p:cNvPr name="TextBox 5" id="5"/>
          <p:cNvSpPr txBox="true"/>
          <p:nvPr/>
        </p:nvSpPr>
        <p:spPr>
          <a:xfrm rot="0">
            <a:off x="1921700" y="2635372"/>
            <a:ext cx="4633563" cy="2409825"/>
          </a:xfrm>
          <a:prstGeom prst="rect">
            <a:avLst/>
          </a:prstGeom>
        </p:spPr>
        <p:txBody>
          <a:bodyPr anchor="t" rtlCol="false" tIns="0" lIns="0" bIns="0" rIns="0">
            <a:spAutoFit/>
          </a:bodyPr>
          <a:lstStyle/>
          <a:p>
            <a:pPr algn="l">
              <a:lnSpc>
                <a:spcPts val="2375"/>
              </a:lnSpc>
            </a:pPr>
            <a:r>
              <a:rPr lang="en-US" sz="1979" spc="39">
                <a:solidFill>
                  <a:srgbClr val="7D4C3D"/>
                </a:solidFill>
                <a:latin typeface="Jua"/>
                <a:ea typeface="Jua"/>
                <a:cs typeface="Jua"/>
                <a:sym typeface="Jua"/>
              </a:rPr>
              <a:t>Distribution shape: Roughly symmetric with slight</a:t>
            </a:r>
            <a:r>
              <a:rPr lang="en-US" sz="1979" spc="39">
                <a:solidFill>
                  <a:srgbClr val="7D4C3D"/>
                </a:solidFill>
                <a:latin typeface="Jua"/>
                <a:ea typeface="Jua"/>
                <a:cs typeface="Jua"/>
                <a:sym typeface="Jua"/>
              </a:rPr>
              <a:t> right skew</a:t>
            </a:r>
          </a:p>
          <a:p>
            <a:pPr algn="l">
              <a:lnSpc>
                <a:spcPts val="2375"/>
              </a:lnSpc>
            </a:pPr>
          </a:p>
          <a:p>
            <a:pPr algn="l">
              <a:lnSpc>
                <a:spcPts val="2375"/>
              </a:lnSpc>
            </a:pPr>
            <a:r>
              <a:rPr lang="en-US" sz="1979" spc="39">
                <a:solidFill>
                  <a:srgbClr val="7D4C3D"/>
                </a:solidFill>
                <a:latin typeface="Jua"/>
                <a:ea typeface="Jua"/>
                <a:cs typeface="Jua"/>
                <a:sym typeface="Jua"/>
              </a:rPr>
              <a:t>Mean ($14.87) close</a:t>
            </a:r>
            <a:r>
              <a:rPr lang="en-US" sz="1979" spc="39">
                <a:solidFill>
                  <a:srgbClr val="7D4C3D"/>
                </a:solidFill>
                <a:latin typeface="Jua"/>
                <a:ea typeface="Jua"/>
                <a:cs typeface="Jua"/>
                <a:sym typeface="Jua"/>
              </a:rPr>
              <a:t> to </a:t>
            </a:r>
            <a:r>
              <a:rPr lang="en-US" sz="1979" spc="39">
                <a:solidFill>
                  <a:srgbClr val="7D4C3D"/>
                </a:solidFill>
                <a:latin typeface="Jua"/>
                <a:ea typeface="Jua"/>
                <a:cs typeface="Jua"/>
                <a:sym typeface="Jua"/>
              </a:rPr>
              <a:t>Median ($14.17) confirms near-symmetry</a:t>
            </a:r>
          </a:p>
          <a:p>
            <a:pPr algn="l">
              <a:lnSpc>
                <a:spcPts val="2375"/>
              </a:lnSpc>
            </a:pPr>
          </a:p>
          <a:p>
            <a:pPr algn="l">
              <a:lnSpc>
                <a:spcPts val="2375"/>
              </a:lnSpc>
            </a:pPr>
            <a:r>
              <a:rPr lang="en-US" sz="1979" spc="39">
                <a:solidFill>
                  <a:srgbClr val="7D4C3D"/>
                </a:solidFill>
                <a:latin typeface="Jua"/>
                <a:ea typeface="Jua"/>
                <a:cs typeface="Jua"/>
                <a:sym typeface="Jua"/>
              </a:rPr>
              <a:t>Most or</a:t>
            </a:r>
            <a:r>
              <a:rPr lang="en-US" sz="1979" spc="39">
                <a:solidFill>
                  <a:srgbClr val="7D4C3D"/>
                </a:solidFill>
                <a:latin typeface="Jua"/>
                <a:ea typeface="Jua"/>
                <a:cs typeface="Jua"/>
                <a:sym typeface="Jua"/>
              </a:rPr>
              <a:t>ders</a:t>
            </a:r>
            <a:r>
              <a:rPr lang="en-US" sz="1979" spc="39">
                <a:solidFill>
                  <a:srgbClr val="7D4C3D"/>
                </a:solidFill>
                <a:latin typeface="Jua"/>
                <a:ea typeface="Jua"/>
                <a:cs typeface="Jua"/>
                <a:sym typeface="Jua"/>
              </a:rPr>
              <a:t> f</a:t>
            </a:r>
            <a:r>
              <a:rPr lang="en-US" sz="1979" spc="39">
                <a:solidFill>
                  <a:srgbClr val="7D4C3D"/>
                </a:solidFill>
                <a:latin typeface="Jua"/>
                <a:ea typeface="Jua"/>
                <a:cs typeface="Jua"/>
                <a:sym typeface="Jua"/>
              </a:rPr>
              <a:t>all</a:t>
            </a:r>
            <a:r>
              <a:rPr lang="en-US" sz="1979" spc="39">
                <a:solidFill>
                  <a:srgbClr val="7D4C3D"/>
                </a:solidFill>
                <a:latin typeface="Jua"/>
                <a:ea typeface="Jua"/>
                <a:cs typeface="Jua"/>
                <a:sym typeface="Jua"/>
              </a:rPr>
              <a:t> be</a:t>
            </a:r>
            <a:r>
              <a:rPr lang="en-US" sz="1979" spc="39">
                <a:solidFill>
                  <a:srgbClr val="7D4C3D"/>
                </a:solidFill>
                <a:latin typeface="Jua"/>
                <a:ea typeface="Jua"/>
                <a:cs typeface="Jua"/>
                <a:sym typeface="Jua"/>
              </a:rPr>
              <a:t>tween $10 and $20</a:t>
            </a:r>
          </a:p>
          <a:p>
            <a:pPr algn="ctr">
              <a:lnSpc>
                <a:spcPts val="2375"/>
              </a:lnSpc>
            </a:pPr>
          </a:p>
        </p:txBody>
      </p:sp>
      <p:sp>
        <p:nvSpPr>
          <p:cNvPr name="TextBox 6" id="6"/>
          <p:cNvSpPr txBox="true"/>
          <p:nvPr/>
        </p:nvSpPr>
        <p:spPr>
          <a:xfrm rot="0">
            <a:off x="8211594" y="1997542"/>
            <a:ext cx="9435904" cy="3575362"/>
          </a:xfrm>
          <a:prstGeom prst="rect">
            <a:avLst/>
          </a:prstGeom>
        </p:spPr>
        <p:txBody>
          <a:bodyPr anchor="t" rtlCol="false" tIns="0" lIns="0" bIns="0" rIns="0">
            <a:spAutoFit/>
          </a:bodyPr>
          <a:lstStyle/>
          <a:p>
            <a:pPr algn="just">
              <a:lnSpc>
                <a:spcPts val="2355"/>
              </a:lnSpc>
            </a:pPr>
            <a:r>
              <a:rPr lang="en-US" sz="1963" spc="39">
                <a:solidFill>
                  <a:srgbClr val="7D4C3D"/>
                </a:solidFill>
                <a:latin typeface="Jua"/>
                <a:ea typeface="Jua"/>
                <a:cs typeface="Jua"/>
                <a:sym typeface="Jua"/>
              </a:rPr>
              <a:t>Key EDA Takeaways:</a:t>
            </a:r>
          </a:p>
          <a:p>
            <a:pPr algn="just">
              <a:lnSpc>
                <a:spcPts val="2355"/>
              </a:lnSpc>
            </a:pPr>
          </a:p>
          <a:p>
            <a:pPr algn="just">
              <a:lnSpc>
                <a:spcPts val="2355"/>
              </a:lnSpc>
            </a:pPr>
            <a:r>
              <a:rPr lang="en-US" sz="1963" spc="39">
                <a:solidFill>
                  <a:srgbClr val="7D4C3D"/>
                </a:solidFill>
                <a:latin typeface="Jua"/>
                <a:ea typeface="Jua"/>
                <a:cs typeface="Jua"/>
                <a:sym typeface="Jua"/>
              </a:rPr>
              <a:t>1. Mobile App is the dominant spending driver ($18.08 vs ~$12.50 for all others)</a:t>
            </a:r>
          </a:p>
          <a:p>
            <a:pPr algn="just">
              <a:lnSpc>
                <a:spcPts val="2355"/>
              </a:lnSpc>
            </a:pPr>
          </a:p>
          <a:p>
            <a:pPr algn="just">
              <a:lnSpc>
                <a:spcPts val="2355"/>
              </a:lnSpc>
            </a:pPr>
            <a:r>
              <a:rPr lang="en-US" sz="1963" spc="39">
                <a:solidFill>
                  <a:srgbClr val="7D4C3D"/>
                </a:solidFill>
                <a:latin typeface="Jua"/>
                <a:ea typeface="Jua"/>
                <a:cs typeface="Jua"/>
                <a:sym typeface="Jua"/>
              </a:rPr>
              <a:t>2. Rewards membership shows a modest effect (+$1.63), needs hypothesis testing</a:t>
            </a:r>
          </a:p>
          <a:p>
            <a:pPr algn="just">
              <a:lnSpc>
                <a:spcPts val="2355"/>
              </a:lnSpc>
            </a:pPr>
          </a:p>
          <a:p>
            <a:pPr algn="just">
              <a:lnSpc>
                <a:spcPts val="2355"/>
              </a:lnSpc>
            </a:pPr>
            <a:r>
              <a:rPr lang="en-US" sz="1963" spc="39">
                <a:solidFill>
                  <a:srgbClr val="7D4C3D"/>
                </a:solidFill>
                <a:latin typeface="Jua"/>
                <a:ea typeface="Jua"/>
                <a:cs typeface="Jua"/>
                <a:sym typeface="Jua"/>
              </a:rPr>
              <a:t>3. </a:t>
            </a:r>
            <a:r>
              <a:rPr lang="en-US" sz="1963" spc="39">
                <a:solidFill>
                  <a:srgbClr val="7D4C3D"/>
                </a:solidFill>
                <a:latin typeface="Jua"/>
                <a:ea typeface="Jua"/>
                <a:cs typeface="Jua"/>
                <a:sym typeface="Jua"/>
              </a:rPr>
              <a:t>Drink category and store location have no meaningful effect on spending</a:t>
            </a:r>
          </a:p>
          <a:p>
            <a:pPr algn="just">
              <a:lnSpc>
                <a:spcPts val="2355"/>
              </a:lnSpc>
            </a:pPr>
          </a:p>
          <a:p>
            <a:pPr algn="just">
              <a:lnSpc>
                <a:spcPts val="2355"/>
              </a:lnSpc>
            </a:pPr>
            <a:r>
              <a:rPr lang="en-US" sz="1963" spc="39">
                <a:solidFill>
                  <a:srgbClr val="7D4C3D"/>
                </a:solidFill>
                <a:latin typeface="Jua"/>
                <a:ea typeface="Jua"/>
                <a:cs typeface="Jua"/>
                <a:sym typeface="Jua"/>
              </a:rPr>
              <a:t>4. Data quality is excellent: zero missing values, low outlier rates</a:t>
            </a:r>
          </a:p>
          <a:p>
            <a:pPr algn="just">
              <a:lnSpc>
                <a:spcPts val="2355"/>
              </a:lnSpc>
            </a:pPr>
          </a:p>
          <a:p>
            <a:pPr algn="just">
              <a:lnSpc>
                <a:spcPts val="2355"/>
              </a:lnSpc>
            </a:pPr>
            <a:r>
              <a:rPr lang="en-US" sz="1963" spc="39">
                <a:solidFill>
                  <a:srgbClr val="7D4C3D"/>
                </a:solidFill>
                <a:latin typeface="Jua"/>
                <a:ea typeface="Jua"/>
                <a:cs typeface="Jua"/>
                <a:sym typeface="Jua"/>
              </a:rPr>
              <a:t>5. These findings set the stage for all subsequent analyses</a:t>
            </a:r>
          </a:p>
          <a:p>
            <a:pPr algn="just">
              <a:lnSpc>
                <a:spcPts val="2355"/>
              </a:lnSpc>
            </a:pPr>
          </a:p>
        </p:txBody>
      </p:sp>
      <p:sp>
        <p:nvSpPr>
          <p:cNvPr name="Freeform 7" id="7"/>
          <p:cNvSpPr/>
          <p:nvPr/>
        </p:nvSpPr>
        <p:spPr>
          <a:xfrm flipH="false" flipV="false" rot="0">
            <a:off x="346318" y="0"/>
            <a:ext cx="1364764" cy="1705955"/>
          </a:xfrm>
          <a:custGeom>
            <a:avLst/>
            <a:gdLst/>
            <a:ahLst/>
            <a:cxnLst/>
            <a:rect r="r" b="b" t="t" l="l"/>
            <a:pathLst>
              <a:path h="1705955" w="1364764">
                <a:moveTo>
                  <a:pt x="0" y="0"/>
                </a:moveTo>
                <a:lnTo>
                  <a:pt x="1364764" y="0"/>
                </a:lnTo>
                <a:lnTo>
                  <a:pt x="1364764" y="1705955"/>
                </a:lnTo>
                <a:lnTo>
                  <a:pt x="0" y="1705955"/>
                </a:lnTo>
                <a:lnTo>
                  <a:pt x="0" y="0"/>
                </a:lnTo>
                <a:close/>
              </a:path>
            </a:pathLst>
          </a:custGeom>
          <a:blipFill>
            <a:blip r:embed="rId5"/>
            <a:stretch>
              <a:fillRect l="-12500" t="0" r="-12500" b="0"/>
            </a:stretch>
          </a:blipFill>
        </p:spPr>
      </p:sp>
      <p:sp>
        <p:nvSpPr>
          <p:cNvPr name="TextBox 8" id="8"/>
          <p:cNvSpPr txBox="true"/>
          <p:nvPr/>
        </p:nvSpPr>
        <p:spPr>
          <a:xfrm rot="0">
            <a:off x="504110" y="1263151"/>
            <a:ext cx="1049179" cy="249093"/>
          </a:xfrm>
          <a:prstGeom prst="rect">
            <a:avLst/>
          </a:prstGeom>
        </p:spPr>
        <p:txBody>
          <a:bodyPr anchor="t" rtlCol="false" tIns="0" lIns="0" bIns="0" rIns="0">
            <a:spAutoFit/>
          </a:bodyPr>
          <a:lstStyle/>
          <a:p>
            <a:pPr algn="ctr">
              <a:lnSpc>
                <a:spcPts val="1945"/>
              </a:lnSpc>
            </a:pPr>
            <a:r>
              <a:rPr lang="en-US" sz="1389">
                <a:solidFill>
                  <a:srgbClr val="FAF8ED"/>
                </a:solidFill>
                <a:latin typeface="Yeseva One"/>
                <a:ea typeface="Yeseva One"/>
                <a:cs typeface="Yeseva One"/>
                <a:sym typeface="Yeseva One"/>
              </a:rPr>
              <a:t>Starbucks</a:t>
            </a:r>
          </a:p>
        </p:txBody>
      </p:sp>
    </p:spTree>
  </p:cSld>
  <p:clrMapOvr>
    <a:masterClrMapping/>
  </p:clrMapOvr>
  <p:transition spd="fast">
    <p:wipe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BCBBB"/>
        </a:solidFill>
      </p:bgPr>
    </p:bg>
    <p:spTree>
      <p:nvGrpSpPr>
        <p:cNvPr id="1" name=""/>
        <p:cNvGrpSpPr/>
        <p:nvPr/>
      </p:nvGrpSpPr>
      <p:grpSpPr>
        <a:xfrm>
          <a:off x="0" y="0"/>
          <a:ext cx="0" cy="0"/>
          <a:chOff x="0" y="0"/>
          <a:chExt cx="0" cy="0"/>
        </a:xfrm>
      </p:grpSpPr>
      <p:sp>
        <p:nvSpPr>
          <p:cNvPr name="Freeform 2" id="2"/>
          <p:cNvSpPr/>
          <p:nvPr/>
        </p:nvSpPr>
        <p:spPr>
          <a:xfrm flipH="false" flipV="false" rot="0">
            <a:off x="-370702" y="-244773"/>
            <a:ext cx="6794492" cy="11825856"/>
          </a:xfrm>
          <a:custGeom>
            <a:avLst/>
            <a:gdLst/>
            <a:ahLst/>
            <a:cxnLst/>
            <a:rect r="r" b="b" t="t" l="l"/>
            <a:pathLst>
              <a:path h="11825856" w="6794492">
                <a:moveTo>
                  <a:pt x="0" y="0"/>
                </a:moveTo>
                <a:lnTo>
                  <a:pt x="6794492" y="0"/>
                </a:lnTo>
                <a:lnTo>
                  <a:pt x="6794492" y="11825856"/>
                </a:lnTo>
                <a:lnTo>
                  <a:pt x="0" y="11825856"/>
                </a:lnTo>
                <a:lnTo>
                  <a:pt x="0" y="0"/>
                </a:lnTo>
                <a:close/>
              </a:path>
            </a:pathLst>
          </a:custGeom>
          <a:blipFill>
            <a:blip r:embed="rId2">
              <a:alphaModFix amt="3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40622" y="4032455"/>
            <a:ext cx="3009959" cy="4784616"/>
          </a:xfrm>
          <a:custGeom>
            <a:avLst/>
            <a:gdLst/>
            <a:ahLst/>
            <a:cxnLst/>
            <a:rect r="r" b="b" t="t" l="l"/>
            <a:pathLst>
              <a:path h="4784616" w="3009959">
                <a:moveTo>
                  <a:pt x="0" y="0"/>
                </a:moveTo>
                <a:lnTo>
                  <a:pt x="3009959" y="0"/>
                </a:lnTo>
                <a:lnTo>
                  <a:pt x="3009959" y="4784616"/>
                </a:lnTo>
                <a:lnTo>
                  <a:pt x="0" y="4784616"/>
                </a:lnTo>
                <a:lnTo>
                  <a:pt x="0" y="0"/>
                </a:lnTo>
                <a:close/>
              </a:path>
            </a:pathLst>
          </a:custGeom>
          <a:blipFill>
            <a:blip r:embed="rId4"/>
            <a:stretch>
              <a:fillRect l="0" t="0" r="0" b="0"/>
            </a:stretch>
          </a:blipFill>
        </p:spPr>
      </p:sp>
      <p:sp>
        <p:nvSpPr>
          <p:cNvPr name="TextBox 4" id="4"/>
          <p:cNvSpPr txBox="true"/>
          <p:nvPr/>
        </p:nvSpPr>
        <p:spPr>
          <a:xfrm rot="0">
            <a:off x="4162376" y="3045659"/>
            <a:ext cx="12699517" cy="2145041"/>
          </a:xfrm>
          <a:prstGeom prst="rect">
            <a:avLst/>
          </a:prstGeom>
        </p:spPr>
        <p:txBody>
          <a:bodyPr anchor="t" rtlCol="false" tIns="0" lIns="0" bIns="0" rIns="0">
            <a:spAutoFit/>
          </a:bodyPr>
          <a:lstStyle/>
          <a:p>
            <a:pPr algn="ctr">
              <a:lnSpc>
                <a:spcPts val="8160"/>
              </a:lnSpc>
            </a:pPr>
            <a:r>
              <a:rPr lang="en-US" sz="8500">
                <a:solidFill>
                  <a:srgbClr val="7D4C3D"/>
                </a:solidFill>
                <a:latin typeface="Bobby Jones"/>
                <a:ea typeface="Bobby Jones"/>
                <a:cs typeface="Bobby Jones"/>
                <a:sym typeface="Bobby Jones"/>
              </a:rPr>
              <a:t>Covariance &amp; Pearson Correlation</a:t>
            </a:r>
          </a:p>
        </p:txBody>
      </p:sp>
      <p:sp>
        <p:nvSpPr>
          <p:cNvPr name="TextBox 5" id="5"/>
          <p:cNvSpPr txBox="true"/>
          <p:nvPr/>
        </p:nvSpPr>
        <p:spPr>
          <a:xfrm rot="0">
            <a:off x="3531083" y="5534805"/>
            <a:ext cx="14756917" cy="1140725"/>
          </a:xfrm>
          <a:prstGeom prst="rect">
            <a:avLst/>
          </a:prstGeom>
        </p:spPr>
        <p:txBody>
          <a:bodyPr anchor="t" rtlCol="false" tIns="0" lIns="0" bIns="0" rIns="0">
            <a:spAutoFit/>
          </a:bodyPr>
          <a:lstStyle/>
          <a:p>
            <a:pPr algn="ctr">
              <a:lnSpc>
                <a:spcPts val="4325"/>
              </a:lnSpc>
              <a:spcBef>
                <a:spcPct val="0"/>
              </a:spcBef>
            </a:pPr>
            <a:r>
              <a:rPr lang="en-US" sz="3089">
                <a:solidFill>
                  <a:srgbClr val="7D4C3D"/>
                </a:solidFill>
                <a:latin typeface="Jua"/>
                <a:ea typeface="Jua"/>
                <a:cs typeface="Jua"/>
                <a:sym typeface="Jua"/>
              </a:rPr>
              <a:t>“</a:t>
            </a:r>
            <a:r>
              <a:rPr lang="en-US" sz="3089">
                <a:solidFill>
                  <a:srgbClr val="7D4C3D"/>
                </a:solidFill>
                <a:latin typeface="Jua"/>
                <a:ea typeface="Jua"/>
                <a:cs typeface="Jua"/>
                <a:sym typeface="Jua"/>
              </a:rPr>
              <a:t>Covariance shows direction, while correlation shows both strength and direction on a standardized scale.”</a:t>
            </a:r>
          </a:p>
        </p:txBody>
      </p:sp>
      <p:sp>
        <p:nvSpPr>
          <p:cNvPr name="Freeform 6" id="6"/>
          <p:cNvSpPr/>
          <p:nvPr/>
        </p:nvSpPr>
        <p:spPr>
          <a:xfrm flipH="false" flipV="false" rot="0">
            <a:off x="346318" y="0"/>
            <a:ext cx="1364764" cy="1705955"/>
          </a:xfrm>
          <a:custGeom>
            <a:avLst/>
            <a:gdLst/>
            <a:ahLst/>
            <a:cxnLst/>
            <a:rect r="r" b="b" t="t" l="l"/>
            <a:pathLst>
              <a:path h="1705955" w="1364764">
                <a:moveTo>
                  <a:pt x="0" y="0"/>
                </a:moveTo>
                <a:lnTo>
                  <a:pt x="1364764" y="0"/>
                </a:lnTo>
                <a:lnTo>
                  <a:pt x="1364764" y="1705955"/>
                </a:lnTo>
                <a:lnTo>
                  <a:pt x="0" y="1705955"/>
                </a:lnTo>
                <a:lnTo>
                  <a:pt x="0" y="0"/>
                </a:lnTo>
                <a:close/>
              </a:path>
            </a:pathLst>
          </a:custGeom>
          <a:blipFill>
            <a:blip r:embed="rId5"/>
            <a:stretch>
              <a:fillRect l="-12500" t="0" r="-12500" b="0"/>
            </a:stretch>
          </a:blipFill>
        </p:spPr>
      </p:sp>
      <p:sp>
        <p:nvSpPr>
          <p:cNvPr name="TextBox 7" id="7"/>
          <p:cNvSpPr txBox="true"/>
          <p:nvPr/>
        </p:nvSpPr>
        <p:spPr>
          <a:xfrm rot="0">
            <a:off x="504110" y="1263151"/>
            <a:ext cx="1049179" cy="249093"/>
          </a:xfrm>
          <a:prstGeom prst="rect">
            <a:avLst/>
          </a:prstGeom>
        </p:spPr>
        <p:txBody>
          <a:bodyPr anchor="t" rtlCol="false" tIns="0" lIns="0" bIns="0" rIns="0">
            <a:spAutoFit/>
          </a:bodyPr>
          <a:lstStyle/>
          <a:p>
            <a:pPr algn="ctr">
              <a:lnSpc>
                <a:spcPts val="1945"/>
              </a:lnSpc>
            </a:pPr>
            <a:r>
              <a:rPr lang="en-US" sz="1389">
                <a:solidFill>
                  <a:srgbClr val="FAF8ED"/>
                </a:solidFill>
                <a:latin typeface="Yeseva One"/>
                <a:ea typeface="Yeseva One"/>
                <a:cs typeface="Yeseva One"/>
                <a:sym typeface="Yeseva One"/>
              </a:rPr>
              <a:t>Starbucks</a:t>
            </a:r>
          </a:p>
        </p:txBody>
      </p:sp>
    </p:spTree>
  </p:cSld>
  <p:clrMapOvr>
    <a:masterClrMapping/>
  </p:clrMapOvr>
  <p:transition spd="fast">
    <p:wipe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BCBBB"/>
        </a:solidFill>
      </p:bgPr>
    </p:bg>
    <p:spTree>
      <p:nvGrpSpPr>
        <p:cNvPr id="1" name=""/>
        <p:cNvGrpSpPr/>
        <p:nvPr/>
      </p:nvGrpSpPr>
      <p:grpSpPr>
        <a:xfrm>
          <a:off x="0" y="0"/>
          <a:ext cx="0" cy="0"/>
          <a:chOff x="0" y="0"/>
          <a:chExt cx="0" cy="0"/>
        </a:xfrm>
      </p:grpSpPr>
      <p:sp>
        <p:nvSpPr>
          <p:cNvPr name="Freeform 2" id="2"/>
          <p:cNvSpPr/>
          <p:nvPr/>
        </p:nvSpPr>
        <p:spPr>
          <a:xfrm flipH="false" flipV="false" rot="0">
            <a:off x="-370702" y="-244773"/>
            <a:ext cx="6794492" cy="11825856"/>
          </a:xfrm>
          <a:custGeom>
            <a:avLst/>
            <a:gdLst/>
            <a:ahLst/>
            <a:cxnLst/>
            <a:rect r="r" b="b" t="t" l="l"/>
            <a:pathLst>
              <a:path h="11825856" w="6794492">
                <a:moveTo>
                  <a:pt x="0" y="0"/>
                </a:moveTo>
                <a:lnTo>
                  <a:pt x="6794492" y="0"/>
                </a:lnTo>
                <a:lnTo>
                  <a:pt x="6794492" y="11825856"/>
                </a:lnTo>
                <a:lnTo>
                  <a:pt x="0" y="11825856"/>
                </a:lnTo>
                <a:lnTo>
                  <a:pt x="0" y="0"/>
                </a:lnTo>
                <a:close/>
              </a:path>
            </a:pathLst>
          </a:custGeom>
          <a:blipFill>
            <a:blip r:embed="rId2">
              <a:alphaModFix amt="3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46318" y="0"/>
            <a:ext cx="1364764" cy="1705955"/>
          </a:xfrm>
          <a:custGeom>
            <a:avLst/>
            <a:gdLst/>
            <a:ahLst/>
            <a:cxnLst/>
            <a:rect r="r" b="b" t="t" l="l"/>
            <a:pathLst>
              <a:path h="1705955" w="1364764">
                <a:moveTo>
                  <a:pt x="0" y="0"/>
                </a:moveTo>
                <a:lnTo>
                  <a:pt x="1364764" y="0"/>
                </a:lnTo>
                <a:lnTo>
                  <a:pt x="1364764" y="1705955"/>
                </a:lnTo>
                <a:lnTo>
                  <a:pt x="0" y="1705955"/>
                </a:lnTo>
                <a:lnTo>
                  <a:pt x="0" y="0"/>
                </a:lnTo>
                <a:close/>
              </a:path>
            </a:pathLst>
          </a:custGeom>
          <a:blipFill>
            <a:blip r:embed="rId4"/>
            <a:stretch>
              <a:fillRect l="-12500" t="0" r="-12500" b="0"/>
            </a:stretch>
          </a:blipFill>
        </p:spPr>
      </p:sp>
      <p:sp>
        <p:nvSpPr>
          <p:cNvPr name="Freeform 4" id="4"/>
          <p:cNvSpPr/>
          <p:nvPr/>
        </p:nvSpPr>
        <p:spPr>
          <a:xfrm flipH="false" flipV="false" rot="0">
            <a:off x="1299915" y="1782311"/>
            <a:ext cx="5860680" cy="3642175"/>
          </a:xfrm>
          <a:custGeom>
            <a:avLst/>
            <a:gdLst/>
            <a:ahLst/>
            <a:cxnLst/>
            <a:rect r="r" b="b" t="t" l="l"/>
            <a:pathLst>
              <a:path h="3642175" w="5860680">
                <a:moveTo>
                  <a:pt x="0" y="0"/>
                </a:moveTo>
                <a:lnTo>
                  <a:pt x="5860681" y="0"/>
                </a:lnTo>
                <a:lnTo>
                  <a:pt x="5860681" y="3642175"/>
                </a:lnTo>
                <a:lnTo>
                  <a:pt x="0" y="3642175"/>
                </a:lnTo>
                <a:lnTo>
                  <a:pt x="0" y="0"/>
                </a:lnTo>
                <a:close/>
              </a:path>
            </a:pathLst>
          </a:custGeom>
          <a:blipFill>
            <a:blip r:embed="rId5"/>
            <a:stretch>
              <a:fillRect l="0" t="-1391" r="0" b="-1391"/>
            </a:stretch>
          </a:blipFill>
        </p:spPr>
      </p:sp>
      <p:sp>
        <p:nvSpPr>
          <p:cNvPr name="Freeform 5" id="5"/>
          <p:cNvSpPr/>
          <p:nvPr/>
        </p:nvSpPr>
        <p:spPr>
          <a:xfrm flipH="false" flipV="false" rot="0">
            <a:off x="1449643" y="5500686"/>
            <a:ext cx="5710953" cy="3983596"/>
          </a:xfrm>
          <a:custGeom>
            <a:avLst/>
            <a:gdLst/>
            <a:ahLst/>
            <a:cxnLst/>
            <a:rect r="r" b="b" t="t" l="l"/>
            <a:pathLst>
              <a:path h="3983596" w="5710953">
                <a:moveTo>
                  <a:pt x="0" y="0"/>
                </a:moveTo>
                <a:lnTo>
                  <a:pt x="5710953" y="0"/>
                </a:lnTo>
                <a:lnTo>
                  <a:pt x="5710953" y="3983596"/>
                </a:lnTo>
                <a:lnTo>
                  <a:pt x="0" y="3983596"/>
                </a:lnTo>
                <a:lnTo>
                  <a:pt x="0" y="0"/>
                </a:lnTo>
                <a:close/>
              </a:path>
            </a:pathLst>
          </a:custGeom>
          <a:blipFill>
            <a:blip r:embed="rId6"/>
            <a:stretch>
              <a:fillRect l="0" t="-5658" r="0" b="-1863"/>
            </a:stretch>
          </a:blipFill>
        </p:spPr>
      </p:sp>
      <p:graphicFrame>
        <p:nvGraphicFramePr>
          <p:cNvPr name="Object 6" id="6"/>
          <p:cNvGraphicFramePr/>
          <p:nvPr/>
        </p:nvGraphicFramePr>
        <p:xfrm>
          <a:off x="7277985" y="1854347"/>
          <a:ext cx="13199695" cy="8229600"/>
        </p:xfrm>
        <a:graphic>
          <a:graphicData uri="http://schemas.openxmlformats.org/presentationml/2006/ole">
            <p:oleObj imgW="15836900" imgH="108585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
        <p:nvSpPr>
          <p:cNvPr name="TextBox 7" id="7"/>
          <p:cNvSpPr txBox="true"/>
          <p:nvPr/>
        </p:nvSpPr>
        <p:spPr>
          <a:xfrm rot="0">
            <a:off x="1852362" y="369859"/>
            <a:ext cx="15406938" cy="1051962"/>
          </a:xfrm>
          <a:prstGeom prst="rect">
            <a:avLst/>
          </a:prstGeom>
        </p:spPr>
        <p:txBody>
          <a:bodyPr anchor="t" rtlCol="false" tIns="0" lIns="0" bIns="0" rIns="0">
            <a:spAutoFit/>
          </a:bodyPr>
          <a:lstStyle/>
          <a:p>
            <a:pPr algn="ctr">
              <a:lnSpc>
                <a:spcPts val="4032"/>
              </a:lnSpc>
            </a:pPr>
            <a:r>
              <a:rPr lang="en-US" sz="4200">
                <a:solidFill>
                  <a:srgbClr val="7D4C3D"/>
                </a:solidFill>
                <a:latin typeface="Bobby Jones"/>
                <a:ea typeface="Bobby Jones"/>
                <a:cs typeface="Bobby Jones"/>
                <a:sym typeface="Bobby Jones"/>
              </a:rPr>
              <a:t>Covariance and Pearson correlation-How strongly do cart_size and num_customizations relate to total_spend?</a:t>
            </a:r>
          </a:p>
        </p:txBody>
      </p:sp>
      <p:sp>
        <p:nvSpPr>
          <p:cNvPr name="TextBox 8" id="8"/>
          <p:cNvSpPr txBox="true"/>
          <p:nvPr/>
        </p:nvSpPr>
        <p:spPr>
          <a:xfrm rot="0">
            <a:off x="7632195" y="8493682"/>
            <a:ext cx="9981315" cy="990600"/>
          </a:xfrm>
          <a:prstGeom prst="rect">
            <a:avLst/>
          </a:prstGeom>
        </p:spPr>
        <p:txBody>
          <a:bodyPr anchor="t" rtlCol="false" tIns="0" lIns="0" bIns="0" rIns="0">
            <a:spAutoFit/>
          </a:bodyPr>
          <a:lstStyle/>
          <a:p>
            <a:pPr algn="just">
              <a:lnSpc>
                <a:spcPts val="2475"/>
              </a:lnSpc>
            </a:pPr>
            <a:r>
              <a:rPr lang="en-US" sz="2063" spc="41">
                <a:solidFill>
                  <a:srgbClr val="7D4C3D"/>
                </a:solidFill>
                <a:latin typeface="Jua"/>
                <a:ea typeface="Jua"/>
                <a:cs typeface="Jua"/>
                <a:sym typeface="Jua"/>
              </a:rPr>
              <a:t>Business Insight-"Revenue growth is driven more effectively by upselling premium </a:t>
            </a:r>
          </a:p>
          <a:p>
            <a:pPr algn="ctr">
              <a:lnSpc>
                <a:spcPts val="2475"/>
              </a:lnSpc>
            </a:pPr>
            <a:r>
              <a:rPr lang="en-US" sz="2063" spc="41">
                <a:solidFill>
                  <a:srgbClr val="7D4C3D"/>
                </a:solidFill>
                <a:latin typeface="Jua"/>
                <a:ea typeface="Jua"/>
                <a:cs typeface="Jua"/>
                <a:sym typeface="Jua"/>
              </a:rPr>
              <a:t>modifications (customizations) rather than just encouraging customers to buy more items per visit (cart size)."</a:t>
            </a:r>
          </a:p>
        </p:txBody>
      </p:sp>
      <p:sp>
        <p:nvSpPr>
          <p:cNvPr name="TextBox 9" id="9"/>
          <p:cNvSpPr txBox="true"/>
          <p:nvPr/>
        </p:nvSpPr>
        <p:spPr>
          <a:xfrm rot="0">
            <a:off x="504110" y="1263151"/>
            <a:ext cx="1049179" cy="249093"/>
          </a:xfrm>
          <a:prstGeom prst="rect">
            <a:avLst/>
          </a:prstGeom>
        </p:spPr>
        <p:txBody>
          <a:bodyPr anchor="t" rtlCol="false" tIns="0" lIns="0" bIns="0" rIns="0">
            <a:spAutoFit/>
          </a:bodyPr>
          <a:lstStyle/>
          <a:p>
            <a:pPr algn="ctr">
              <a:lnSpc>
                <a:spcPts val="1945"/>
              </a:lnSpc>
            </a:pPr>
            <a:r>
              <a:rPr lang="en-US" sz="1389">
                <a:solidFill>
                  <a:srgbClr val="FAF8ED"/>
                </a:solidFill>
                <a:latin typeface="Yeseva One"/>
                <a:ea typeface="Yeseva One"/>
                <a:cs typeface="Yeseva One"/>
                <a:sym typeface="Yeseva One"/>
              </a:rPr>
              <a:t>Starbucks</a:t>
            </a:r>
          </a:p>
        </p:txBody>
      </p:sp>
    </p:spTree>
  </p:cSld>
  <p:clrMapOvr>
    <a:masterClrMapping/>
  </p:clrMapOvr>
  <p:transition spd="fast">
    <p:wipe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BCBBB"/>
        </a:solidFill>
      </p:bgPr>
    </p:bg>
    <p:spTree>
      <p:nvGrpSpPr>
        <p:cNvPr id="1" name=""/>
        <p:cNvGrpSpPr/>
        <p:nvPr/>
      </p:nvGrpSpPr>
      <p:grpSpPr>
        <a:xfrm>
          <a:off x="0" y="0"/>
          <a:ext cx="0" cy="0"/>
          <a:chOff x="0" y="0"/>
          <a:chExt cx="0" cy="0"/>
        </a:xfrm>
      </p:grpSpPr>
      <p:sp>
        <p:nvSpPr>
          <p:cNvPr name="Freeform 2" id="2"/>
          <p:cNvSpPr/>
          <p:nvPr/>
        </p:nvSpPr>
        <p:spPr>
          <a:xfrm flipH="false" flipV="false" rot="0">
            <a:off x="-370702" y="-244773"/>
            <a:ext cx="6794492" cy="11825856"/>
          </a:xfrm>
          <a:custGeom>
            <a:avLst/>
            <a:gdLst/>
            <a:ahLst/>
            <a:cxnLst/>
            <a:rect r="r" b="b" t="t" l="l"/>
            <a:pathLst>
              <a:path h="11825856" w="6794492">
                <a:moveTo>
                  <a:pt x="0" y="0"/>
                </a:moveTo>
                <a:lnTo>
                  <a:pt x="6794492" y="0"/>
                </a:lnTo>
                <a:lnTo>
                  <a:pt x="6794492" y="11825856"/>
                </a:lnTo>
                <a:lnTo>
                  <a:pt x="0" y="11825856"/>
                </a:lnTo>
                <a:lnTo>
                  <a:pt x="0" y="0"/>
                </a:lnTo>
                <a:close/>
              </a:path>
            </a:pathLst>
          </a:custGeom>
          <a:blipFill>
            <a:blip r:embed="rId2">
              <a:alphaModFix amt="3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46318" y="0"/>
            <a:ext cx="1364764" cy="1705955"/>
          </a:xfrm>
          <a:custGeom>
            <a:avLst/>
            <a:gdLst/>
            <a:ahLst/>
            <a:cxnLst/>
            <a:rect r="r" b="b" t="t" l="l"/>
            <a:pathLst>
              <a:path h="1705955" w="1364764">
                <a:moveTo>
                  <a:pt x="0" y="0"/>
                </a:moveTo>
                <a:lnTo>
                  <a:pt x="1364764" y="0"/>
                </a:lnTo>
                <a:lnTo>
                  <a:pt x="1364764" y="1705955"/>
                </a:lnTo>
                <a:lnTo>
                  <a:pt x="0" y="1705955"/>
                </a:lnTo>
                <a:lnTo>
                  <a:pt x="0" y="0"/>
                </a:lnTo>
                <a:close/>
              </a:path>
            </a:pathLst>
          </a:custGeom>
          <a:blipFill>
            <a:blip r:embed="rId4"/>
            <a:stretch>
              <a:fillRect l="-12500" t="0" r="-12500" b="0"/>
            </a:stretch>
          </a:blipFill>
        </p:spPr>
      </p:sp>
      <p:sp>
        <p:nvSpPr>
          <p:cNvPr name="Freeform 4" id="4"/>
          <p:cNvSpPr/>
          <p:nvPr/>
        </p:nvSpPr>
        <p:spPr>
          <a:xfrm flipH="false" flipV="false" rot="0">
            <a:off x="13947263" y="1406747"/>
            <a:ext cx="4164726" cy="4691207"/>
          </a:xfrm>
          <a:custGeom>
            <a:avLst/>
            <a:gdLst/>
            <a:ahLst/>
            <a:cxnLst/>
            <a:rect r="r" b="b" t="t" l="l"/>
            <a:pathLst>
              <a:path h="4691207" w="4164726">
                <a:moveTo>
                  <a:pt x="0" y="0"/>
                </a:moveTo>
                <a:lnTo>
                  <a:pt x="4164727" y="0"/>
                </a:lnTo>
                <a:lnTo>
                  <a:pt x="4164727" y="4691207"/>
                </a:lnTo>
                <a:lnTo>
                  <a:pt x="0" y="4691207"/>
                </a:lnTo>
                <a:lnTo>
                  <a:pt x="0" y="0"/>
                </a:lnTo>
                <a:close/>
              </a:path>
            </a:pathLst>
          </a:custGeom>
          <a:blipFill>
            <a:blip r:embed="rId5"/>
            <a:stretch>
              <a:fillRect l="-176" t="0" r="-176" b="0"/>
            </a:stretch>
          </a:blipFill>
        </p:spPr>
      </p:sp>
      <p:sp>
        <p:nvSpPr>
          <p:cNvPr name="TextBox 5" id="5"/>
          <p:cNvSpPr txBox="true"/>
          <p:nvPr/>
        </p:nvSpPr>
        <p:spPr>
          <a:xfrm rot="0">
            <a:off x="504110" y="1263151"/>
            <a:ext cx="1049179" cy="249093"/>
          </a:xfrm>
          <a:prstGeom prst="rect">
            <a:avLst/>
          </a:prstGeom>
        </p:spPr>
        <p:txBody>
          <a:bodyPr anchor="t" rtlCol="false" tIns="0" lIns="0" bIns="0" rIns="0">
            <a:spAutoFit/>
          </a:bodyPr>
          <a:lstStyle/>
          <a:p>
            <a:pPr algn="ctr">
              <a:lnSpc>
                <a:spcPts val="1945"/>
              </a:lnSpc>
            </a:pPr>
            <a:r>
              <a:rPr lang="en-US" sz="1389">
                <a:solidFill>
                  <a:srgbClr val="FAF8ED"/>
                </a:solidFill>
                <a:latin typeface="Yeseva One"/>
                <a:ea typeface="Yeseva One"/>
                <a:cs typeface="Yeseva One"/>
                <a:sym typeface="Yeseva One"/>
              </a:rPr>
              <a:t>Starbucks</a:t>
            </a:r>
          </a:p>
        </p:txBody>
      </p:sp>
      <p:sp>
        <p:nvSpPr>
          <p:cNvPr name="TextBox 6" id="6"/>
          <p:cNvSpPr txBox="true"/>
          <p:nvPr/>
        </p:nvSpPr>
        <p:spPr>
          <a:xfrm rot="0">
            <a:off x="1553290" y="4156705"/>
            <a:ext cx="12699517" cy="2145041"/>
          </a:xfrm>
          <a:prstGeom prst="rect">
            <a:avLst/>
          </a:prstGeom>
        </p:spPr>
        <p:txBody>
          <a:bodyPr anchor="t" rtlCol="false" tIns="0" lIns="0" bIns="0" rIns="0">
            <a:spAutoFit/>
          </a:bodyPr>
          <a:lstStyle/>
          <a:p>
            <a:pPr algn="ctr">
              <a:lnSpc>
                <a:spcPts val="8160"/>
              </a:lnSpc>
            </a:pPr>
            <a:r>
              <a:rPr lang="en-US" sz="8500">
                <a:solidFill>
                  <a:srgbClr val="7D4C3D"/>
                </a:solidFill>
                <a:latin typeface="Bobby Jones"/>
                <a:ea typeface="Bobby Jones"/>
                <a:cs typeface="Bobby Jones"/>
                <a:sym typeface="Bobby Jones"/>
              </a:rPr>
              <a:t>chebyshev’s Inequality Vs Empirical Rule</a:t>
            </a:r>
          </a:p>
        </p:txBody>
      </p:sp>
      <p:sp>
        <p:nvSpPr>
          <p:cNvPr name="TextBox 7" id="7"/>
          <p:cNvSpPr txBox="true"/>
          <p:nvPr/>
        </p:nvSpPr>
        <p:spPr>
          <a:xfrm rot="0">
            <a:off x="504110" y="7193890"/>
            <a:ext cx="15897844" cy="1247887"/>
          </a:xfrm>
          <a:prstGeom prst="rect">
            <a:avLst/>
          </a:prstGeom>
        </p:spPr>
        <p:txBody>
          <a:bodyPr anchor="t" rtlCol="false" tIns="0" lIns="0" bIns="0" rIns="0">
            <a:spAutoFit/>
          </a:bodyPr>
          <a:lstStyle/>
          <a:p>
            <a:pPr algn="ctr">
              <a:lnSpc>
                <a:spcPts val="4718"/>
              </a:lnSpc>
              <a:spcBef>
                <a:spcPct val="0"/>
              </a:spcBef>
            </a:pPr>
            <a:r>
              <a:rPr lang="en-US" sz="3370">
                <a:solidFill>
                  <a:srgbClr val="7D4C3D"/>
                </a:solidFill>
                <a:latin typeface="Jua"/>
                <a:ea typeface="Jua"/>
                <a:cs typeface="Jua"/>
                <a:sym typeface="Jua"/>
              </a:rPr>
              <a:t>"</a:t>
            </a:r>
            <a:r>
              <a:rPr lang="en-US" sz="3370">
                <a:solidFill>
                  <a:srgbClr val="7D4C3D"/>
                </a:solidFill>
                <a:latin typeface="Jua"/>
                <a:ea typeface="Jua"/>
                <a:cs typeface="Jua"/>
                <a:sym typeface="Jua"/>
              </a:rPr>
              <a:t>Chebyshev provides a mathematical certainty;</a:t>
            </a:r>
          </a:p>
          <a:p>
            <a:pPr algn="ctr">
              <a:lnSpc>
                <a:spcPts val="4718"/>
              </a:lnSpc>
              <a:spcBef>
                <a:spcPct val="0"/>
              </a:spcBef>
            </a:pPr>
            <a:r>
              <a:rPr lang="en-US" sz="3370">
                <a:solidFill>
                  <a:srgbClr val="7D4C3D"/>
                </a:solidFill>
                <a:latin typeface="Jua"/>
                <a:ea typeface="Jua"/>
                <a:cs typeface="Jua"/>
                <a:sym typeface="Jua"/>
              </a:rPr>
              <a:t>The Empirical Rule provides a precise estimate. "</a:t>
            </a:r>
          </a:p>
        </p:txBody>
      </p:sp>
    </p:spTree>
  </p:cSld>
  <p:clrMapOvr>
    <a:masterClrMapping/>
  </p:clrMapOvr>
  <p:transition spd="fast">
    <p:wipe dir="l"/>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BCBBB"/>
        </a:solidFill>
      </p:bgPr>
    </p:bg>
    <p:spTree>
      <p:nvGrpSpPr>
        <p:cNvPr id="1" name=""/>
        <p:cNvGrpSpPr/>
        <p:nvPr/>
      </p:nvGrpSpPr>
      <p:grpSpPr>
        <a:xfrm>
          <a:off x="0" y="0"/>
          <a:ext cx="0" cy="0"/>
          <a:chOff x="0" y="0"/>
          <a:chExt cx="0" cy="0"/>
        </a:xfrm>
      </p:grpSpPr>
      <p:sp>
        <p:nvSpPr>
          <p:cNvPr name="Freeform 2" id="2"/>
          <p:cNvSpPr/>
          <p:nvPr/>
        </p:nvSpPr>
        <p:spPr>
          <a:xfrm flipH="false" flipV="false" rot="0">
            <a:off x="-370702" y="-244773"/>
            <a:ext cx="6794492" cy="11825856"/>
          </a:xfrm>
          <a:custGeom>
            <a:avLst/>
            <a:gdLst/>
            <a:ahLst/>
            <a:cxnLst/>
            <a:rect r="r" b="b" t="t" l="l"/>
            <a:pathLst>
              <a:path h="11825856" w="6794492">
                <a:moveTo>
                  <a:pt x="0" y="0"/>
                </a:moveTo>
                <a:lnTo>
                  <a:pt x="6794492" y="0"/>
                </a:lnTo>
                <a:lnTo>
                  <a:pt x="6794492" y="11825856"/>
                </a:lnTo>
                <a:lnTo>
                  <a:pt x="0" y="11825856"/>
                </a:lnTo>
                <a:lnTo>
                  <a:pt x="0" y="0"/>
                </a:lnTo>
                <a:close/>
              </a:path>
            </a:pathLst>
          </a:custGeom>
          <a:blipFill>
            <a:blip r:embed="rId2">
              <a:alphaModFix amt="3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46318" y="0"/>
            <a:ext cx="1364764" cy="1705955"/>
          </a:xfrm>
          <a:custGeom>
            <a:avLst/>
            <a:gdLst/>
            <a:ahLst/>
            <a:cxnLst/>
            <a:rect r="r" b="b" t="t" l="l"/>
            <a:pathLst>
              <a:path h="1705955" w="1364764">
                <a:moveTo>
                  <a:pt x="0" y="0"/>
                </a:moveTo>
                <a:lnTo>
                  <a:pt x="1364764" y="0"/>
                </a:lnTo>
                <a:lnTo>
                  <a:pt x="1364764" y="1705955"/>
                </a:lnTo>
                <a:lnTo>
                  <a:pt x="0" y="1705955"/>
                </a:lnTo>
                <a:lnTo>
                  <a:pt x="0" y="0"/>
                </a:lnTo>
                <a:close/>
              </a:path>
            </a:pathLst>
          </a:custGeom>
          <a:blipFill>
            <a:blip r:embed="rId4"/>
            <a:stretch>
              <a:fillRect l="-12500" t="0" r="-12500" b="0"/>
            </a:stretch>
          </a:blipFill>
        </p:spPr>
      </p:sp>
      <p:sp>
        <p:nvSpPr>
          <p:cNvPr name="Freeform 4" id="4"/>
          <p:cNvSpPr/>
          <p:nvPr/>
        </p:nvSpPr>
        <p:spPr>
          <a:xfrm flipH="false" flipV="false" rot="0">
            <a:off x="0" y="2332365"/>
            <a:ext cx="8365709" cy="4967140"/>
          </a:xfrm>
          <a:custGeom>
            <a:avLst/>
            <a:gdLst/>
            <a:ahLst/>
            <a:cxnLst/>
            <a:rect r="r" b="b" t="t" l="l"/>
            <a:pathLst>
              <a:path h="4967140" w="8365709">
                <a:moveTo>
                  <a:pt x="0" y="0"/>
                </a:moveTo>
                <a:lnTo>
                  <a:pt x="8365709" y="0"/>
                </a:lnTo>
                <a:lnTo>
                  <a:pt x="8365709" y="4967140"/>
                </a:lnTo>
                <a:lnTo>
                  <a:pt x="0" y="4967140"/>
                </a:lnTo>
                <a:lnTo>
                  <a:pt x="0" y="0"/>
                </a:lnTo>
                <a:close/>
              </a:path>
            </a:pathLst>
          </a:custGeom>
          <a:blipFill>
            <a:blip r:embed="rId5"/>
            <a:stretch>
              <a:fillRect l="0" t="0" r="0" b="0"/>
            </a:stretch>
          </a:blipFill>
        </p:spPr>
      </p:sp>
      <p:graphicFrame>
        <p:nvGraphicFramePr>
          <p:cNvPr name="Object 5" id="5"/>
          <p:cNvGraphicFramePr/>
          <p:nvPr/>
        </p:nvGraphicFramePr>
        <p:xfrm>
          <a:off x="8537651" y="2332365"/>
          <a:ext cx="12683021" cy="8229600"/>
        </p:xfrm>
        <a:graphic>
          <a:graphicData uri="http://schemas.openxmlformats.org/presentationml/2006/ole">
            <p:oleObj imgW="15214600" imgH="107569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6" id="6"/>
          <p:cNvSpPr txBox="true"/>
          <p:nvPr/>
        </p:nvSpPr>
        <p:spPr>
          <a:xfrm rot="0">
            <a:off x="504110" y="1263151"/>
            <a:ext cx="1049179" cy="249093"/>
          </a:xfrm>
          <a:prstGeom prst="rect">
            <a:avLst/>
          </a:prstGeom>
        </p:spPr>
        <p:txBody>
          <a:bodyPr anchor="t" rtlCol="false" tIns="0" lIns="0" bIns="0" rIns="0">
            <a:spAutoFit/>
          </a:bodyPr>
          <a:lstStyle/>
          <a:p>
            <a:pPr algn="ctr">
              <a:lnSpc>
                <a:spcPts val="1945"/>
              </a:lnSpc>
            </a:pPr>
            <a:r>
              <a:rPr lang="en-US" sz="1389">
                <a:solidFill>
                  <a:srgbClr val="FAF8ED"/>
                </a:solidFill>
                <a:latin typeface="Yeseva One"/>
                <a:ea typeface="Yeseva One"/>
                <a:cs typeface="Yeseva One"/>
                <a:sym typeface="Yeseva One"/>
              </a:rPr>
              <a:t>Starbucks</a:t>
            </a:r>
          </a:p>
        </p:txBody>
      </p:sp>
      <p:sp>
        <p:nvSpPr>
          <p:cNvPr name="TextBox 7" id="7"/>
          <p:cNvSpPr txBox="true"/>
          <p:nvPr/>
        </p:nvSpPr>
        <p:spPr>
          <a:xfrm rot="0">
            <a:off x="1461914" y="223007"/>
            <a:ext cx="16826086" cy="2272230"/>
          </a:xfrm>
          <a:prstGeom prst="rect">
            <a:avLst/>
          </a:prstGeom>
        </p:spPr>
        <p:txBody>
          <a:bodyPr anchor="t" rtlCol="false" tIns="0" lIns="0" bIns="0" rIns="0">
            <a:spAutoFit/>
          </a:bodyPr>
          <a:lstStyle/>
          <a:p>
            <a:pPr algn="ctr">
              <a:lnSpc>
                <a:spcPts val="6009"/>
              </a:lnSpc>
              <a:spcBef>
                <a:spcPct val="0"/>
              </a:spcBef>
            </a:pPr>
            <a:r>
              <a:rPr lang="en-US" sz="4292">
                <a:solidFill>
                  <a:srgbClr val="7D4C3D"/>
                </a:solidFill>
                <a:latin typeface="Bobby Jones"/>
                <a:ea typeface="Bobby Jones"/>
                <a:cs typeface="Bobby Jones"/>
                <a:sym typeface="Bobby Jones"/>
              </a:rPr>
              <a:t>Analysis 2-Chebyshev's inequality-What % of spending falls within 2 SDs? Compare with empirical rule</a:t>
            </a:r>
          </a:p>
          <a:p>
            <a:pPr algn="ctr">
              <a:lnSpc>
                <a:spcPts val="6009"/>
              </a:lnSpc>
              <a:spcBef>
                <a:spcPct val="0"/>
              </a:spcBef>
            </a:pPr>
          </a:p>
        </p:txBody>
      </p:sp>
      <p:sp>
        <p:nvSpPr>
          <p:cNvPr name="TextBox 8" id="8"/>
          <p:cNvSpPr txBox="true"/>
          <p:nvPr/>
        </p:nvSpPr>
        <p:spPr>
          <a:xfrm rot="0">
            <a:off x="0" y="7855697"/>
            <a:ext cx="18288000" cy="1246542"/>
          </a:xfrm>
          <a:prstGeom prst="rect">
            <a:avLst/>
          </a:prstGeom>
        </p:spPr>
        <p:txBody>
          <a:bodyPr anchor="t" rtlCol="false" tIns="0" lIns="0" bIns="0" rIns="0">
            <a:spAutoFit/>
          </a:bodyPr>
          <a:lstStyle/>
          <a:p>
            <a:pPr algn="ctr">
              <a:lnSpc>
                <a:spcPts val="3217"/>
              </a:lnSpc>
              <a:spcBef>
                <a:spcPct val="0"/>
              </a:spcBef>
            </a:pPr>
            <a:r>
              <a:rPr lang="en-US" sz="2298">
                <a:solidFill>
                  <a:srgbClr val="7D4C3D"/>
                </a:solidFill>
                <a:latin typeface="Jua"/>
                <a:ea typeface="Jua"/>
                <a:cs typeface="Jua"/>
                <a:sym typeface="Jua"/>
              </a:rPr>
              <a:t>Business Insight-</a:t>
            </a:r>
            <a:r>
              <a:rPr lang="en-US" sz="2298">
                <a:solidFill>
                  <a:srgbClr val="7D4C3D"/>
                </a:solidFill>
                <a:latin typeface="Jua"/>
                <a:ea typeface="Jua"/>
                <a:cs typeface="Jua"/>
                <a:sym typeface="Jua"/>
              </a:rPr>
              <a:t>"We have achieved a 'High-Confidence' Revenue Model. Even though the math (Chebyshev) only requires 75% stability, our actual customer data hits 95.8%. This beats the standard 95% Empirical Rule and proves that our financial future is not at the mercy of a few 'Whales' or outliers. Our core business is steady, predictable, and ready to scale."</a:t>
            </a:r>
          </a:p>
        </p:txBody>
      </p:sp>
    </p:spTree>
  </p:cSld>
  <p:clrMapOvr>
    <a:masterClrMapping/>
  </p:clrMapOvr>
  <p:transition spd="fast">
    <p:wipe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0E8"/>
        </a:solidFill>
      </p:bgPr>
    </p:bg>
    <p:spTree>
      <p:nvGrpSpPr>
        <p:cNvPr id="1" name=""/>
        <p:cNvGrpSpPr/>
        <p:nvPr/>
      </p:nvGrpSpPr>
      <p:grpSpPr>
        <a:xfrm>
          <a:off x="0" y="0"/>
          <a:ext cx="0" cy="0"/>
          <a:chOff x="0" y="0"/>
          <a:chExt cx="0" cy="0"/>
        </a:xfrm>
      </p:grpSpPr>
      <p:sp>
        <p:nvSpPr>
          <p:cNvPr name="Freeform 2" id="2"/>
          <p:cNvSpPr/>
          <p:nvPr/>
        </p:nvSpPr>
        <p:spPr>
          <a:xfrm flipH="false" flipV="false" rot="0">
            <a:off x="225884" y="188778"/>
            <a:ext cx="17692690" cy="9960985"/>
          </a:xfrm>
          <a:custGeom>
            <a:avLst/>
            <a:gdLst/>
            <a:ahLst/>
            <a:cxnLst/>
            <a:rect r="r" b="b" t="t" l="l"/>
            <a:pathLst>
              <a:path h="9960985" w="17692690">
                <a:moveTo>
                  <a:pt x="0" y="0"/>
                </a:moveTo>
                <a:lnTo>
                  <a:pt x="17692691" y="0"/>
                </a:lnTo>
                <a:lnTo>
                  <a:pt x="17692691" y="9960984"/>
                </a:lnTo>
                <a:lnTo>
                  <a:pt x="0" y="9960984"/>
                </a:lnTo>
                <a:lnTo>
                  <a:pt x="0" y="0"/>
                </a:lnTo>
                <a:close/>
              </a:path>
            </a:pathLst>
          </a:custGeom>
          <a:blipFill>
            <a:blip r:embed="rId2"/>
            <a:stretch>
              <a:fillRect l="0" t="0" r="0" b="0"/>
            </a:stretch>
          </a:blipFill>
        </p:spPr>
      </p:sp>
      <p:sp>
        <p:nvSpPr>
          <p:cNvPr name="Freeform 3" id="3"/>
          <p:cNvSpPr/>
          <p:nvPr/>
        </p:nvSpPr>
        <p:spPr>
          <a:xfrm flipH="false" flipV="false" rot="0">
            <a:off x="727152" y="478929"/>
            <a:ext cx="1825955" cy="1812384"/>
          </a:xfrm>
          <a:custGeom>
            <a:avLst/>
            <a:gdLst/>
            <a:ahLst/>
            <a:cxnLst/>
            <a:rect r="r" b="b" t="t" l="l"/>
            <a:pathLst>
              <a:path h="1812384" w="1825955">
                <a:moveTo>
                  <a:pt x="0" y="0"/>
                </a:moveTo>
                <a:lnTo>
                  <a:pt x="1825955" y="0"/>
                </a:lnTo>
                <a:lnTo>
                  <a:pt x="1825955" y="1812384"/>
                </a:lnTo>
                <a:lnTo>
                  <a:pt x="0" y="1812384"/>
                </a:lnTo>
                <a:lnTo>
                  <a:pt x="0" y="0"/>
                </a:lnTo>
                <a:close/>
              </a:path>
            </a:pathLst>
          </a:custGeom>
          <a:blipFill>
            <a:blip r:embed="rId3"/>
            <a:stretch>
              <a:fillRect l="0" t="-2593" r="-4404" b="-2593"/>
            </a:stretch>
          </a:blipFill>
        </p:spPr>
      </p:sp>
      <p:sp>
        <p:nvSpPr>
          <p:cNvPr name="TextBox 4" id="4"/>
          <p:cNvSpPr txBox="true"/>
          <p:nvPr/>
        </p:nvSpPr>
        <p:spPr>
          <a:xfrm rot="0">
            <a:off x="1240360" y="1876692"/>
            <a:ext cx="1049179" cy="249093"/>
          </a:xfrm>
          <a:prstGeom prst="rect">
            <a:avLst/>
          </a:prstGeom>
        </p:spPr>
        <p:txBody>
          <a:bodyPr anchor="t" rtlCol="false" tIns="0" lIns="0" bIns="0" rIns="0">
            <a:spAutoFit/>
          </a:bodyPr>
          <a:lstStyle/>
          <a:p>
            <a:pPr algn="ctr">
              <a:lnSpc>
                <a:spcPts val="1945"/>
              </a:lnSpc>
            </a:pPr>
            <a:r>
              <a:rPr lang="en-US" sz="1389">
                <a:solidFill>
                  <a:srgbClr val="FAF8ED"/>
                </a:solidFill>
                <a:latin typeface="Yeseva One"/>
                <a:ea typeface="Yeseva One"/>
                <a:cs typeface="Yeseva One"/>
                <a:sym typeface="Yeseva One"/>
              </a:rPr>
              <a:t>Starbucks</a:t>
            </a:r>
          </a:p>
        </p:txBody>
      </p:sp>
    </p:spTree>
  </p:cSld>
  <p:clrMapOvr>
    <a:masterClrMapping/>
  </p:clrMapOvr>
  <p:transition spd="fast">
    <p:wipe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0E8"/>
        </a:solidFill>
      </p:bgPr>
    </p:bg>
    <p:spTree>
      <p:nvGrpSpPr>
        <p:cNvPr id="1" name=""/>
        <p:cNvGrpSpPr/>
        <p:nvPr/>
      </p:nvGrpSpPr>
      <p:grpSpPr>
        <a:xfrm>
          <a:off x="0" y="0"/>
          <a:ext cx="0" cy="0"/>
          <a:chOff x="0" y="0"/>
          <a:chExt cx="0" cy="0"/>
        </a:xfrm>
      </p:grpSpPr>
      <p:sp>
        <p:nvSpPr>
          <p:cNvPr name="Freeform 2" id="2"/>
          <p:cNvSpPr/>
          <p:nvPr/>
        </p:nvSpPr>
        <p:spPr>
          <a:xfrm flipH="false" flipV="false" rot="0">
            <a:off x="242294" y="543540"/>
            <a:ext cx="17506187" cy="9855983"/>
          </a:xfrm>
          <a:custGeom>
            <a:avLst/>
            <a:gdLst/>
            <a:ahLst/>
            <a:cxnLst/>
            <a:rect r="r" b="b" t="t" l="l"/>
            <a:pathLst>
              <a:path h="9855983" w="17506187">
                <a:moveTo>
                  <a:pt x="0" y="0"/>
                </a:moveTo>
                <a:lnTo>
                  <a:pt x="17506186" y="0"/>
                </a:lnTo>
                <a:lnTo>
                  <a:pt x="17506186" y="9855983"/>
                </a:lnTo>
                <a:lnTo>
                  <a:pt x="0" y="9855983"/>
                </a:lnTo>
                <a:lnTo>
                  <a:pt x="0" y="0"/>
                </a:lnTo>
                <a:close/>
              </a:path>
            </a:pathLst>
          </a:custGeom>
          <a:blipFill>
            <a:blip r:embed="rId2"/>
            <a:stretch>
              <a:fillRect l="0" t="0" r="0" b="0"/>
            </a:stretch>
          </a:blipFill>
        </p:spPr>
      </p:sp>
      <p:sp>
        <p:nvSpPr>
          <p:cNvPr name="Freeform 3" id="3"/>
          <p:cNvSpPr/>
          <p:nvPr/>
        </p:nvSpPr>
        <p:spPr>
          <a:xfrm flipH="false" flipV="false" rot="0">
            <a:off x="727152" y="833692"/>
            <a:ext cx="1825955" cy="1812384"/>
          </a:xfrm>
          <a:custGeom>
            <a:avLst/>
            <a:gdLst/>
            <a:ahLst/>
            <a:cxnLst/>
            <a:rect r="r" b="b" t="t" l="l"/>
            <a:pathLst>
              <a:path h="1812384" w="1825955">
                <a:moveTo>
                  <a:pt x="0" y="0"/>
                </a:moveTo>
                <a:lnTo>
                  <a:pt x="1825955" y="0"/>
                </a:lnTo>
                <a:lnTo>
                  <a:pt x="1825955" y="1812384"/>
                </a:lnTo>
                <a:lnTo>
                  <a:pt x="0" y="1812384"/>
                </a:lnTo>
                <a:lnTo>
                  <a:pt x="0" y="0"/>
                </a:lnTo>
                <a:close/>
              </a:path>
            </a:pathLst>
          </a:custGeom>
          <a:blipFill>
            <a:blip r:embed="rId3"/>
            <a:stretch>
              <a:fillRect l="0" t="-2593" r="-4404" b="-2593"/>
            </a:stretch>
          </a:blipFill>
        </p:spPr>
      </p:sp>
      <p:sp>
        <p:nvSpPr>
          <p:cNvPr name="TextBox 4" id="4"/>
          <p:cNvSpPr txBox="true"/>
          <p:nvPr/>
        </p:nvSpPr>
        <p:spPr>
          <a:xfrm rot="0">
            <a:off x="1240360" y="2224365"/>
            <a:ext cx="1049179" cy="249093"/>
          </a:xfrm>
          <a:prstGeom prst="rect">
            <a:avLst/>
          </a:prstGeom>
        </p:spPr>
        <p:txBody>
          <a:bodyPr anchor="t" rtlCol="false" tIns="0" lIns="0" bIns="0" rIns="0">
            <a:spAutoFit/>
          </a:bodyPr>
          <a:lstStyle/>
          <a:p>
            <a:pPr algn="ctr">
              <a:lnSpc>
                <a:spcPts val="1945"/>
              </a:lnSpc>
            </a:pPr>
            <a:r>
              <a:rPr lang="en-US" sz="1389">
                <a:solidFill>
                  <a:srgbClr val="FAF8ED"/>
                </a:solidFill>
                <a:latin typeface="Yeseva One"/>
                <a:ea typeface="Yeseva One"/>
                <a:cs typeface="Yeseva One"/>
                <a:sym typeface="Yeseva One"/>
              </a:rPr>
              <a:t>Starbucks</a:t>
            </a:r>
          </a:p>
        </p:txBody>
      </p:sp>
    </p:spTree>
  </p:cSld>
  <p:clrMapOvr>
    <a:masterClrMapping/>
  </p:clrMapOvr>
  <p:transition spd="fast">
    <p:wipe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E5631"/>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96144"/>
          </a:xfrm>
          <a:custGeom>
            <a:avLst/>
            <a:gdLst/>
            <a:ahLst/>
            <a:cxnLst/>
            <a:rect r="r" b="b" t="t" l="l"/>
            <a:pathLst>
              <a:path h="10296144" w="18288000">
                <a:moveTo>
                  <a:pt x="0" y="0"/>
                </a:moveTo>
                <a:lnTo>
                  <a:pt x="18288000" y="0"/>
                </a:lnTo>
                <a:lnTo>
                  <a:pt x="18288000" y="10296144"/>
                </a:lnTo>
                <a:lnTo>
                  <a:pt x="0" y="10296144"/>
                </a:lnTo>
                <a:lnTo>
                  <a:pt x="0" y="0"/>
                </a:lnTo>
                <a:close/>
              </a:path>
            </a:pathLst>
          </a:custGeom>
          <a:blipFill>
            <a:blip r:embed="rId2"/>
            <a:stretch>
              <a:fillRect l="0" t="0" r="0" b="0"/>
            </a:stretch>
          </a:blipFill>
        </p:spPr>
      </p:sp>
      <p:sp>
        <p:nvSpPr>
          <p:cNvPr name="Freeform 3" id="3"/>
          <p:cNvSpPr/>
          <p:nvPr/>
        </p:nvSpPr>
        <p:spPr>
          <a:xfrm flipH="false" flipV="false" rot="0">
            <a:off x="503458" y="301548"/>
            <a:ext cx="1825955" cy="1812384"/>
          </a:xfrm>
          <a:custGeom>
            <a:avLst/>
            <a:gdLst/>
            <a:ahLst/>
            <a:cxnLst/>
            <a:rect r="r" b="b" t="t" l="l"/>
            <a:pathLst>
              <a:path h="1812384" w="1825955">
                <a:moveTo>
                  <a:pt x="0" y="0"/>
                </a:moveTo>
                <a:lnTo>
                  <a:pt x="1825955" y="0"/>
                </a:lnTo>
                <a:lnTo>
                  <a:pt x="1825955" y="1812384"/>
                </a:lnTo>
                <a:lnTo>
                  <a:pt x="0" y="1812384"/>
                </a:lnTo>
                <a:lnTo>
                  <a:pt x="0" y="0"/>
                </a:lnTo>
                <a:close/>
              </a:path>
            </a:pathLst>
          </a:custGeom>
          <a:blipFill>
            <a:blip r:embed="rId3"/>
            <a:stretch>
              <a:fillRect l="0" t="-2593" r="-4404" b="-2593"/>
            </a:stretch>
          </a:blipFill>
        </p:spPr>
      </p:sp>
      <p:sp>
        <p:nvSpPr>
          <p:cNvPr name="TextBox 4" id="4"/>
          <p:cNvSpPr txBox="true"/>
          <p:nvPr/>
        </p:nvSpPr>
        <p:spPr>
          <a:xfrm rot="0">
            <a:off x="920421" y="1651727"/>
            <a:ext cx="1049179" cy="249093"/>
          </a:xfrm>
          <a:prstGeom prst="rect">
            <a:avLst/>
          </a:prstGeom>
        </p:spPr>
        <p:txBody>
          <a:bodyPr anchor="t" rtlCol="false" tIns="0" lIns="0" bIns="0" rIns="0">
            <a:spAutoFit/>
          </a:bodyPr>
          <a:lstStyle/>
          <a:p>
            <a:pPr algn="ctr">
              <a:lnSpc>
                <a:spcPts val="1945"/>
              </a:lnSpc>
            </a:pPr>
            <a:r>
              <a:rPr lang="en-US" sz="1389">
                <a:solidFill>
                  <a:srgbClr val="FAF8ED"/>
                </a:solidFill>
                <a:latin typeface="Yeseva One"/>
                <a:ea typeface="Yeseva One"/>
                <a:cs typeface="Yeseva One"/>
                <a:sym typeface="Yeseva One"/>
              </a:rPr>
              <a:t>Starbucks</a:t>
            </a:r>
          </a:p>
        </p:txBody>
      </p:sp>
    </p:spTree>
  </p:cSld>
  <p:clrMapOvr>
    <a:masterClrMapping/>
  </p:clrMapOvr>
  <p:transition spd="fast">
    <p:wipe dir="l"/>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BCBBB"/>
        </a:solidFill>
      </p:bgPr>
    </p:bg>
    <p:spTree>
      <p:nvGrpSpPr>
        <p:cNvPr id="1" name=""/>
        <p:cNvGrpSpPr/>
        <p:nvPr/>
      </p:nvGrpSpPr>
      <p:grpSpPr>
        <a:xfrm>
          <a:off x="0" y="0"/>
          <a:ext cx="0" cy="0"/>
          <a:chOff x="0" y="0"/>
          <a:chExt cx="0" cy="0"/>
        </a:xfrm>
      </p:grpSpPr>
      <p:sp>
        <p:nvSpPr>
          <p:cNvPr name="Freeform 2" id="2"/>
          <p:cNvSpPr/>
          <p:nvPr/>
        </p:nvSpPr>
        <p:spPr>
          <a:xfrm flipH="false" flipV="false" rot="0">
            <a:off x="-370702" y="-244773"/>
            <a:ext cx="6794492" cy="11825856"/>
          </a:xfrm>
          <a:custGeom>
            <a:avLst/>
            <a:gdLst/>
            <a:ahLst/>
            <a:cxnLst/>
            <a:rect r="r" b="b" t="t" l="l"/>
            <a:pathLst>
              <a:path h="11825856" w="6794492">
                <a:moveTo>
                  <a:pt x="0" y="0"/>
                </a:moveTo>
                <a:lnTo>
                  <a:pt x="6794492" y="0"/>
                </a:lnTo>
                <a:lnTo>
                  <a:pt x="6794492" y="11825856"/>
                </a:lnTo>
                <a:lnTo>
                  <a:pt x="0" y="11825856"/>
                </a:lnTo>
                <a:lnTo>
                  <a:pt x="0" y="0"/>
                </a:lnTo>
                <a:close/>
              </a:path>
            </a:pathLst>
          </a:custGeom>
          <a:blipFill>
            <a:blip r:embed="rId2">
              <a:alphaModFix amt="3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8089" y="3677775"/>
            <a:ext cx="5379405" cy="3980759"/>
          </a:xfrm>
          <a:custGeom>
            <a:avLst/>
            <a:gdLst/>
            <a:ahLst/>
            <a:cxnLst/>
            <a:rect r="r" b="b" t="t" l="l"/>
            <a:pathLst>
              <a:path h="3980759" w="5379405">
                <a:moveTo>
                  <a:pt x="0" y="0"/>
                </a:moveTo>
                <a:lnTo>
                  <a:pt x="5379405" y="0"/>
                </a:lnTo>
                <a:lnTo>
                  <a:pt x="5379405" y="3980759"/>
                </a:lnTo>
                <a:lnTo>
                  <a:pt x="0" y="3980759"/>
                </a:lnTo>
                <a:lnTo>
                  <a:pt x="0" y="0"/>
                </a:lnTo>
                <a:close/>
              </a:path>
            </a:pathLst>
          </a:custGeom>
          <a:blipFill>
            <a:blip r:embed="rId4"/>
            <a:stretch>
              <a:fillRect l="0" t="0" r="0" b="0"/>
            </a:stretch>
          </a:blipFill>
        </p:spPr>
      </p:sp>
      <p:sp>
        <p:nvSpPr>
          <p:cNvPr name="TextBox 4" id="4"/>
          <p:cNvSpPr txBox="true"/>
          <p:nvPr/>
        </p:nvSpPr>
        <p:spPr>
          <a:xfrm rot="0">
            <a:off x="6434757" y="5067300"/>
            <a:ext cx="10347293" cy="2314575"/>
          </a:xfrm>
          <a:prstGeom prst="rect">
            <a:avLst/>
          </a:prstGeom>
        </p:spPr>
        <p:txBody>
          <a:bodyPr anchor="t" rtlCol="false" tIns="0" lIns="0" bIns="0" rIns="0">
            <a:spAutoFit/>
          </a:bodyPr>
          <a:lstStyle/>
          <a:p>
            <a:pPr algn="ctr">
              <a:lnSpc>
                <a:spcPts val="3555"/>
              </a:lnSpc>
            </a:pPr>
            <a:r>
              <a:rPr lang="en-US" sz="2962" spc="59">
                <a:solidFill>
                  <a:srgbClr val="7D4C3D"/>
                </a:solidFill>
                <a:latin typeface="Jua"/>
                <a:ea typeface="Jua"/>
                <a:cs typeface="Jua"/>
                <a:sym typeface="Jua"/>
              </a:rPr>
              <a:t>A statistical method used to determine whether observed differences in data are statistically significant or due to random chance.</a:t>
            </a:r>
          </a:p>
          <a:p>
            <a:pPr algn="ctr">
              <a:lnSpc>
                <a:spcPts val="3555"/>
              </a:lnSpc>
            </a:pPr>
            <a:r>
              <a:rPr lang="en-US" sz="2962" spc="59">
                <a:solidFill>
                  <a:srgbClr val="7D4C3D"/>
                </a:solidFill>
                <a:latin typeface="Jua"/>
                <a:ea typeface="Jua"/>
                <a:cs typeface="Jua"/>
                <a:sym typeface="Jua"/>
              </a:rPr>
              <a:t>  </a:t>
            </a:r>
          </a:p>
          <a:p>
            <a:pPr algn="ctr">
              <a:lnSpc>
                <a:spcPts val="3555"/>
              </a:lnSpc>
            </a:pPr>
            <a:r>
              <a:rPr lang="en-US" sz="2962" spc="59">
                <a:solidFill>
                  <a:srgbClr val="7D4C3D"/>
                </a:solidFill>
                <a:latin typeface="Jua"/>
                <a:ea typeface="Jua"/>
                <a:cs typeface="Jua"/>
                <a:sym typeface="Jua"/>
              </a:rPr>
              <a:t>Aids in making informed, data-driven decisions.</a:t>
            </a:r>
          </a:p>
        </p:txBody>
      </p:sp>
      <p:sp>
        <p:nvSpPr>
          <p:cNvPr name="TextBox 5" id="5"/>
          <p:cNvSpPr txBox="true"/>
          <p:nvPr/>
        </p:nvSpPr>
        <p:spPr>
          <a:xfrm rot="0">
            <a:off x="6423790" y="3359634"/>
            <a:ext cx="10971662" cy="1304924"/>
          </a:xfrm>
          <a:prstGeom prst="rect">
            <a:avLst/>
          </a:prstGeom>
        </p:spPr>
        <p:txBody>
          <a:bodyPr anchor="t" rtlCol="false" tIns="0" lIns="0" bIns="0" rIns="0">
            <a:spAutoFit/>
          </a:bodyPr>
          <a:lstStyle/>
          <a:p>
            <a:pPr algn="l">
              <a:lnSpc>
                <a:spcPts val="9599"/>
              </a:lnSpc>
            </a:pPr>
            <a:r>
              <a:rPr lang="en-US" sz="9999">
                <a:solidFill>
                  <a:srgbClr val="7D4C3D"/>
                </a:solidFill>
                <a:latin typeface="Bobby Jones"/>
                <a:ea typeface="Bobby Jones"/>
                <a:cs typeface="Bobby Jones"/>
                <a:sym typeface="Bobby Jones"/>
              </a:rPr>
              <a:t>Hypothesis Testing</a:t>
            </a:r>
          </a:p>
        </p:txBody>
      </p:sp>
      <p:sp>
        <p:nvSpPr>
          <p:cNvPr name="Freeform 6" id="6"/>
          <p:cNvSpPr/>
          <p:nvPr/>
        </p:nvSpPr>
        <p:spPr>
          <a:xfrm flipH="false" flipV="false" rot="0">
            <a:off x="346318" y="0"/>
            <a:ext cx="1364764" cy="1705955"/>
          </a:xfrm>
          <a:custGeom>
            <a:avLst/>
            <a:gdLst/>
            <a:ahLst/>
            <a:cxnLst/>
            <a:rect r="r" b="b" t="t" l="l"/>
            <a:pathLst>
              <a:path h="1705955" w="1364764">
                <a:moveTo>
                  <a:pt x="0" y="0"/>
                </a:moveTo>
                <a:lnTo>
                  <a:pt x="1364764" y="0"/>
                </a:lnTo>
                <a:lnTo>
                  <a:pt x="1364764" y="1705955"/>
                </a:lnTo>
                <a:lnTo>
                  <a:pt x="0" y="1705955"/>
                </a:lnTo>
                <a:lnTo>
                  <a:pt x="0" y="0"/>
                </a:lnTo>
                <a:close/>
              </a:path>
            </a:pathLst>
          </a:custGeom>
          <a:blipFill>
            <a:blip r:embed="rId5"/>
            <a:stretch>
              <a:fillRect l="-12500" t="0" r="-12500" b="0"/>
            </a:stretch>
          </a:blipFill>
        </p:spPr>
      </p:sp>
      <p:sp>
        <p:nvSpPr>
          <p:cNvPr name="TextBox 7" id="7"/>
          <p:cNvSpPr txBox="true"/>
          <p:nvPr/>
        </p:nvSpPr>
        <p:spPr>
          <a:xfrm rot="0">
            <a:off x="504110" y="1263151"/>
            <a:ext cx="1049179" cy="249093"/>
          </a:xfrm>
          <a:prstGeom prst="rect">
            <a:avLst/>
          </a:prstGeom>
        </p:spPr>
        <p:txBody>
          <a:bodyPr anchor="t" rtlCol="false" tIns="0" lIns="0" bIns="0" rIns="0">
            <a:spAutoFit/>
          </a:bodyPr>
          <a:lstStyle/>
          <a:p>
            <a:pPr algn="ctr">
              <a:lnSpc>
                <a:spcPts val="1945"/>
              </a:lnSpc>
            </a:pPr>
            <a:r>
              <a:rPr lang="en-US" sz="1389">
                <a:solidFill>
                  <a:srgbClr val="FAF8ED"/>
                </a:solidFill>
                <a:latin typeface="Yeseva One"/>
                <a:ea typeface="Yeseva One"/>
                <a:cs typeface="Yeseva One"/>
                <a:sym typeface="Yeseva One"/>
              </a:rPr>
              <a:t>Starbucks</a:t>
            </a:r>
          </a:p>
        </p:txBody>
      </p:sp>
    </p:spTree>
  </p:cSld>
  <p:clrMapOvr>
    <a:masterClrMapping/>
  </p:clrMapOvr>
  <p:transition spd="fast">
    <p:wipe dir="l"/>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DBCBBB"/>
        </a:solidFill>
      </p:bgPr>
    </p:bg>
    <p:spTree>
      <p:nvGrpSpPr>
        <p:cNvPr id="1" name=""/>
        <p:cNvGrpSpPr/>
        <p:nvPr/>
      </p:nvGrpSpPr>
      <p:grpSpPr>
        <a:xfrm>
          <a:off x="0" y="0"/>
          <a:ext cx="0" cy="0"/>
          <a:chOff x="0" y="0"/>
          <a:chExt cx="0" cy="0"/>
        </a:xfrm>
      </p:grpSpPr>
      <p:sp>
        <p:nvSpPr>
          <p:cNvPr name="Freeform 2" id="2"/>
          <p:cNvSpPr/>
          <p:nvPr/>
        </p:nvSpPr>
        <p:spPr>
          <a:xfrm flipH="false" flipV="false" rot="0">
            <a:off x="11222460" y="-658166"/>
            <a:ext cx="6794492" cy="11825856"/>
          </a:xfrm>
          <a:custGeom>
            <a:avLst/>
            <a:gdLst/>
            <a:ahLst/>
            <a:cxnLst/>
            <a:rect r="r" b="b" t="t" l="l"/>
            <a:pathLst>
              <a:path h="11825856" w="6794492">
                <a:moveTo>
                  <a:pt x="0" y="0"/>
                </a:moveTo>
                <a:lnTo>
                  <a:pt x="6794492" y="0"/>
                </a:lnTo>
                <a:lnTo>
                  <a:pt x="6794492" y="11825856"/>
                </a:lnTo>
                <a:lnTo>
                  <a:pt x="0" y="11825856"/>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134000" y="5936248"/>
            <a:ext cx="7154000" cy="4628407"/>
          </a:xfrm>
          <a:custGeom>
            <a:avLst/>
            <a:gdLst/>
            <a:ahLst/>
            <a:cxnLst/>
            <a:rect r="r" b="b" t="t" l="l"/>
            <a:pathLst>
              <a:path h="4628407" w="7154000">
                <a:moveTo>
                  <a:pt x="0" y="0"/>
                </a:moveTo>
                <a:lnTo>
                  <a:pt x="7154000" y="0"/>
                </a:lnTo>
                <a:lnTo>
                  <a:pt x="7154000" y="4628407"/>
                </a:lnTo>
                <a:lnTo>
                  <a:pt x="0" y="46284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459284" y="1123950"/>
            <a:ext cx="2552006" cy="666770"/>
          </a:xfrm>
          <a:prstGeom prst="rect">
            <a:avLst/>
          </a:prstGeom>
        </p:spPr>
        <p:txBody>
          <a:bodyPr anchor="t" rtlCol="false" tIns="0" lIns="0" bIns="0" rIns="0">
            <a:spAutoFit/>
          </a:bodyPr>
          <a:lstStyle/>
          <a:p>
            <a:pPr algn="ctr">
              <a:lnSpc>
                <a:spcPts val="4800"/>
              </a:lnSpc>
            </a:pPr>
            <a:r>
              <a:rPr lang="en-US" sz="5000">
                <a:solidFill>
                  <a:srgbClr val="7D4C3D"/>
                </a:solidFill>
                <a:latin typeface="Bobby Jones"/>
                <a:ea typeface="Bobby Jones"/>
                <a:cs typeface="Bobby Jones"/>
                <a:sym typeface="Bobby Jones"/>
              </a:rPr>
              <a:t>Question</a:t>
            </a:r>
          </a:p>
        </p:txBody>
      </p:sp>
      <p:sp>
        <p:nvSpPr>
          <p:cNvPr name="TextBox 5" id="5"/>
          <p:cNvSpPr txBox="true"/>
          <p:nvPr/>
        </p:nvSpPr>
        <p:spPr>
          <a:xfrm rot="0">
            <a:off x="2459284" y="1701655"/>
            <a:ext cx="7274798" cy="1419225"/>
          </a:xfrm>
          <a:prstGeom prst="rect">
            <a:avLst/>
          </a:prstGeom>
        </p:spPr>
        <p:txBody>
          <a:bodyPr anchor="t" rtlCol="false" tIns="0" lIns="0" bIns="0" rIns="0">
            <a:spAutoFit/>
          </a:bodyPr>
          <a:lstStyle/>
          <a:p>
            <a:pPr algn="l" marL="0" indent="0" lvl="0">
              <a:lnSpc>
                <a:spcPts val="3555"/>
              </a:lnSpc>
              <a:spcBef>
                <a:spcPct val="0"/>
              </a:spcBef>
            </a:pPr>
            <a:r>
              <a:rPr lang="en-US" sz="2962" spc="59" strike="noStrike" u="none">
                <a:solidFill>
                  <a:srgbClr val="7D4C3D"/>
                </a:solidFill>
                <a:latin typeface="Jua"/>
                <a:ea typeface="Jua"/>
                <a:cs typeface="Jua"/>
                <a:sym typeface="Jua"/>
              </a:rPr>
              <a:t>Do customers spend differently based on:</a:t>
            </a:r>
          </a:p>
          <a:p>
            <a:pPr algn="l" marL="0" indent="0" lvl="0">
              <a:lnSpc>
                <a:spcPts val="3555"/>
              </a:lnSpc>
              <a:spcBef>
                <a:spcPct val="0"/>
              </a:spcBef>
            </a:pPr>
            <a:r>
              <a:rPr lang="en-US" sz="2962" spc="59" strike="noStrike" u="none">
                <a:solidFill>
                  <a:srgbClr val="7D4C3D"/>
                </a:solidFill>
                <a:latin typeface="Jua"/>
                <a:ea typeface="Jua"/>
                <a:cs typeface="Jua"/>
                <a:sym typeface="Jua"/>
              </a:rPr>
              <a:t>Order Channel - (Mobile vs Non - Mobile)?</a:t>
            </a:r>
          </a:p>
          <a:p>
            <a:pPr algn="l" marL="0" indent="0" lvl="0">
              <a:lnSpc>
                <a:spcPts val="3555"/>
              </a:lnSpc>
              <a:spcBef>
                <a:spcPct val="0"/>
              </a:spcBef>
            </a:pPr>
            <a:r>
              <a:rPr lang="en-US" sz="2962" spc="59" strike="noStrike" u="none">
                <a:solidFill>
                  <a:srgbClr val="7D4C3D"/>
                </a:solidFill>
                <a:latin typeface="Jua"/>
                <a:ea typeface="Jua"/>
                <a:cs typeface="Jua"/>
                <a:sym typeface="Jua"/>
              </a:rPr>
              <a:t>Rewards Membership - (Yes vs No)?</a:t>
            </a:r>
          </a:p>
        </p:txBody>
      </p:sp>
      <p:sp>
        <p:nvSpPr>
          <p:cNvPr name="TextBox 6" id="6"/>
          <p:cNvSpPr txBox="true"/>
          <p:nvPr/>
        </p:nvSpPr>
        <p:spPr>
          <a:xfrm rot="0">
            <a:off x="2459284" y="3435205"/>
            <a:ext cx="5470525" cy="666770"/>
          </a:xfrm>
          <a:prstGeom prst="rect">
            <a:avLst/>
          </a:prstGeom>
        </p:spPr>
        <p:txBody>
          <a:bodyPr anchor="t" rtlCol="false" tIns="0" lIns="0" bIns="0" rIns="0">
            <a:spAutoFit/>
          </a:bodyPr>
          <a:lstStyle/>
          <a:p>
            <a:pPr algn="ctr" marL="0" indent="0" lvl="0">
              <a:lnSpc>
                <a:spcPts val="4800"/>
              </a:lnSpc>
              <a:spcBef>
                <a:spcPct val="0"/>
              </a:spcBef>
            </a:pPr>
            <a:r>
              <a:rPr lang="en-US" sz="5000" strike="noStrike" u="none">
                <a:solidFill>
                  <a:srgbClr val="7D4C3D"/>
                </a:solidFill>
                <a:latin typeface="Bobby Jones"/>
                <a:ea typeface="Bobby Jones"/>
                <a:cs typeface="Bobby Jones"/>
                <a:sym typeface="Bobby Jones"/>
              </a:rPr>
              <a:t>Why are we using it?</a:t>
            </a:r>
          </a:p>
        </p:txBody>
      </p:sp>
      <p:sp>
        <p:nvSpPr>
          <p:cNvPr name="TextBox 7" id="7"/>
          <p:cNvSpPr txBox="true"/>
          <p:nvPr/>
        </p:nvSpPr>
        <p:spPr>
          <a:xfrm rot="0">
            <a:off x="2459284" y="4092267"/>
            <a:ext cx="12534405" cy="971550"/>
          </a:xfrm>
          <a:prstGeom prst="rect">
            <a:avLst/>
          </a:prstGeom>
        </p:spPr>
        <p:txBody>
          <a:bodyPr anchor="t" rtlCol="false" tIns="0" lIns="0" bIns="0" rIns="0">
            <a:spAutoFit/>
          </a:bodyPr>
          <a:lstStyle/>
          <a:p>
            <a:pPr algn="l" marL="0" indent="0" lvl="0">
              <a:lnSpc>
                <a:spcPts val="3555"/>
              </a:lnSpc>
              <a:spcBef>
                <a:spcPct val="0"/>
              </a:spcBef>
            </a:pPr>
            <a:r>
              <a:rPr lang="en-US" sz="2962" spc="59" strike="noStrike" u="none">
                <a:solidFill>
                  <a:srgbClr val="7D4C3D"/>
                </a:solidFill>
                <a:latin typeface="Jua"/>
                <a:ea typeface="Jua"/>
                <a:cs typeface="Jua"/>
                <a:sym typeface="Jua"/>
              </a:rPr>
              <a:t>To validate if observed differences in spending are statistically significant</a:t>
            </a:r>
          </a:p>
          <a:p>
            <a:pPr algn="l" marL="0" indent="0" lvl="0">
              <a:lnSpc>
                <a:spcPts val="3555"/>
              </a:lnSpc>
              <a:spcBef>
                <a:spcPct val="0"/>
              </a:spcBef>
            </a:pPr>
            <a:r>
              <a:rPr lang="en-US" sz="2962" spc="59" strike="noStrike" u="none">
                <a:solidFill>
                  <a:srgbClr val="7D4C3D"/>
                </a:solidFill>
                <a:latin typeface="Jua"/>
                <a:ea typeface="Jua"/>
                <a:cs typeface="Jua"/>
                <a:sym typeface="Jua"/>
              </a:rPr>
              <a:t>Not just based on averages, but mathematically proven</a:t>
            </a:r>
          </a:p>
        </p:txBody>
      </p:sp>
      <p:sp>
        <p:nvSpPr>
          <p:cNvPr name="TextBox 8" id="8"/>
          <p:cNvSpPr txBox="true"/>
          <p:nvPr/>
        </p:nvSpPr>
        <p:spPr>
          <a:xfrm rot="0">
            <a:off x="2459284" y="5860048"/>
            <a:ext cx="8727970" cy="1419225"/>
          </a:xfrm>
          <a:prstGeom prst="rect">
            <a:avLst/>
          </a:prstGeom>
        </p:spPr>
        <p:txBody>
          <a:bodyPr anchor="t" rtlCol="false" tIns="0" lIns="0" bIns="0" rIns="0">
            <a:spAutoFit/>
          </a:bodyPr>
          <a:lstStyle/>
          <a:p>
            <a:pPr algn="l" marL="0" indent="0" lvl="0">
              <a:lnSpc>
                <a:spcPts val="3555"/>
              </a:lnSpc>
              <a:spcBef>
                <a:spcPct val="0"/>
              </a:spcBef>
            </a:pPr>
            <a:r>
              <a:rPr lang="en-US" sz="2962" spc="59" strike="noStrike" u="none">
                <a:solidFill>
                  <a:srgbClr val="7D4C3D"/>
                </a:solidFill>
                <a:latin typeface="Jua"/>
                <a:ea typeface="Jua"/>
                <a:cs typeface="Jua"/>
                <a:sym typeface="Jua"/>
              </a:rPr>
              <a:t>Mobile vs Non-Mobile And Rewards vs Non-Rewards</a:t>
            </a:r>
          </a:p>
          <a:p>
            <a:pPr algn="l" marL="0" indent="0" lvl="0">
              <a:lnSpc>
                <a:spcPts val="3555"/>
              </a:lnSpc>
              <a:spcBef>
                <a:spcPct val="0"/>
              </a:spcBef>
            </a:pPr>
            <a:r>
              <a:rPr lang="en-US" sz="2962" spc="59" strike="noStrike" u="none">
                <a:solidFill>
                  <a:srgbClr val="7D4C3D"/>
                </a:solidFill>
                <a:latin typeface="Jua"/>
                <a:ea typeface="Jua"/>
                <a:cs typeface="Jua"/>
                <a:sym typeface="Jua"/>
              </a:rPr>
              <a:t>H₀: μ₁ = μ₂</a:t>
            </a:r>
          </a:p>
          <a:p>
            <a:pPr algn="l" marL="0" indent="0" lvl="0">
              <a:lnSpc>
                <a:spcPts val="3555"/>
              </a:lnSpc>
              <a:spcBef>
                <a:spcPct val="0"/>
              </a:spcBef>
            </a:pPr>
            <a:r>
              <a:rPr lang="en-US" sz="2962" spc="59" strike="noStrike" u="none">
                <a:solidFill>
                  <a:srgbClr val="7D4C3D"/>
                </a:solidFill>
                <a:latin typeface="Jua"/>
                <a:ea typeface="Jua"/>
                <a:cs typeface="Jua"/>
                <a:sym typeface="Jua"/>
              </a:rPr>
              <a:t>Hₐ: μ₁ ≠ μ₂</a:t>
            </a:r>
          </a:p>
        </p:txBody>
      </p:sp>
      <p:sp>
        <p:nvSpPr>
          <p:cNvPr name="TextBox 9" id="9"/>
          <p:cNvSpPr txBox="true"/>
          <p:nvPr/>
        </p:nvSpPr>
        <p:spPr>
          <a:xfrm rot="0">
            <a:off x="2459284" y="5269477"/>
            <a:ext cx="5104011" cy="666770"/>
          </a:xfrm>
          <a:prstGeom prst="rect">
            <a:avLst/>
          </a:prstGeom>
        </p:spPr>
        <p:txBody>
          <a:bodyPr anchor="t" rtlCol="false" tIns="0" lIns="0" bIns="0" rIns="0">
            <a:spAutoFit/>
          </a:bodyPr>
          <a:lstStyle/>
          <a:p>
            <a:pPr algn="ctr" marL="0" indent="0" lvl="0">
              <a:lnSpc>
                <a:spcPts val="4800"/>
              </a:lnSpc>
              <a:spcBef>
                <a:spcPct val="0"/>
              </a:spcBef>
            </a:pPr>
            <a:r>
              <a:rPr lang="en-US" sz="5000" strike="noStrike" u="none">
                <a:solidFill>
                  <a:srgbClr val="7D4C3D"/>
                </a:solidFill>
                <a:latin typeface="Bobby Jones"/>
                <a:ea typeface="Bobby Jones"/>
                <a:cs typeface="Bobby Jones"/>
                <a:sym typeface="Bobby Jones"/>
              </a:rPr>
              <a:t>Define Hypotheses</a:t>
            </a:r>
          </a:p>
        </p:txBody>
      </p:sp>
      <p:sp>
        <p:nvSpPr>
          <p:cNvPr name="TextBox 10" id="10"/>
          <p:cNvSpPr txBox="true"/>
          <p:nvPr/>
        </p:nvSpPr>
        <p:spPr>
          <a:xfrm rot="0">
            <a:off x="2459284" y="7644929"/>
            <a:ext cx="2777133" cy="666770"/>
          </a:xfrm>
          <a:prstGeom prst="rect">
            <a:avLst/>
          </a:prstGeom>
        </p:spPr>
        <p:txBody>
          <a:bodyPr anchor="t" rtlCol="false" tIns="0" lIns="0" bIns="0" rIns="0">
            <a:spAutoFit/>
          </a:bodyPr>
          <a:lstStyle/>
          <a:p>
            <a:pPr algn="ctr" marL="0" indent="0" lvl="0">
              <a:lnSpc>
                <a:spcPts val="4800"/>
              </a:lnSpc>
              <a:spcBef>
                <a:spcPct val="0"/>
              </a:spcBef>
            </a:pPr>
            <a:r>
              <a:rPr lang="en-US" sz="5000">
                <a:solidFill>
                  <a:srgbClr val="7D4C3D"/>
                </a:solidFill>
                <a:latin typeface="Bobby Jones"/>
                <a:ea typeface="Bobby Jones"/>
                <a:cs typeface="Bobby Jones"/>
                <a:sym typeface="Bobby Jones"/>
              </a:rPr>
              <a:t>T</a:t>
            </a:r>
            <a:r>
              <a:rPr lang="en-US" sz="5000" strike="noStrike" u="none">
                <a:solidFill>
                  <a:srgbClr val="7D4C3D"/>
                </a:solidFill>
                <a:latin typeface="Bobby Jones"/>
                <a:ea typeface="Bobby Jones"/>
                <a:cs typeface="Bobby Jones"/>
                <a:sym typeface="Bobby Jones"/>
              </a:rPr>
              <a:t>est Used:</a:t>
            </a:r>
          </a:p>
        </p:txBody>
      </p:sp>
      <p:sp>
        <p:nvSpPr>
          <p:cNvPr name="TextBox 11" id="11"/>
          <p:cNvSpPr txBox="true"/>
          <p:nvPr/>
        </p:nvSpPr>
        <p:spPr>
          <a:xfrm rot="0">
            <a:off x="2459284" y="8286750"/>
            <a:ext cx="5428754" cy="971550"/>
          </a:xfrm>
          <a:prstGeom prst="rect">
            <a:avLst/>
          </a:prstGeom>
        </p:spPr>
        <p:txBody>
          <a:bodyPr anchor="t" rtlCol="false" tIns="0" lIns="0" bIns="0" rIns="0">
            <a:spAutoFit/>
          </a:bodyPr>
          <a:lstStyle/>
          <a:p>
            <a:pPr algn="l" marL="0" indent="0" lvl="0">
              <a:lnSpc>
                <a:spcPts val="3555"/>
              </a:lnSpc>
              <a:spcBef>
                <a:spcPct val="0"/>
              </a:spcBef>
            </a:pPr>
            <a:r>
              <a:rPr lang="en-US" sz="2962" spc="59" strike="noStrike" u="none">
                <a:solidFill>
                  <a:srgbClr val="7D4C3D"/>
                </a:solidFill>
                <a:latin typeface="Jua"/>
                <a:ea typeface="Jua"/>
                <a:cs typeface="Jua"/>
                <a:sym typeface="Jua"/>
              </a:rPr>
              <a:t>Independent Two-Sample t-test</a:t>
            </a:r>
          </a:p>
          <a:p>
            <a:pPr algn="l" marL="0" indent="0" lvl="0">
              <a:lnSpc>
                <a:spcPts val="3555"/>
              </a:lnSpc>
              <a:spcBef>
                <a:spcPct val="0"/>
              </a:spcBef>
            </a:pPr>
            <a:r>
              <a:rPr lang="en-US" sz="2962" spc="59" strike="noStrike" u="none">
                <a:solidFill>
                  <a:srgbClr val="7D4C3D"/>
                </a:solidFill>
                <a:latin typeface="Jua"/>
                <a:ea typeface="Jua"/>
                <a:cs typeface="Jua"/>
                <a:sym typeface="Jua"/>
              </a:rPr>
              <a:t>α = 0.05</a:t>
            </a:r>
          </a:p>
        </p:txBody>
      </p:sp>
      <p:sp>
        <p:nvSpPr>
          <p:cNvPr name="Freeform 12" id="12"/>
          <p:cNvSpPr/>
          <p:nvPr/>
        </p:nvSpPr>
        <p:spPr>
          <a:xfrm flipH="false" flipV="false" rot="0">
            <a:off x="346318" y="0"/>
            <a:ext cx="1364764" cy="1705955"/>
          </a:xfrm>
          <a:custGeom>
            <a:avLst/>
            <a:gdLst/>
            <a:ahLst/>
            <a:cxnLst/>
            <a:rect r="r" b="b" t="t" l="l"/>
            <a:pathLst>
              <a:path h="1705955" w="1364764">
                <a:moveTo>
                  <a:pt x="0" y="0"/>
                </a:moveTo>
                <a:lnTo>
                  <a:pt x="1364764" y="0"/>
                </a:lnTo>
                <a:lnTo>
                  <a:pt x="1364764" y="1705955"/>
                </a:lnTo>
                <a:lnTo>
                  <a:pt x="0" y="1705955"/>
                </a:lnTo>
                <a:lnTo>
                  <a:pt x="0" y="0"/>
                </a:lnTo>
                <a:close/>
              </a:path>
            </a:pathLst>
          </a:custGeom>
          <a:blipFill>
            <a:blip r:embed="rId6"/>
            <a:stretch>
              <a:fillRect l="-12500" t="0" r="-12500" b="0"/>
            </a:stretch>
          </a:blipFill>
        </p:spPr>
      </p:sp>
      <p:sp>
        <p:nvSpPr>
          <p:cNvPr name="TextBox 13" id="13"/>
          <p:cNvSpPr txBox="true"/>
          <p:nvPr/>
        </p:nvSpPr>
        <p:spPr>
          <a:xfrm rot="0">
            <a:off x="504110" y="1263151"/>
            <a:ext cx="1049179" cy="249093"/>
          </a:xfrm>
          <a:prstGeom prst="rect">
            <a:avLst/>
          </a:prstGeom>
        </p:spPr>
        <p:txBody>
          <a:bodyPr anchor="t" rtlCol="false" tIns="0" lIns="0" bIns="0" rIns="0">
            <a:spAutoFit/>
          </a:bodyPr>
          <a:lstStyle/>
          <a:p>
            <a:pPr algn="ctr">
              <a:lnSpc>
                <a:spcPts val="1945"/>
              </a:lnSpc>
            </a:pPr>
            <a:r>
              <a:rPr lang="en-US" sz="1389">
                <a:solidFill>
                  <a:srgbClr val="FAF8ED"/>
                </a:solidFill>
                <a:latin typeface="Yeseva One"/>
                <a:ea typeface="Yeseva One"/>
                <a:cs typeface="Yeseva One"/>
                <a:sym typeface="Yeseva One"/>
              </a:rPr>
              <a:t>Starbucks</a:t>
            </a:r>
          </a:p>
        </p:txBody>
      </p:sp>
    </p:spTree>
  </p:cSld>
  <p:clrMapOvr>
    <a:masterClrMapping/>
  </p:clrMapOvr>
  <p:transition spd="fast">
    <p:wipe dir="l"/>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DBCBBB"/>
        </a:solidFill>
      </p:bgPr>
    </p:bg>
    <p:spTree>
      <p:nvGrpSpPr>
        <p:cNvPr id="1" name=""/>
        <p:cNvGrpSpPr/>
        <p:nvPr/>
      </p:nvGrpSpPr>
      <p:grpSpPr>
        <a:xfrm>
          <a:off x="0" y="0"/>
          <a:ext cx="0" cy="0"/>
          <a:chOff x="0" y="0"/>
          <a:chExt cx="0" cy="0"/>
        </a:xfrm>
      </p:grpSpPr>
      <p:sp>
        <p:nvSpPr>
          <p:cNvPr name="Freeform 2" id="2"/>
          <p:cNvSpPr/>
          <p:nvPr/>
        </p:nvSpPr>
        <p:spPr>
          <a:xfrm flipH="false" flipV="false" rot="0">
            <a:off x="-3194778" y="2260162"/>
            <a:ext cx="6794492" cy="11825856"/>
          </a:xfrm>
          <a:custGeom>
            <a:avLst/>
            <a:gdLst/>
            <a:ahLst/>
            <a:cxnLst/>
            <a:rect r="r" b="b" t="t" l="l"/>
            <a:pathLst>
              <a:path h="11825856" w="6794492">
                <a:moveTo>
                  <a:pt x="0" y="0"/>
                </a:moveTo>
                <a:lnTo>
                  <a:pt x="6794492" y="0"/>
                </a:lnTo>
                <a:lnTo>
                  <a:pt x="6794492" y="11825856"/>
                </a:lnTo>
                <a:lnTo>
                  <a:pt x="0" y="11825856"/>
                </a:lnTo>
                <a:lnTo>
                  <a:pt x="0" y="0"/>
                </a:lnTo>
                <a:close/>
              </a:path>
            </a:pathLst>
          </a:custGeom>
          <a:blipFill>
            <a:blip r:embed="rId2">
              <a:alphaModFix amt="3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559767" y="1504061"/>
            <a:ext cx="11168466" cy="1053479"/>
          </a:xfrm>
          <a:prstGeom prst="rect">
            <a:avLst/>
          </a:prstGeom>
        </p:spPr>
        <p:txBody>
          <a:bodyPr anchor="t" rtlCol="false" tIns="0" lIns="0" bIns="0" rIns="0">
            <a:spAutoFit/>
          </a:bodyPr>
          <a:lstStyle/>
          <a:p>
            <a:pPr algn="l">
              <a:lnSpc>
                <a:spcPts val="7680"/>
              </a:lnSpc>
            </a:pPr>
            <a:r>
              <a:rPr lang="en-US" sz="8000">
                <a:solidFill>
                  <a:srgbClr val="7D4C3D"/>
                </a:solidFill>
                <a:latin typeface="Bobby Jones"/>
                <a:ea typeface="Bobby Jones"/>
                <a:cs typeface="Bobby Jones"/>
                <a:sym typeface="Bobby Jones"/>
              </a:rPr>
              <a:t>Results &amp; Interpretation</a:t>
            </a:r>
          </a:p>
        </p:txBody>
      </p:sp>
      <p:sp>
        <p:nvSpPr>
          <p:cNvPr name="TextBox 4" id="4"/>
          <p:cNvSpPr txBox="true"/>
          <p:nvPr/>
        </p:nvSpPr>
        <p:spPr>
          <a:xfrm rot="0">
            <a:off x="12371213" y="3816019"/>
            <a:ext cx="4310257" cy="4515555"/>
          </a:xfrm>
          <a:prstGeom prst="rect">
            <a:avLst/>
          </a:prstGeom>
        </p:spPr>
        <p:txBody>
          <a:bodyPr anchor="t" rtlCol="false" tIns="0" lIns="0" bIns="0" rIns="0">
            <a:spAutoFit/>
          </a:bodyPr>
          <a:lstStyle/>
          <a:p>
            <a:pPr algn="l">
              <a:lnSpc>
                <a:spcPts val="3555"/>
              </a:lnSpc>
            </a:pPr>
            <a:r>
              <a:rPr lang="en-US" sz="2962" spc="59">
                <a:solidFill>
                  <a:srgbClr val="7D4C3D"/>
                </a:solidFill>
                <a:latin typeface="Jua"/>
                <a:ea typeface="Jua"/>
                <a:cs typeface="Jua"/>
                <a:sym typeface="Jua"/>
              </a:rPr>
              <a:t>Rewards vs Non-Rewards</a:t>
            </a:r>
          </a:p>
          <a:p>
            <a:pPr algn="l">
              <a:lnSpc>
                <a:spcPts val="3555"/>
              </a:lnSpc>
            </a:pPr>
            <a:r>
              <a:rPr lang="en-US" sz="2962" spc="59">
                <a:solidFill>
                  <a:srgbClr val="7D4C3D"/>
                </a:solidFill>
                <a:latin typeface="Jua"/>
                <a:ea typeface="Jua"/>
                <a:cs typeface="Jua"/>
                <a:sym typeface="Jua"/>
              </a:rPr>
              <a:t>Mean: 15.72 vs 14.09</a:t>
            </a:r>
          </a:p>
          <a:p>
            <a:pPr algn="l">
              <a:lnSpc>
                <a:spcPts val="3555"/>
              </a:lnSpc>
            </a:pPr>
            <a:r>
              <a:rPr lang="en-US" sz="2962" spc="59">
                <a:solidFill>
                  <a:srgbClr val="7D4C3D"/>
                </a:solidFill>
                <a:latin typeface="Jua"/>
                <a:ea typeface="Jua"/>
                <a:cs typeface="Jua"/>
                <a:sym typeface="Jua"/>
              </a:rPr>
              <a:t>t = 47.08</a:t>
            </a:r>
          </a:p>
          <a:p>
            <a:pPr algn="l">
              <a:lnSpc>
                <a:spcPts val="3555"/>
              </a:lnSpc>
            </a:pPr>
            <a:r>
              <a:rPr lang="en-US" sz="2962" spc="59">
                <a:solidFill>
                  <a:srgbClr val="7D4C3D"/>
                </a:solidFill>
                <a:latin typeface="Jua"/>
                <a:ea typeface="Jua"/>
                <a:cs typeface="Jua"/>
                <a:sym typeface="Jua"/>
              </a:rPr>
              <a:t>p-value &lt; 0.0001</a:t>
            </a:r>
          </a:p>
          <a:p>
            <a:pPr algn="l">
              <a:lnSpc>
                <a:spcPts val="3555"/>
              </a:lnSpc>
            </a:pPr>
          </a:p>
          <a:p>
            <a:pPr algn="l">
              <a:lnSpc>
                <a:spcPts val="3555"/>
              </a:lnSpc>
            </a:pPr>
            <a:r>
              <a:rPr lang="en-US" sz="2962" spc="59">
                <a:solidFill>
                  <a:srgbClr val="7D4C3D"/>
                </a:solidFill>
                <a:latin typeface="Jua"/>
                <a:ea typeface="Jua"/>
                <a:cs typeface="Jua"/>
                <a:sym typeface="Jua"/>
              </a:rPr>
              <a:t>Reject H₀</a:t>
            </a:r>
          </a:p>
          <a:p>
            <a:pPr algn="l">
              <a:lnSpc>
                <a:spcPts val="3555"/>
              </a:lnSpc>
            </a:pPr>
            <a:r>
              <a:rPr lang="en-US" sz="2962" spc="59">
                <a:solidFill>
                  <a:srgbClr val="7D4C3D"/>
                </a:solidFill>
                <a:latin typeface="Jua"/>
                <a:ea typeface="Jua"/>
                <a:cs typeface="Jua"/>
                <a:sym typeface="Jua"/>
              </a:rPr>
              <a:t>(Null Hypothesis)</a:t>
            </a:r>
          </a:p>
          <a:p>
            <a:pPr algn="l">
              <a:lnSpc>
                <a:spcPts val="3555"/>
              </a:lnSpc>
            </a:pPr>
          </a:p>
          <a:p>
            <a:pPr algn="l">
              <a:lnSpc>
                <a:spcPts val="3555"/>
              </a:lnSpc>
            </a:pPr>
            <a:r>
              <a:rPr lang="en-US" sz="2962" spc="59">
                <a:solidFill>
                  <a:srgbClr val="7D4C3D"/>
                </a:solidFill>
                <a:latin typeface="Jua"/>
                <a:ea typeface="Jua"/>
                <a:cs typeface="Jua"/>
                <a:sym typeface="Jua"/>
              </a:rPr>
              <a:t>Rewards members spend more</a:t>
            </a:r>
          </a:p>
        </p:txBody>
      </p:sp>
      <p:sp>
        <p:nvSpPr>
          <p:cNvPr name="Freeform 5" id="5"/>
          <p:cNvSpPr/>
          <p:nvPr/>
        </p:nvSpPr>
        <p:spPr>
          <a:xfrm flipH="false" flipV="false" rot="0">
            <a:off x="7806425" y="3429766"/>
            <a:ext cx="2675150" cy="4953981"/>
          </a:xfrm>
          <a:custGeom>
            <a:avLst/>
            <a:gdLst/>
            <a:ahLst/>
            <a:cxnLst/>
            <a:rect r="r" b="b" t="t" l="l"/>
            <a:pathLst>
              <a:path h="4953981" w="2675150">
                <a:moveTo>
                  <a:pt x="0" y="0"/>
                </a:moveTo>
                <a:lnTo>
                  <a:pt x="2675150" y="0"/>
                </a:lnTo>
                <a:lnTo>
                  <a:pt x="2675150" y="4953981"/>
                </a:lnTo>
                <a:lnTo>
                  <a:pt x="0" y="4953981"/>
                </a:lnTo>
                <a:lnTo>
                  <a:pt x="0" y="0"/>
                </a:lnTo>
                <a:close/>
              </a:path>
            </a:pathLst>
          </a:custGeom>
          <a:blipFill>
            <a:blip r:embed="rId4"/>
            <a:stretch>
              <a:fillRect l="0" t="0" r="0" b="0"/>
            </a:stretch>
          </a:blipFill>
        </p:spPr>
      </p:sp>
      <p:sp>
        <p:nvSpPr>
          <p:cNvPr name="TextBox 6" id="6"/>
          <p:cNvSpPr txBox="true"/>
          <p:nvPr/>
        </p:nvSpPr>
        <p:spPr>
          <a:xfrm rot="0">
            <a:off x="2907520" y="3816019"/>
            <a:ext cx="4060031" cy="4552950"/>
          </a:xfrm>
          <a:prstGeom prst="rect">
            <a:avLst/>
          </a:prstGeom>
        </p:spPr>
        <p:txBody>
          <a:bodyPr anchor="t" rtlCol="false" tIns="0" lIns="0" bIns="0" rIns="0">
            <a:spAutoFit/>
          </a:bodyPr>
          <a:lstStyle/>
          <a:p>
            <a:pPr algn="l" marL="0" indent="0" lvl="0">
              <a:lnSpc>
                <a:spcPts val="3555"/>
              </a:lnSpc>
              <a:spcBef>
                <a:spcPct val="0"/>
              </a:spcBef>
            </a:pPr>
            <a:r>
              <a:rPr lang="en-US" sz="2962" spc="59" strike="noStrike" u="none">
                <a:solidFill>
                  <a:srgbClr val="7D4C3D"/>
                </a:solidFill>
                <a:latin typeface="Jua"/>
                <a:ea typeface="Jua"/>
                <a:cs typeface="Jua"/>
                <a:sym typeface="Jua"/>
              </a:rPr>
              <a:t>Mobile vs Non-Mobile</a:t>
            </a:r>
          </a:p>
          <a:p>
            <a:pPr algn="l" marL="0" indent="0" lvl="0">
              <a:lnSpc>
                <a:spcPts val="3555"/>
              </a:lnSpc>
              <a:spcBef>
                <a:spcPct val="0"/>
              </a:spcBef>
            </a:pPr>
            <a:r>
              <a:rPr lang="en-US" sz="2962" spc="59" strike="noStrike" u="none">
                <a:solidFill>
                  <a:srgbClr val="7D4C3D"/>
                </a:solidFill>
                <a:latin typeface="Jua"/>
                <a:ea typeface="Jua"/>
                <a:cs typeface="Jua"/>
                <a:sym typeface="Jua"/>
              </a:rPr>
              <a:t>Mean: 18.08 vs 12.49</a:t>
            </a:r>
          </a:p>
          <a:p>
            <a:pPr algn="l" marL="0" indent="0" lvl="0">
              <a:lnSpc>
                <a:spcPts val="3555"/>
              </a:lnSpc>
              <a:spcBef>
                <a:spcPct val="0"/>
              </a:spcBef>
            </a:pPr>
            <a:r>
              <a:rPr lang="en-US" sz="2962" spc="59" strike="noStrike" u="none">
                <a:solidFill>
                  <a:srgbClr val="7D4C3D"/>
                </a:solidFill>
                <a:latin typeface="Jua"/>
                <a:ea typeface="Jua"/>
                <a:cs typeface="Jua"/>
                <a:sym typeface="Jua"/>
              </a:rPr>
              <a:t>t = 175.91</a:t>
            </a:r>
          </a:p>
          <a:p>
            <a:pPr algn="l" marL="0" indent="0" lvl="0">
              <a:lnSpc>
                <a:spcPts val="3555"/>
              </a:lnSpc>
              <a:spcBef>
                <a:spcPct val="0"/>
              </a:spcBef>
            </a:pPr>
            <a:r>
              <a:rPr lang="en-US" sz="2962" spc="59" strike="noStrike" u="none">
                <a:solidFill>
                  <a:srgbClr val="7D4C3D"/>
                </a:solidFill>
                <a:latin typeface="Jua"/>
                <a:ea typeface="Jua"/>
                <a:cs typeface="Jua"/>
                <a:sym typeface="Jua"/>
              </a:rPr>
              <a:t>p-value &lt; 0.0001</a:t>
            </a:r>
          </a:p>
          <a:p>
            <a:pPr algn="l" marL="0" indent="0" lvl="0">
              <a:lnSpc>
                <a:spcPts val="3555"/>
              </a:lnSpc>
              <a:spcBef>
                <a:spcPct val="0"/>
              </a:spcBef>
            </a:pPr>
          </a:p>
          <a:p>
            <a:pPr algn="l" marL="0" indent="0" lvl="0">
              <a:lnSpc>
                <a:spcPts val="3555"/>
              </a:lnSpc>
              <a:spcBef>
                <a:spcPct val="0"/>
              </a:spcBef>
            </a:pPr>
            <a:r>
              <a:rPr lang="en-US" sz="2962" spc="59" strike="noStrike" u="none">
                <a:solidFill>
                  <a:srgbClr val="7D4C3D"/>
                </a:solidFill>
                <a:latin typeface="Jua"/>
                <a:ea typeface="Jua"/>
                <a:cs typeface="Jua"/>
                <a:sym typeface="Jua"/>
              </a:rPr>
              <a:t>Reject H₀</a:t>
            </a:r>
          </a:p>
          <a:p>
            <a:pPr algn="l" marL="0" indent="0" lvl="0">
              <a:lnSpc>
                <a:spcPts val="3555"/>
              </a:lnSpc>
              <a:spcBef>
                <a:spcPct val="0"/>
              </a:spcBef>
            </a:pPr>
            <a:r>
              <a:rPr lang="en-US" sz="2962" spc="59" strike="noStrike" u="none">
                <a:solidFill>
                  <a:srgbClr val="7D4C3D"/>
                </a:solidFill>
                <a:latin typeface="Jua"/>
                <a:ea typeface="Jua"/>
                <a:cs typeface="Jua"/>
                <a:sym typeface="Jua"/>
              </a:rPr>
              <a:t>(Null Hypothesis)</a:t>
            </a:r>
          </a:p>
          <a:p>
            <a:pPr algn="l" marL="0" indent="0" lvl="0">
              <a:lnSpc>
                <a:spcPts val="3555"/>
              </a:lnSpc>
              <a:spcBef>
                <a:spcPct val="0"/>
              </a:spcBef>
            </a:pPr>
          </a:p>
          <a:p>
            <a:pPr algn="l" marL="0" indent="0" lvl="0">
              <a:lnSpc>
                <a:spcPts val="3555"/>
              </a:lnSpc>
              <a:spcBef>
                <a:spcPct val="0"/>
              </a:spcBef>
            </a:pPr>
            <a:r>
              <a:rPr lang="en-US" sz="2962" spc="59" strike="noStrike" u="none">
                <a:solidFill>
                  <a:srgbClr val="7D4C3D"/>
                </a:solidFill>
                <a:latin typeface="Jua"/>
                <a:ea typeface="Jua"/>
                <a:cs typeface="Jua"/>
                <a:sym typeface="Jua"/>
              </a:rPr>
              <a:t>Mobile users spend more</a:t>
            </a:r>
          </a:p>
          <a:p>
            <a:pPr algn="l" marL="0" indent="0" lvl="0">
              <a:lnSpc>
                <a:spcPts val="3555"/>
              </a:lnSpc>
              <a:spcBef>
                <a:spcPct val="0"/>
              </a:spcBef>
            </a:pPr>
          </a:p>
        </p:txBody>
      </p:sp>
      <p:sp>
        <p:nvSpPr>
          <p:cNvPr name="TextBox 7" id="7"/>
          <p:cNvSpPr txBox="true"/>
          <p:nvPr/>
        </p:nvSpPr>
        <p:spPr>
          <a:xfrm rot="0">
            <a:off x="5801469" y="8634884"/>
            <a:ext cx="6685062" cy="523875"/>
          </a:xfrm>
          <a:prstGeom prst="rect">
            <a:avLst/>
          </a:prstGeom>
        </p:spPr>
        <p:txBody>
          <a:bodyPr anchor="t" rtlCol="false" tIns="0" lIns="0" bIns="0" rIns="0">
            <a:spAutoFit/>
          </a:bodyPr>
          <a:lstStyle/>
          <a:p>
            <a:pPr algn="l" marL="0" indent="0" lvl="0">
              <a:lnSpc>
                <a:spcPts val="3555"/>
              </a:lnSpc>
              <a:spcBef>
                <a:spcPct val="0"/>
              </a:spcBef>
            </a:pPr>
            <a:r>
              <a:rPr lang="en-US" sz="2962" spc="59" strike="noStrike" u="none">
                <a:solidFill>
                  <a:srgbClr val="7D4C3D"/>
                </a:solidFill>
                <a:latin typeface="Jua"/>
                <a:ea typeface="Jua"/>
                <a:cs typeface="Jua"/>
                <a:sym typeface="Jua"/>
              </a:rPr>
              <a:t>Differences are statistically significant</a:t>
            </a:r>
          </a:p>
        </p:txBody>
      </p:sp>
      <p:sp>
        <p:nvSpPr>
          <p:cNvPr name="Freeform 8" id="8"/>
          <p:cNvSpPr/>
          <p:nvPr/>
        </p:nvSpPr>
        <p:spPr>
          <a:xfrm flipH="false" flipV="false" rot="0">
            <a:off x="346318" y="0"/>
            <a:ext cx="1364764" cy="1705955"/>
          </a:xfrm>
          <a:custGeom>
            <a:avLst/>
            <a:gdLst/>
            <a:ahLst/>
            <a:cxnLst/>
            <a:rect r="r" b="b" t="t" l="l"/>
            <a:pathLst>
              <a:path h="1705955" w="1364764">
                <a:moveTo>
                  <a:pt x="0" y="0"/>
                </a:moveTo>
                <a:lnTo>
                  <a:pt x="1364764" y="0"/>
                </a:lnTo>
                <a:lnTo>
                  <a:pt x="1364764" y="1705955"/>
                </a:lnTo>
                <a:lnTo>
                  <a:pt x="0" y="1705955"/>
                </a:lnTo>
                <a:lnTo>
                  <a:pt x="0" y="0"/>
                </a:lnTo>
                <a:close/>
              </a:path>
            </a:pathLst>
          </a:custGeom>
          <a:blipFill>
            <a:blip r:embed="rId5"/>
            <a:stretch>
              <a:fillRect l="-12500" t="0" r="-12500" b="0"/>
            </a:stretch>
          </a:blipFill>
        </p:spPr>
      </p:sp>
      <p:sp>
        <p:nvSpPr>
          <p:cNvPr name="TextBox 9" id="9"/>
          <p:cNvSpPr txBox="true"/>
          <p:nvPr/>
        </p:nvSpPr>
        <p:spPr>
          <a:xfrm rot="0">
            <a:off x="504110" y="1263151"/>
            <a:ext cx="1049179" cy="249093"/>
          </a:xfrm>
          <a:prstGeom prst="rect">
            <a:avLst/>
          </a:prstGeom>
        </p:spPr>
        <p:txBody>
          <a:bodyPr anchor="t" rtlCol="false" tIns="0" lIns="0" bIns="0" rIns="0">
            <a:spAutoFit/>
          </a:bodyPr>
          <a:lstStyle/>
          <a:p>
            <a:pPr algn="ctr">
              <a:lnSpc>
                <a:spcPts val="1945"/>
              </a:lnSpc>
            </a:pPr>
            <a:r>
              <a:rPr lang="en-US" sz="1389">
                <a:solidFill>
                  <a:srgbClr val="FAF8ED"/>
                </a:solidFill>
                <a:latin typeface="Yeseva One"/>
                <a:ea typeface="Yeseva One"/>
                <a:cs typeface="Yeseva One"/>
                <a:sym typeface="Yeseva One"/>
              </a:rPr>
              <a:t>Starbucks</a:t>
            </a:r>
          </a:p>
        </p:txBody>
      </p:sp>
    </p:spTree>
  </p:cSld>
  <p:clrMapOvr>
    <a:masterClrMapping/>
  </p:clrMapOvr>
  <p:transition spd="fast">
    <p:wipe dir="l"/>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DBCBBB"/>
        </a:solidFill>
      </p:bgPr>
    </p:bg>
    <p:spTree>
      <p:nvGrpSpPr>
        <p:cNvPr id="1" name=""/>
        <p:cNvGrpSpPr/>
        <p:nvPr/>
      </p:nvGrpSpPr>
      <p:grpSpPr>
        <a:xfrm>
          <a:off x="0" y="0"/>
          <a:ext cx="0" cy="0"/>
          <a:chOff x="0" y="0"/>
          <a:chExt cx="0" cy="0"/>
        </a:xfrm>
      </p:grpSpPr>
      <p:sp>
        <p:nvSpPr>
          <p:cNvPr name="Freeform 2" id="2"/>
          <p:cNvSpPr/>
          <p:nvPr/>
        </p:nvSpPr>
        <p:spPr>
          <a:xfrm flipH="false" flipV="false" rot="0">
            <a:off x="-983159" y="-63578"/>
            <a:ext cx="6794492" cy="11825856"/>
          </a:xfrm>
          <a:custGeom>
            <a:avLst/>
            <a:gdLst/>
            <a:ahLst/>
            <a:cxnLst/>
            <a:rect r="r" b="b" t="t" l="l"/>
            <a:pathLst>
              <a:path h="11825856" w="6794492">
                <a:moveTo>
                  <a:pt x="0" y="0"/>
                </a:moveTo>
                <a:lnTo>
                  <a:pt x="6794492" y="0"/>
                </a:lnTo>
                <a:lnTo>
                  <a:pt x="6794492" y="11825856"/>
                </a:lnTo>
                <a:lnTo>
                  <a:pt x="0" y="11825856"/>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891723" y="-63578"/>
            <a:ext cx="6794492" cy="11825856"/>
          </a:xfrm>
          <a:custGeom>
            <a:avLst/>
            <a:gdLst/>
            <a:ahLst/>
            <a:cxnLst/>
            <a:rect r="r" b="b" t="t" l="l"/>
            <a:pathLst>
              <a:path h="11825856" w="6794492">
                <a:moveTo>
                  <a:pt x="0" y="0"/>
                </a:moveTo>
                <a:lnTo>
                  <a:pt x="6794492" y="0"/>
                </a:lnTo>
                <a:lnTo>
                  <a:pt x="6794492" y="11825856"/>
                </a:lnTo>
                <a:lnTo>
                  <a:pt x="0" y="11825856"/>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373589" y="2222382"/>
            <a:ext cx="9540821" cy="7253937"/>
          </a:xfrm>
          <a:custGeom>
            <a:avLst/>
            <a:gdLst/>
            <a:ahLst/>
            <a:cxnLst/>
            <a:rect r="r" b="b" t="t" l="l"/>
            <a:pathLst>
              <a:path h="7253937" w="9540821">
                <a:moveTo>
                  <a:pt x="0" y="0"/>
                </a:moveTo>
                <a:lnTo>
                  <a:pt x="9540822" y="0"/>
                </a:lnTo>
                <a:lnTo>
                  <a:pt x="9540822" y="7253937"/>
                </a:lnTo>
                <a:lnTo>
                  <a:pt x="0" y="7253937"/>
                </a:lnTo>
                <a:lnTo>
                  <a:pt x="0" y="0"/>
                </a:lnTo>
                <a:close/>
              </a:path>
            </a:pathLst>
          </a:custGeom>
          <a:blipFill>
            <a:blip r:embed="rId4"/>
            <a:stretch>
              <a:fillRect l="0" t="0" r="0" b="0"/>
            </a:stretch>
          </a:blipFill>
        </p:spPr>
      </p:sp>
      <p:sp>
        <p:nvSpPr>
          <p:cNvPr name="TextBox 5" id="5"/>
          <p:cNvSpPr txBox="true"/>
          <p:nvPr/>
        </p:nvSpPr>
        <p:spPr>
          <a:xfrm rot="0">
            <a:off x="4213466" y="850362"/>
            <a:ext cx="9861068" cy="1053479"/>
          </a:xfrm>
          <a:prstGeom prst="rect">
            <a:avLst/>
          </a:prstGeom>
        </p:spPr>
        <p:txBody>
          <a:bodyPr anchor="t" rtlCol="false" tIns="0" lIns="0" bIns="0" rIns="0">
            <a:spAutoFit/>
          </a:bodyPr>
          <a:lstStyle/>
          <a:p>
            <a:pPr algn="l">
              <a:lnSpc>
                <a:spcPts val="7680"/>
              </a:lnSpc>
            </a:pPr>
            <a:r>
              <a:rPr lang="en-US" sz="8000">
                <a:solidFill>
                  <a:srgbClr val="7D4C3D"/>
                </a:solidFill>
                <a:latin typeface="Bobby Jones"/>
                <a:ea typeface="Bobby Jones"/>
                <a:cs typeface="Bobby Jones"/>
                <a:sym typeface="Bobby Jones"/>
              </a:rPr>
              <a:t>Graph representation</a:t>
            </a:r>
          </a:p>
        </p:txBody>
      </p:sp>
      <p:sp>
        <p:nvSpPr>
          <p:cNvPr name="Freeform 6" id="6"/>
          <p:cNvSpPr/>
          <p:nvPr/>
        </p:nvSpPr>
        <p:spPr>
          <a:xfrm flipH="false" flipV="false" rot="0">
            <a:off x="346318" y="0"/>
            <a:ext cx="1364764" cy="1705955"/>
          </a:xfrm>
          <a:custGeom>
            <a:avLst/>
            <a:gdLst/>
            <a:ahLst/>
            <a:cxnLst/>
            <a:rect r="r" b="b" t="t" l="l"/>
            <a:pathLst>
              <a:path h="1705955" w="1364764">
                <a:moveTo>
                  <a:pt x="0" y="0"/>
                </a:moveTo>
                <a:lnTo>
                  <a:pt x="1364764" y="0"/>
                </a:lnTo>
                <a:lnTo>
                  <a:pt x="1364764" y="1705955"/>
                </a:lnTo>
                <a:lnTo>
                  <a:pt x="0" y="1705955"/>
                </a:lnTo>
                <a:lnTo>
                  <a:pt x="0" y="0"/>
                </a:lnTo>
                <a:close/>
              </a:path>
            </a:pathLst>
          </a:custGeom>
          <a:blipFill>
            <a:blip r:embed="rId5"/>
            <a:stretch>
              <a:fillRect l="-12500" t="0" r="-12500" b="0"/>
            </a:stretch>
          </a:blipFill>
        </p:spPr>
      </p:sp>
      <p:sp>
        <p:nvSpPr>
          <p:cNvPr name="TextBox 7" id="7"/>
          <p:cNvSpPr txBox="true"/>
          <p:nvPr/>
        </p:nvSpPr>
        <p:spPr>
          <a:xfrm rot="0">
            <a:off x="504110" y="1263151"/>
            <a:ext cx="1049179" cy="249093"/>
          </a:xfrm>
          <a:prstGeom prst="rect">
            <a:avLst/>
          </a:prstGeom>
        </p:spPr>
        <p:txBody>
          <a:bodyPr anchor="t" rtlCol="false" tIns="0" lIns="0" bIns="0" rIns="0">
            <a:spAutoFit/>
          </a:bodyPr>
          <a:lstStyle/>
          <a:p>
            <a:pPr algn="ctr">
              <a:lnSpc>
                <a:spcPts val="1945"/>
              </a:lnSpc>
            </a:pPr>
            <a:r>
              <a:rPr lang="en-US" sz="1389">
                <a:solidFill>
                  <a:srgbClr val="FAF8ED"/>
                </a:solidFill>
                <a:latin typeface="Yeseva One"/>
                <a:ea typeface="Yeseva One"/>
                <a:cs typeface="Yeseva One"/>
                <a:sym typeface="Yeseva One"/>
              </a:rPr>
              <a:t>Starbucks</a:t>
            </a:r>
          </a:p>
        </p:txBody>
      </p:sp>
    </p:spTree>
  </p:cSld>
  <p:clrMapOvr>
    <a:masterClrMapping/>
  </p:clrMapOvr>
  <p:transition spd="fast">
    <p:wipe dir="l"/>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DBCBBB"/>
        </a:solidFill>
      </p:bgPr>
    </p:bg>
    <p:spTree>
      <p:nvGrpSpPr>
        <p:cNvPr id="1" name=""/>
        <p:cNvGrpSpPr/>
        <p:nvPr/>
      </p:nvGrpSpPr>
      <p:grpSpPr>
        <a:xfrm>
          <a:off x="0" y="0"/>
          <a:ext cx="0" cy="0"/>
          <a:chOff x="0" y="0"/>
          <a:chExt cx="0" cy="0"/>
        </a:xfrm>
      </p:grpSpPr>
      <p:sp>
        <p:nvSpPr>
          <p:cNvPr name="Freeform 2" id="2"/>
          <p:cNvSpPr/>
          <p:nvPr/>
        </p:nvSpPr>
        <p:spPr>
          <a:xfrm flipH="false" flipV="false" rot="0">
            <a:off x="-370702" y="-244773"/>
            <a:ext cx="6794492" cy="11825856"/>
          </a:xfrm>
          <a:custGeom>
            <a:avLst/>
            <a:gdLst/>
            <a:ahLst/>
            <a:cxnLst/>
            <a:rect r="r" b="b" t="t" l="l"/>
            <a:pathLst>
              <a:path h="11825856" w="6794492">
                <a:moveTo>
                  <a:pt x="0" y="0"/>
                </a:moveTo>
                <a:lnTo>
                  <a:pt x="6794492" y="0"/>
                </a:lnTo>
                <a:lnTo>
                  <a:pt x="6794492" y="11825856"/>
                </a:lnTo>
                <a:lnTo>
                  <a:pt x="0" y="11825856"/>
                </a:lnTo>
                <a:lnTo>
                  <a:pt x="0" y="0"/>
                </a:lnTo>
                <a:close/>
              </a:path>
            </a:pathLst>
          </a:custGeom>
          <a:blipFill>
            <a:blip r:embed="rId2">
              <a:alphaModFix amt="3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287340" y="1649393"/>
            <a:ext cx="13107527" cy="542925"/>
          </a:xfrm>
          <a:prstGeom prst="rect">
            <a:avLst/>
          </a:prstGeom>
        </p:spPr>
        <p:txBody>
          <a:bodyPr anchor="t" rtlCol="false" tIns="0" lIns="0" bIns="0" rIns="0">
            <a:spAutoFit/>
          </a:bodyPr>
          <a:lstStyle/>
          <a:p>
            <a:pPr algn="ctr">
              <a:lnSpc>
                <a:spcPts val="3795"/>
              </a:lnSpc>
            </a:pPr>
            <a:r>
              <a:rPr lang="en-US" sz="3162" spc="63">
                <a:solidFill>
                  <a:srgbClr val="7D4C3D"/>
                </a:solidFill>
                <a:latin typeface="Jua"/>
                <a:ea typeface="Jua"/>
                <a:cs typeface="Jua"/>
                <a:sym typeface="Jua"/>
              </a:rPr>
              <a:t>What we have completed:</a:t>
            </a:r>
          </a:p>
        </p:txBody>
      </p:sp>
      <p:sp>
        <p:nvSpPr>
          <p:cNvPr name="TextBox 4" id="4"/>
          <p:cNvSpPr txBox="true"/>
          <p:nvPr/>
        </p:nvSpPr>
        <p:spPr>
          <a:xfrm rot="0">
            <a:off x="3513542" y="465490"/>
            <a:ext cx="17025620" cy="1003191"/>
          </a:xfrm>
          <a:prstGeom prst="rect">
            <a:avLst/>
          </a:prstGeom>
        </p:spPr>
        <p:txBody>
          <a:bodyPr anchor="t" rtlCol="false" tIns="0" lIns="0" bIns="0" rIns="0">
            <a:spAutoFit/>
          </a:bodyPr>
          <a:lstStyle/>
          <a:p>
            <a:pPr algn="l">
              <a:lnSpc>
                <a:spcPts val="7296"/>
              </a:lnSpc>
            </a:pPr>
            <a:r>
              <a:rPr lang="en-US" sz="7600">
                <a:solidFill>
                  <a:srgbClr val="7D4C3D"/>
                </a:solidFill>
                <a:latin typeface="Bobby Jones"/>
                <a:ea typeface="Bobby Jones"/>
                <a:cs typeface="Bobby Jones"/>
                <a:sym typeface="Bobby Jones"/>
              </a:rPr>
              <a:t>Next Steps &amp; Remaining Work</a:t>
            </a:r>
          </a:p>
        </p:txBody>
      </p:sp>
      <p:sp>
        <p:nvSpPr>
          <p:cNvPr name="TextBox 5" id="5"/>
          <p:cNvSpPr txBox="true"/>
          <p:nvPr/>
        </p:nvSpPr>
        <p:spPr>
          <a:xfrm rot="0">
            <a:off x="7072092" y="2441955"/>
            <a:ext cx="11101138" cy="2790825"/>
          </a:xfrm>
          <a:prstGeom prst="rect">
            <a:avLst/>
          </a:prstGeom>
        </p:spPr>
        <p:txBody>
          <a:bodyPr anchor="t" rtlCol="false" tIns="0" lIns="0" bIns="0" rIns="0">
            <a:spAutoFit/>
          </a:bodyPr>
          <a:lstStyle/>
          <a:p>
            <a:pPr algn="l" marL="553264" indent="-276632" lvl="1">
              <a:lnSpc>
                <a:spcPts val="3075"/>
              </a:lnSpc>
              <a:buFont typeface="Arial"/>
              <a:buChar char="•"/>
            </a:pPr>
            <a:r>
              <a:rPr lang="en-US" sz="2562" spc="51">
                <a:solidFill>
                  <a:srgbClr val="7D4C3D"/>
                </a:solidFill>
                <a:latin typeface="Jua"/>
                <a:ea typeface="Jua"/>
                <a:cs typeface="Jua"/>
                <a:sym typeface="Jua"/>
              </a:rPr>
              <a:t>Data Exploration &amp; Descriptive Statistics (Naman)</a:t>
            </a:r>
          </a:p>
          <a:p>
            <a:pPr algn="l" marL="553264" indent="-276632" lvl="1">
              <a:lnSpc>
                <a:spcPts val="3075"/>
              </a:lnSpc>
              <a:buFont typeface="Arial"/>
              <a:buChar char="•"/>
            </a:pPr>
            <a:r>
              <a:rPr lang="en-US" sz="2562" spc="51">
                <a:solidFill>
                  <a:srgbClr val="7D4C3D"/>
                </a:solidFill>
                <a:latin typeface="Jua"/>
                <a:ea typeface="Jua"/>
                <a:cs typeface="Jua"/>
                <a:sym typeface="Jua"/>
              </a:rPr>
              <a:t>Correl</a:t>
            </a:r>
            <a:r>
              <a:rPr lang="en-US" sz="2562" spc="51">
                <a:solidFill>
                  <a:srgbClr val="7D4C3D"/>
                </a:solidFill>
                <a:latin typeface="Jua"/>
                <a:ea typeface="Jua"/>
                <a:cs typeface="Jua"/>
                <a:sym typeface="Jua"/>
              </a:rPr>
              <a:t>ation, Covariance, Chebyshev’s inequality Vs Empirical Rule (Priya)</a:t>
            </a:r>
          </a:p>
          <a:p>
            <a:pPr algn="l" marL="553264" indent="-276632" lvl="1">
              <a:lnSpc>
                <a:spcPts val="3075"/>
              </a:lnSpc>
              <a:buFont typeface="Arial"/>
              <a:buChar char="•"/>
            </a:pPr>
            <a:r>
              <a:rPr lang="en-US" sz="2562" spc="51">
                <a:solidFill>
                  <a:srgbClr val="7D4C3D"/>
                </a:solidFill>
                <a:latin typeface="Jua"/>
                <a:ea typeface="Jua"/>
                <a:cs typeface="Jua"/>
                <a:sym typeface="Jua"/>
              </a:rPr>
              <a:t>Probability, Conditional Probability &amp; Bayes Theorem (Varuna)</a:t>
            </a:r>
          </a:p>
          <a:p>
            <a:pPr algn="l" marL="553264" indent="-276632" lvl="1">
              <a:lnSpc>
                <a:spcPts val="3075"/>
              </a:lnSpc>
              <a:buFont typeface="Arial"/>
              <a:buChar char="•"/>
            </a:pPr>
            <a:r>
              <a:rPr lang="en-US" sz="2562" spc="51">
                <a:solidFill>
                  <a:srgbClr val="7D4C3D"/>
                </a:solidFill>
                <a:latin typeface="Jua"/>
                <a:ea typeface="Jua"/>
                <a:cs typeface="Jua"/>
                <a:sym typeface="Jua"/>
              </a:rPr>
              <a:t>Hypothesis Testing: Two-sample t-tests for Mobile vs Non-Mobile and Rewards vs Non-Rewards (Sanjana)</a:t>
            </a:r>
          </a:p>
          <a:p>
            <a:pPr algn="ctr">
              <a:lnSpc>
                <a:spcPts val="3075"/>
              </a:lnSpc>
            </a:pPr>
          </a:p>
        </p:txBody>
      </p:sp>
      <p:sp>
        <p:nvSpPr>
          <p:cNvPr name="TextBox 6" id="6"/>
          <p:cNvSpPr txBox="true"/>
          <p:nvPr/>
        </p:nvSpPr>
        <p:spPr>
          <a:xfrm rot="0">
            <a:off x="5685895" y="5101417"/>
            <a:ext cx="12156522" cy="542925"/>
          </a:xfrm>
          <a:prstGeom prst="rect">
            <a:avLst/>
          </a:prstGeom>
        </p:spPr>
        <p:txBody>
          <a:bodyPr anchor="t" rtlCol="false" tIns="0" lIns="0" bIns="0" rIns="0">
            <a:spAutoFit/>
          </a:bodyPr>
          <a:lstStyle/>
          <a:p>
            <a:pPr algn="ctr">
              <a:lnSpc>
                <a:spcPts val="3795"/>
              </a:lnSpc>
            </a:pPr>
            <a:r>
              <a:rPr lang="en-US" sz="3162" spc="63">
                <a:solidFill>
                  <a:srgbClr val="7D4C3D"/>
                </a:solidFill>
                <a:latin typeface="Jua"/>
                <a:ea typeface="Jua"/>
                <a:cs typeface="Jua"/>
                <a:sym typeface="Jua"/>
              </a:rPr>
              <a:t>What remains for the final submission (May 5):</a:t>
            </a:r>
          </a:p>
        </p:txBody>
      </p:sp>
      <p:sp>
        <p:nvSpPr>
          <p:cNvPr name="TextBox 7" id="7"/>
          <p:cNvSpPr txBox="true"/>
          <p:nvPr/>
        </p:nvSpPr>
        <p:spPr>
          <a:xfrm rot="0">
            <a:off x="7072092" y="5920567"/>
            <a:ext cx="11101138" cy="3962400"/>
          </a:xfrm>
          <a:prstGeom prst="rect">
            <a:avLst/>
          </a:prstGeom>
        </p:spPr>
        <p:txBody>
          <a:bodyPr anchor="t" rtlCol="false" tIns="0" lIns="0" bIns="0" rIns="0">
            <a:spAutoFit/>
          </a:bodyPr>
          <a:lstStyle/>
          <a:p>
            <a:pPr algn="l" marL="553264" indent="-276632" lvl="1">
              <a:lnSpc>
                <a:spcPts val="3075"/>
              </a:lnSpc>
              <a:buFont typeface="Arial"/>
              <a:buChar char="•"/>
            </a:pPr>
            <a:r>
              <a:rPr lang="en-US" sz="2562" spc="51">
                <a:solidFill>
                  <a:srgbClr val="7D4C3D"/>
                </a:solidFill>
                <a:latin typeface="Jua"/>
                <a:ea typeface="Jua"/>
                <a:cs typeface="Jua"/>
                <a:sym typeface="Jua"/>
              </a:rPr>
              <a:t>Additional hypothesis tests (paired t-test for repeat customers, two-proportion z-test)</a:t>
            </a:r>
          </a:p>
          <a:p>
            <a:pPr algn="l" marL="553264" indent="-276632" lvl="1">
              <a:lnSpc>
                <a:spcPts val="3075"/>
              </a:lnSpc>
              <a:buFont typeface="Arial"/>
              <a:buChar char="•"/>
            </a:pPr>
            <a:r>
              <a:rPr lang="en-US" sz="2562" spc="51">
                <a:solidFill>
                  <a:srgbClr val="7D4C3D"/>
                </a:solidFill>
                <a:latin typeface="Jua"/>
                <a:ea typeface="Jua"/>
                <a:cs typeface="Jua"/>
                <a:sym typeface="Jua"/>
              </a:rPr>
              <a:t>Confidence intervals for mean spend by segment</a:t>
            </a:r>
          </a:p>
          <a:p>
            <a:pPr algn="l" marL="553264" indent="-276632" lvl="1">
              <a:lnSpc>
                <a:spcPts val="3075"/>
              </a:lnSpc>
              <a:buFont typeface="Arial"/>
              <a:buChar char="•"/>
            </a:pPr>
            <a:r>
              <a:rPr lang="en-US" sz="2562" spc="51">
                <a:solidFill>
                  <a:srgbClr val="7D4C3D"/>
                </a:solidFill>
                <a:latin typeface="Jua"/>
                <a:ea typeface="Jua"/>
                <a:cs typeface="Jua"/>
                <a:sym typeface="Jua"/>
              </a:rPr>
              <a:t>Full academic report in LaTeX (10-12 pages, double-column, J-NaNA format)</a:t>
            </a:r>
          </a:p>
          <a:p>
            <a:pPr algn="l" marL="553264" indent="-276632" lvl="1">
              <a:lnSpc>
                <a:spcPts val="3075"/>
              </a:lnSpc>
              <a:buFont typeface="Arial"/>
              <a:buChar char="•"/>
            </a:pPr>
            <a:r>
              <a:rPr lang="en-US" sz="2562" spc="51">
                <a:solidFill>
                  <a:srgbClr val="7D4C3D"/>
                </a:solidFill>
                <a:latin typeface="Jua"/>
                <a:ea typeface="Jua"/>
                <a:cs typeface="Jua"/>
                <a:sym typeface="Jua"/>
              </a:rPr>
              <a:t>YouTube demo recording (12-15 minutes)</a:t>
            </a:r>
          </a:p>
          <a:p>
            <a:pPr algn="l" marL="553264" indent="-276632" lvl="1">
              <a:lnSpc>
                <a:spcPts val="3075"/>
              </a:lnSpc>
              <a:buFont typeface="Arial"/>
              <a:buChar char="•"/>
            </a:pPr>
            <a:r>
              <a:rPr lang="en-US" sz="2562" spc="51">
                <a:solidFill>
                  <a:srgbClr val="7D4C3D"/>
                </a:solidFill>
                <a:latin typeface="Jua"/>
                <a:ea typeface="Jua"/>
                <a:cs typeface="Jua"/>
                <a:sym typeface="Jua"/>
              </a:rPr>
              <a:t>De</a:t>
            </a:r>
            <a:r>
              <a:rPr lang="en-US" sz="2562" spc="51">
                <a:solidFill>
                  <a:srgbClr val="7D4C3D"/>
                </a:solidFill>
                <a:latin typeface="Jua"/>
                <a:ea typeface="Jua"/>
                <a:cs typeface="Jua"/>
                <a:sym typeface="Jua"/>
              </a:rPr>
              <a:t>ployment discussion: how findings translate to actionable business strategy</a:t>
            </a:r>
          </a:p>
          <a:p>
            <a:pPr algn="l" marL="553264" indent="-276632" lvl="1">
              <a:lnSpc>
                <a:spcPts val="3075"/>
              </a:lnSpc>
              <a:buFont typeface="Arial"/>
              <a:buChar char="•"/>
            </a:pPr>
            <a:r>
              <a:rPr lang="en-US" sz="2562" spc="51">
                <a:solidFill>
                  <a:srgbClr val="7D4C3D"/>
                </a:solidFill>
                <a:latin typeface="Jua"/>
                <a:ea typeface="Jua"/>
                <a:cs typeface="Jua"/>
                <a:sym typeface="Jua"/>
              </a:rPr>
              <a:t>Consolidate all code into final Jupyter notebooks</a:t>
            </a:r>
          </a:p>
          <a:p>
            <a:pPr algn="ctr">
              <a:lnSpc>
                <a:spcPts val="3075"/>
              </a:lnSpc>
            </a:pPr>
          </a:p>
        </p:txBody>
      </p:sp>
      <p:sp>
        <p:nvSpPr>
          <p:cNvPr name="Freeform 8" id="8"/>
          <p:cNvSpPr/>
          <p:nvPr/>
        </p:nvSpPr>
        <p:spPr>
          <a:xfrm flipH="true" flipV="false" rot="0">
            <a:off x="1490658" y="2129958"/>
            <a:ext cx="4540072" cy="6639959"/>
          </a:xfrm>
          <a:custGeom>
            <a:avLst/>
            <a:gdLst/>
            <a:ahLst/>
            <a:cxnLst/>
            <a:rect r="r" b="b" t="t" l="l"/>
            <a:pathLst>
              <a:path h="6639959" w="4540072">
                <a:moveTo>
                  <a:pt x="4540071" y="0"/>
                </a:moveTo>
                <a:lnTo>
                  <a:pt x="0" y="0"/>
                </a:lnTo>
                <a:lnTo>
                  <a:pt x="0" y="6639959"/>
                </a:lnTo>
                <a:lnTo>
                  <a:pt x="4540071" y="6639959"/>
                </a:lnTo>
                <a:lnTo>
                  <a:pt x="4540071" y="0"/>
                </a:lnTo>
                <a:close/>
              </a:path>
            </a:pathLst>
          </a:custGeom>
          <a:blipFill>
            <a:blip r:embed="rId4"/>
            <a:stretch>
              <a:fillRect l="0" t="0" r="0" b="0"/>
            </a:stretch>
          </a:blipFill>
        </p:spPr>
      </p:sp>
      <p:sp>
        <p:nvSpPr>
          <p:cNvPr name="Freeform 9" id="9"/>
          <p:cNvSpPr/>
          <p:nvPr/>
        </p:nvSpPr>
        <p:spPr>
          <a:xfrm flipH="false" flipV="false" rot="0">
            <a:off x="346318" y="0"/>
            <a:ext cx="1364764" cy="1705955"/>
          </a:xfrm>
          <a:custGeom>
            <a:avLst/>
            <a:gdLst/>
            <a:ahLst/>
            <a:cxnLst/>
            <a:rect r="r" b="b" t="t" l="l"/>
            <a:pathLst>
              <a:path h="1705955" w="1364764">
                <a:moveTo>
                  <a:pt x="0" y="0"/>
                </a:moveTo>
                <a:lnTo>
                  <a:pt x="1364764" y="0"/>
                </a:lnTo>
                <a:lnTo>
                  <a:pt x="1364764" y="1705955"/>
                </a:lnTo>
                <a:lnTo>
                  <a:pt x="0" y="1705955"/>
                </a:lnTo>
                <a:lnTo>
                  <a:pt x="0" y="0"/>
                </a:lnTo>
                <a:close/>
              </a:path>
            </a:pathLst>
          </a:custGeom>
          <a:blipFill>
            <a:blip r:embed="rId5"/>
            <a:stretch>
              <a:fillRect l="-12500" t="0" r="-12500" b="0"/>
            </a:stretch>
          </a:blipFill>
        </p:spPr>
      </p:sp>
      <p:sp>
        <p:nvSpPr>
          <p:cNvPr name="TextBox 10" id="10"/>
          <p:cNvSpPr txBox="true"/>
          <p:nvPr/>
        </p:nvSpPr>
        <p:spPr>
          <a:xfrm rot="0">
            <a:off x="504110" y="1263151"/>
            <a:ext cx="1049179" cy="249093"/>
          </a:xfrm>
          <a:prstGeom prst="rect">
            <a:avLst/>
          </a:prstGeom>
        </p:spPr>
        <p:txBody>
          <a:bodyPr anchor="t" rtlCol="false" tIns="0" lIns="0" bIns="0" rIns="0">
            <a:spAutoFit/>
          </a:bodyPr>
          <a:lstStyle/>
          <a:p>
            <a:pPr algn="ctr">
              <a:lnSpc>
                <a:spcPts val="1945"/>
              </a:lnSpc>
            </a:pPr>
            <a:r>
              <a:rPr lang="en-US" sz="1389">
                <a:solidFill>
                  <a:srgbClr val="FAF8ED"/>
                </a:solidFill>
                <a:latin typeface="Yeseva One"/>
                <a:ea typeface="Yeseva One"/>
                <a:cs typeface="Yeseva One"/>
                <a:sym typeface="Yeseva One"/>
              </a:rPr>
              <a:t>Starbucks</a:t>
            </a:r>
          </a:p>
        </p:txBody>
      </p:sp>
    </p:spTree>
  </p:cSld>
  <p:clrMapOvr>
    <a:masterClrMapping/>
  </p:clrMapOvr>
  <p:transition spd="fast">
    <p:wipe dir="l"/>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DBCBBB"/>
        </a:solidFill>
      </p:bgPr>
    </p:bg>
    <p:spTree>
      <p:nvGrpSpPr>
        <p:cNvPr id="1" name=""/>
        <p:cNvGrpSpPr/>
        <p:nvPr/>
      </p:nvGrpSpPr>
      <p:grpSpPr>
        <a:xfrm>
          <a:off x="0" y="0"/>
          <a:ext cx="0" cy="0"/>
          <a:chOff x="0" y="0"/>
          <a:chExt cx="0" cy="0"/>
        </a:xfrm>
      </p:grpSpPr>
      <p:sp>
        <p:nvSpPr>
          <p:cNvPr name="Freeform 2" id="2"/>
          <p:cNvSpPr/>
          <p:nvPr/>
        </p:nvSpPr>
        <p:spPr>
          <a:xfrm flipH="false" flipV="false" rot="0">
            <a:off x="-370702" y="-244773"/>
            <a:ext cx="6794492" cy="11825856"/>
          </a:xfrm>
          <a:custGeom>
            <a:avLst/>
            <a:gdLst/>
            <a:ahLst/>
            <a:cxnLst/>
            <a:rect r="r" b="b" t="t" l="l"/>
            <a:pathLst>
              <a:path h="11825856" w="6794492">
                <a:moveTo>
                  <a:pt x="0" y="0"/>
                </a:moveTo>
                <a:lnTo>
                  <a:pt x="6794492" y="0"/>
                </a:lnTo>
                <a:lnTo>
                  <a:pt x="6794492" y="11825856"/>
                </a:lnTo>
                <a:lnTo>
                  <a:pt x="0" y="11825856"/>
                </a:lnTo>
                <a:lnTo>
                  <a:pt x="0" y="0"/>
                </a:lnTo>
                <a:close/>
              </a:path>
            </a:pathLst>
          </a:custGeom>
          <a:blipFill>
            <a:blip r:embed="rId2">
              <a:alphaModFix amt="3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957866" y="3883757"/>
            <a:ext cx="15512653" cy="2475540"/>
          </a:xfrm>
          <a:prstGeom prst="rect">
            <a:avLst/>
          </a:prstGeom>
        </p:spPr>
        <p:txBody>
          <a:bodyPr anchor="t" rtlCol="false" tIns="0" lIns="0" bIns="0" rIns="0">
            <a:spAutoFit/>
          </a:bodyPr>
          <a:lstStyle/>
          <a:p>
            <a:pPr algn="ctr">
              <a:lnSpc>
                <a:spcPts val="20002"/>
              </a:lnSpc>
              <a:spcBef>
                <a:spcPct val="0"/>
              </a:spcBef>
            </a:pPr>
            <a:r>
              <a:rPr lang="en-US" sz="14287">
                <a:solidFill>
                  <a:srgbClr val="7D4C3D"/>
                </a:solidFill>
                <a:latin typeface="Bobby Jones"/>
                <a:ea typeface="Bobby Jones"/>
                <a:cs typeface="Bobby Jones"/>
                <a:sym typeface="Bobby Jones"/>
              </a:rPr>
              <a:t>“Thanks a latte ☕”</a:t>
            </a:r>
          </a:p>
        </p:txBody>
      </p:sp>
      <p:sp>
        <p:nvSpPr>
          <p:cNvPr name="Freeform 4" id="4"/>
          <p:cNvSpPr/>
          <p:nvPr/>
        </p:nvSpPr>
        <p:spPr>
          <a:xfrm flipH="false" flipV="false" rot="0">
            <a:off x="346318" y="0"/>
            <a:ext cx="1364764" cy="1705955"/>
          </a:xfrm>
          <a:custGeom>
            <a:avLst/>
            <a:gdLst/>
            <a:ahLst/>
            <a:cxnLst/>
            <a:rect r="r" b="b" t="t" l="l"/>
            <a:pathLst>
              <a:path h="1705955" w="1364764">
                <a:moveTo>
                  <a:pt x="0" y="0"/>
                </a:moveTo>
                <a:lnTo>
                  <a:pt x="1364764" y="0"/>
                </a:lnTo>
                <a:lnTo>
                  <a:pt x="1364764" y="1705955"/>
                </a:lnTo>
                <a:lnTo>
                  <a:pt x="0" y="1705955"/>
                </a:lnTo>
                <a:lnTo>
                  <a:pt x="0" y="0"/>
                </a:lnTo>
                <a:close/>
              </a:path>
            </a:pathLst>
          </a:custGeom>
          <a:blipFill>
            <a:blip r:embed="rId4"/>
            <a:stretch>
              <a:fillRect l="-12500" t="0" r="-12500" b="0"/>
            </a:stretch>
          </a:blipFill>
        </p:spPr>
      </p:sp>
      <p:sp>
        <p:nvSpPr>
          <p:cNvPr name="TextBox 5" id="5"/>
          <p:cNvSpPr txBox="true"/>
          <p:nvPr/>
        </p:nvSpPr>
        <p:spPr>
          <a:xfrm rot="0">
            <a:off x="504110" y="1263151"/>
            <a:ext cx="1049179" cy="249093"/>
          </a:xfrm>
          <a:prstGeom prst="rect">
            <a:avLst/>
          </a:prstGeom>
        </p:spPr>
        <p:txBody>
          <a:bodyPr anchor="t" rtlCol="false" tIns="0" lIns="0" bIns="0" rIns="0">
            <a:spAutoFit/>
          </a:bodyPr>
          <a:lstStyle/>
          <a:p>
            <a:pPr algn="ctr">
              <a:lnSpc>
                <a:spcPts val="1945"/>
              </a:lnSpc>
            </a:pPr>
            <a:r>
              <a:rPr lang="en-US" sz="1389">
                <a:solidFill>
                  <a:srgbClr val="FAF8ED"/>
                </a:solidFill>
                <a:latin typeface="Yeseva One"/>
                <a:ea typeface="Yeseva One"/>
                <a:cs typeface="Yeseva One"/>
                <a:sym typeface="Yeseva One"/>
              </a:rPr>
              <a:t>Starbucks</a:t>
            </a:r>
          </a:p>
        </p:txBody>
      </p:sp>
    </p:spTree>
  </p:cSld>
  <p:clrMapOvr>
    <a:masterClrMapping/>
  </p:clrMapOvr>
  <p:transition spd="fast">
    <p:wipe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DAHFqxIqMQ0</dc:identifier>
  <dcterms:modified xsi:type="dcterms:W3CDTF">2011-08-01T06:04:30Z</dcterms:modified>
  <cp:revision>1</cp:revision>
  <dc:title>Core Drivers &amp; Revenue Stability Heading: Statistical Drivers: Engagement vs. Spend Subtitle: Aggregated Analysis of 14,988 Unique Customers (from 100,000 Transactions)</dc:title>
</cp:coreProperties>
</file>