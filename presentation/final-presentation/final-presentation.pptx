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presenting our final analysis on what really drives customer spending at Starbucks. We worked with a hundred thousand orders, applied every major statistical concept from DATA 202, and we have some clear answers. Our team is Naman, Priya, Sanjana, and Varuna. Let's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is a Kaggle Starbucks transactional dataset. One hundred thousand orders, just under fifteen thousand unique customers, five hundred stores, and twenty variables per order — channel, cart size, customizations, fulfillment time, satisfaction, rewards membership, age group, and more. Crucially there are zero missing values, so we could focus on analysis instead of cleaning. Customer spend matters because it directly drives revenue, and the channels and behaviors behind it are exactly what Starbucks' loyalty and mobile teams optimize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central research question is simple to state and rich to answer: what factors drive customer spending at Starbucks? We broke it into five sub-questions, each mapped to a DATA 202 concept area. Which segments spend more. How cart size and customizations relate to spend. Whether the Mobile and Rewards differences are statistically real. How likely high-spender orders are and who places them. And finally, can we use linear algebra and gradient descent to actually model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descriptive statistics. The average order is fourteen dollars and eighty-seven cents, median fourteen-seventeen, standard deviation five-fifty-one. The interquartile range is seven-thirty-four and only one-point-four percent of orders are outliers above twenty-nine dollars. The big finding is the channel gap — Mobile App orders average eighteen-oh-eight, while Drive-Thru, In-Store, and Kiosk all sit right around twelve-fifty. That five-and-a-half dollar gap on Mobile is the single most important pattern in the entire dataset. Rewards members spend about a dollar-sixty-three more than non-members.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correlation. The order-level Pearson correlation tells a clean story. Cart size versus total spend is point-nine-zero-zero — that's the dominant numerical driver, almost a deterministic relationship. Number of customizations is secondary at point-four-zero-nine, still meaningful but much weaker. Fulfillment time and customer satisfaction are essentially uncorrelated with spend. So if you want to predict how much someone will spend, ask how many items are in their 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distribution shape and Chebyshev. Total spend is moderately right-skewed — the normal overlay misses the right tail, and the QQ plot bends upward. Empirically, ninety-five-point-eight-three percent of orders fall within two standard deviations of the mean, and ninety-nine-point-three-four percent within three. Chebyshev's inequality only guarantees seventy-five percent within two SDs, so our data is far tighter than the worst case. But because normality isn't perfect, we use empirical probabilities — not the normal approximation — for tail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intervals make these segment differences concrete. The overall mean is between fourteen-eighty-three and fourteen-ninety with ninety-five percent confidence. Mobile App is eighteen-oh-two to eighteen-thirteen — a tight band well above everyone else. Rewards is fifteen-sixty-seven to fifteen-seventy-seven, non-Rewards is fourteen-oh-four to fourteen-thirteen. The intervals don't overlap, which previews what hypothesis testing will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Hypothesis testing — four tests, all decisive in the same direction. Mobile versus non-Mobile shows a five-dollar-fifty-eight average difference, t equals one-seventy-five-point-nine-one, p essentially zero — reject the null. Rewards versus non-Rewards shows a one-sixty-three difference, t equals forty-seven, p essentially zero — reject. The paired test on each customer's first versus latest order gives p equals point-four-four, so we fail to reject — repeat customers don't systematically drift up or down over time. Finally, a two-proportion z-test on whether an order is a high-spender — defined as more than twenty dollars — gives Rewards members an eight-point-six percentage-point higher rate than non-Rewards, with z equals thirty-five-point-nine-two and p essentially zero — clearly reject. Same direction, same conclusion across every test we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Bayes. Empirically, about five-point-one percent of all orders exceed twenty-five dollars. The normal approximation says three-point-three percent — it underestimates the right tail because of skew. Conditional on Mobile App, that probability jumps to eleven-point-three percent. And by Bayes' theorem, given an order is over twenty-five dollars, there's a ninety-four percent chance it came through the Mobile App, and a sixty-three percent chance the customer is a Rewards member. High-spender orders are overwhelmingly a Mobile phenomenon.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treat cart size as a discrete random variable over the integers one through ten. The probability mass function peaks at three items, with an expected value of three-point-seven-four and a variance of two-point-eight-eight. This connects directly to the linear model coming up next — every additional item in the cart corresponds to a predictable bump in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algebra and optimization. We fit a linear model for total spend on cart size, number of customizations, and a Mobile App indicator. The intercept is two-sixteen, cart size adds two-sixty-nine per item, each customization adds ninety-two cents, and Mobile App membership alone adds two-thirty-three on top. R-squared is point-nine-five-zero-five — the model explains ninety-five percent of variance. We solved this two ways: closed-form via the normal equations, and iteratively via gradient descent. Both converge to the same coefficients, which is exactly the linear-algebra-meets-optimization story DATA 202 builds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business interpretation on top of the math. Mobile App is the largest revenue lever — bigger than rewards, bigger than store type, bigger than age. Cart size is the strongest numerical predictor, so anything that increases items per order matters. Rewards membership has a smaller but statistically significant effect. And high-spender orders — the most valuable segment — are overwhelmingly Mobile App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Starbucks actually deploy this? Batch refresh of the descriptive statistics and the model coefficients. Online scoring of expected spend at order time, which lets the app surface targeted upsells. Drift monitoring on the Mobile share, the Rewards effect, and the high-spender probability. And the whole pipeline scales naturally by store or by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the limitations. The Kaggle dataset may not represent every Starbucks store. Repeat customers weaken strict independence assumptions in the t-tests. The Shapiro-Wilk normality test had to use a five-thousand-row subsample because of its size limit. The normal approximation underestimates the right tail. The paired test ignores unequal time gaps between a customer's first and latest order. And our linear model is intentionally simple — three predictors — to stay aligned with course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Mobile App and cart size drive spend. Rewards is a real but smaller effect. For high spenders, empirical tail probabilities are more honest than the normal approximation. Every method we used — descriptive statistics, correlation, Chebyshev, hypothesis tests, Bayes, PMFs, linear algebra, gradient descent — comes straight out of DATA 202. The story holds together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a latte.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E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DBCBBB">
              <a:alpha val="55000"/>
            </a:srgbClr>
          </a:solidFill>
          <a:ln/>
        </p:spPr>
      </p:sp>
      <p:sp>
        <p:nvSpPr>
          <p:cNvPr id="3" name="Text 1"/>
          <p:cNvSpPr/>
          <p:nvPr/>
        </p:nvSpPr>
        <p:spPr>
          <a:xfrm>
            <a:off x="1047750" y="1904554"/>
            <a:ext cx="8600655" cy="314325"/>
          </a:xfrm>
          <a:prstGeom prst="rect">
            <a:avLst/>
          </a:prstGeom>
          <a:noFill/>
          <a:ln/>
        </p:spPr>
        <p:txBody>
          <a:bodyPr wrap="square" lIns="25400" tIns="25400" rIns="25400" bIns="25400" rtlCol="0" anchor="t">
            <a:normAutofit/>
          </a:bodyPr>
          <a:lstStyle/>
          <a:p>
            <a:pPr algn="l" indent="0" marL="0">
              <a:buNone/>
            </a:pPr>
            <a:r>
              <a:rPr lang="en-US" sz="1800" spc="576" kern="0" dirty="0">
                <a:solidFill>
                  <a:srgbClr val="7D4C3D"/>
                </a:solidFill>
                <a:latin typeface="Arial" pitchFamily="34" charset="0"/>
                <a:ea typeface="Arial" pitchFamily="34" charset="-122"/>
                <a:cs typeface="Arial" pitchFamily="34" charset="-120"/>
              </a:rPr>
              <a:t>DATA 202 · FINAL PRESENTATION</a:t>
            </a:r>
            <a:endParaRPr lang="en-US" sz="1800" dirty="0"/>
          </a:p>
        </p:txBody>
      </p:sp>
      <p:sp>
        <p:nvSpPr>
          <p:cNvPr id="4" name="Text 2"/>
          <p:cNvSpPr/>
          <p:nvPr/>
        </p:nvSpPr>
        <p:spPr>
          <a:xfrm>
            <a:off x="1047750" y="3021360"/>
            <a:ext cx="8600655" cy="2355800"/>
          </a:xfrm>
          <a:prstGeom prst="rect">
            <a:avLst/>
          </a:prstGeom>
          <a:noFill/>
          <a:ln/>
        </p:spPr>
        <p:txBody>
          <a:bodyPr wrap="square" lIns="25400" tIns="25400" rIns="25400" bIns="25400" rtlCol="0" anchor="t">
            <a:normAutofit/>
          </a:bodyPr>
          <a:lstStyle/>
          <a:p>
            <a:pPr algn="l" indent="0" marL="0">
              <a:lnSpc>
                <a:spcPct val="104000"/>
              </a:lnSpc>
              <a:buNone/>
            </a:pPr>
            <a:r>
              <a:rPr lang="en-US" sz="5850" b="1" spc="-29" kern="0" dirty="0">
                <a:solidFill>
                  <a:srgbClr val="5D3527"/>
                </a:solidFill>
                <a:latin typeface="Arial" pitchFamily="34" charset="0"/>
                <a:ea typeface="Arial" pitchFamily="34" charset="-122"/>
                <a:cs typeface="Arial" pitchFamily="34" charset="-120"/>
              </a:rPr>
              <a:t>Statistical Analysis of Customer Spending at </a:t>
            </a:r>
            <a:pPr algn="l" indent="0" marL="0">
              <a:lnSpc>
                <a:spcPct val="104000"/>
              </a:lnSpc>
              <a:buNone/>
            </a:pPr>
            <a:r>
              <a:rPr lang="en-US" sz="5850" b="1" spc="-29" kern="0" dirty="0">
                <a:solidFill>
                  <a:srgbClr val="7D4C3D"/>
                </a:solidFill>
                <a:latin typeface="Arial" pitchFamily="34" charset="0"/>
                <a:ea typeface="Arial" pitchFamily="34" charset="-122"/>
                <a:cs typeface="Arial" pitchFamily="34" charset="-120"/>
              </a:rPr>
              <a:t>Starbucks</a:t>
            </a:r>
            <a:pPr algn="l" indent="0" marL="0">
              <a:lnSpc>
                <a:spcPct val="104000"/>
              </a:lnSpc>
              <a:buNone/>
            </a:pPr>
            <a:r>
              <a:rPr lang="en-US" sz="5850" b="1" spc="-29" kern="0" dirty="0">
                <a:solidFill>
                  <a:srgbClr val="5D3527"/>
                </a:solidFill>
                <a:latin typeface="Arial" pitchFamily="34" charset="0"/>
                <a:ea typeface="Arial" pitchFamily="34" charset="-122"/>
                <a:cs typeface="Arial" pitchFamily="34" charset="-120"/>
              </a:rPr>
              <a:t>.</a:t>
            </a:r>
            <a:endParaRPr lang="en-US" sz="5850" dirty="0"/>
          </a:p>
        </p:txBody>
      </p:sp>
      <p:sp>
        <p:nvSpPr>
          <p:cNvPr id="5" name="Text 3"/>
          <p:cNvSpPr/>
          <p:nvPr/>
        </p:nvSpPr>
        <p:spPr>
          <a:xfrm>
            <a:off x="1047750" y="6293941"/>
            <a:ext cx="6278880" cy="860822"/>
          </a:xfrm>
          <a:prstGeom prst="rect">
            <a:avLst/>
          </a:prstGeom>
          <a:noFill/>
          <a:ln/>
        </p:spPr>
        <p:txBody>
          <a:bodyPr wrap="square" lIns="25400" tIns="25400" rIns="25400" bIns="25400" rtlCol="0" anchor="t">
            <a:normAutofit/>
          </a:bodyPr>
          <a:lstStyle/>
          <a:p>
            <a:pPr algn="l" indent="0" marL="0">
              <a:lnSpc>
                <a:spcPct val="135000"/>
              </a:lnSpc>
              <a:buNone/>
            </a:pPr>
            <a:r>
              <a:rPr lang="en-US" sz="2400" i="1" dirty="0">
                <a:solidFill>
                  <a:srgbClr val="7D4C3D"/>
                </a:solidFill>
                <a:latin typeface="Arial" pitchFamily="34" charset="0"/>
                <a:ea typeface="Arial" pitchFamily="34" charset="-122"/>
                <a:cs typeface="Arial" pitchFamily="34" charset="-120"/>
              </a:rPr>
              <a:t>"Every great solution starts with a good cup of coffee."</a:t>
            </a:r>
            <a:endParaRPr lang="en-US" sz="2400" dirty="0"/>
          </a:p>
        </p:txBody>
      </p:sp>
      <p:sp>
        <p:nvSpPr>
          <p:cNvPr id="6" name="Shape 4"/>
          <p:cNvSpPr/>
          <p:nvPr/>
        </p:nvSpPr>
        <p:spPr>
          <a:xfrm>
            <a:off x="1047750" y="7650063"/>
            <a:ext cx="762000" cy="19050"/>
          </a:xfrm>
          <a:prstGeom prst="rect">
            <a:avLst/>
          </a:prstGeom>
          <a:solidFill>
            <a:srgbClr val="7D4C3D"/>
          </a:solidFill>
          <a:ln/>
        </p:spPr>
      </p:sp>
      <p:sp>
        <p:nvSpPr>
          <p:cNvPr id="7" name="Text 5"/>
          <p:cNvSpPr/>
          <p:nvPr/>
        </p:nvSpPr>
        <p:spPr>
          <a:xfrm>
            <a:off x="1047750" y="7973913"/>
            <a:ext cx="8600655" cy="403771"/>
          </a:xfrm>
          <a:prstGeom prst="rect">
            <a:avLst/>
          </a:prstGeom>
          <a:noFill/>
          <a:ln/>
        </p:spPr>
        <p:txBody>
          <a:bodyPr wrap="square" lIns="25400" tIns="25400" rIns="25400" bIns="25400" rtlCol="0" anchor="t">
            <a:normAutofit/>
          </a:bodyPr>
          <a:lstStyle/>
          <a:p>
            <a:pPr algn="l" indent="0" marL="0">
              <a:lnSpc>
                <a:spcPct val="160000"/>
              </a:lnSpc>
              <a:buNone/>
            </a:pPr>
            <a:r>
              <a:rPr lang="en-US" sz="1800" spc="504" kern="0" dirty="0">
                <a:solidFill>
                  <a:srgbClr val="7D4C3D">
                    <a:alpha val="70000"/>
                  </a:srgbClr>
                </a:solidFill>
                <a:latin typeface="Arial" pitchFamily="34" charset="0"/>
                <a:ea typeface="Arial" pitchFamily="34" charset="-122"/>
                <a:cs typeface="Arial" pitchFamily="34" charset="-120"/>
              </a:rPr>
              <a:t>PRESENTED BY</a:t>
            </a:r>
            <a:endParaRPr lang="en-US" sz="1800" dirty="0"/>
          </a:p>
        </p:txBody>
      </p:sp>
      <p:sp>
        <p:nvSpPr>
          <p:cNvPr id="8" name="Text 6"/>
          <p:cNvSpPr/>
          <p:nvPr/>
        </p:nvSpPr>
        <p:spPr>
          <a:xfrm>
            <a:off x="1047750" y="8482459"/>
            <a:ext cx="4395523" cy="323850"/>
          </a:xfrm>
          <a:prstGeom prst="rect">
            <a:avLst/>
          </a:prstGeom>
          <a:noFill/>
          <a:ln/>
        </p:spPr>
        <p:txBody>
          <a:bodyPr wrap="square" lIns="0" tIns="0" rIns="0" bIns="0" rtlCol="0" anchor="t">
            <a:normAutofit/>
          </a:bodyPr>
          <a:lstStyle/>
          <a:p>
            <a:pPr algn="l" indent="0" marL="0">
              <a:lnSpc>
                <a:spcPct val="160000"/>
              </a:lnSpc>
              <a:buNone/>
            </a:pPr>
            <a:r>
              <a:rPr lang="en-US" sz="1950" dirty="0">
                <a:solidFill>
                  <a:srgbClr val="5D3527"/>
                </a:solidFill>
                <a:latin typeface="Arial" pitchFamily="34" charset="0"/>
                <a:ea typeface="Arial" pitchFamily="34" charset="-122"/>
                <a:cs typeface="Arial" pitchFamily="34" charset="-120"/>
              </a:rPr>
              <a:t>Naman Sudan · Priya Venugopal Nair</a:t>
            </a:r>
            <a:endParaRPr lang="en-US" sz="1950" dirty="0"/>
          </a:p>
        </p:txBody>
      </p:sp>
      <p:sp>
        <p:nvSpPr>
          <p:cNvPr id="9" name="Text 7"/>
          <p:cNvSpPr/>
          <p:nvPr/>
        </p:nvSpPr>
        <p:spPr>
          <a:xfrm>
            <a:off x="1047750" y="8878639"/>
            <a:ext cx="4901236" cy="323850"/>
          </a:xfrm>
          <a:prstGeom prst="rect">
            <a:avLst/>
          </a:prstGeom>
          <a:noFill/>
          <a:ln/>
        </p:spPr>
        <p:txBody>
          <a:bodyPr wrap="square" lIns="0" tIns="0" rIns="0" bIns="0" rtlCol="0" anchor="t">
            <a:normAutofit/>
          </a:bodyPr>
          <a:lstStyle/>
          <a:p>
            <a:pPr algn="l" indent="0" marL="0">
              <a:lnSpc>
                <a:spcPct val="160000"/>
              </a:lnSpc>
              <a:buNone/>
            </a:pPr>
            <a:r>
              <a:rPr lang="en-US" sz="1950" dirty="0">
                <a:solidFill>
                  <a:srgbClr val="5D3527"/>
                </a:solidFill>
                <a:latin typeface="Arial" pitchFamily="34" charset="0"/>
                <a:ea typeface="Arial" pitchFamily="34" charset="-122"/>
                <a:cs typeface="Arial" pitchFamily="34" charset="-120"/>
              </a:rPr>
              <a:t>Sanjana Vivek Phalke · Varuna Vyomessh</a:t>
            </a:r>
            <a:endParaRPr lang="en-US" sz="1950" dirty="0"/>
          </a:p>
        </p:txBody>
      </p:sp>
      <p:sp>
        <p:nvSpPr>
          <p:cNvPr id="10" name="Shape 8"/>
          <p:cNvSpPr/>
          <p:nvPr/>
        </p:nvSpPr>
        <p:spPr>
          <a:xfrm>
            <a:off x="10159901" y="0"/>
            <a:ext cx="8127950" cy="11131897"/>
          </a:xfrm>
          <a:prstGeom prst="rect">
            <a:avLst/>
          </a:prstGeom>
          <a:solidFill>
            <a:srgbClr val="E8DCCB"/>
          </a:solidFill>
          <a:ln/>
        </p:spPr>
      </p:sp>
      <p:sp>
        <p:nvSpPr>
          <p:cNvPr id="11" name="Text 9"/>
          <p:cNvSpPr/>
          <p:nvPr/>
        </p:nvSpPr>
        <p:spPr>
          <a:xfrm>
            <a:off x="16530489" y="571500"/>
            <a:ext cx="1262063" cy="342900"/>
          </a:xfrm>
          <a:prstGeom prst="rect">
            <a:avLst/>
          </a:prstGeom>
          <a:noFill/>
          <a:ln/>
        </p:spPr>
        <p:txBody>
          <a:bodyPr wrap="square" lIns="25400" tIns="25400" rIns="25400" bIns="25400" rtlCol="0" anchor="t">
            <a:normAutofit/>
          </a:bodyPr>
          <a:lstStyle/>
          <a:p>
            <a:pPr algn="l" indent="0" marL="0">
              <a:buNone/>
            </a:pPr>
            <a:r>
              <a:rPr lang="en-US" sz="2100" dirty="0">
                <a:solidFill>
                  <a:srgbClr val="7D4C3D"/>
                </a:solidFill>
                <a:latin typeface="Arial" pitchFamily="34" charset="0"/>
                <a:ea typeface="Arial" pitchFamily="34" charset="-122"/>
                <a:cs typeface="Arial" pitchFamily="34" charset="-120"/>
              </a:rPr>
              <a:t>Starbucks</a:t>
            </a:r>
            <a:endParaRPr lang="en-US" sz="2100" dirty="0"/>
          </a:p>
        </p:txBody>
      </p:sp>
      <p:pic>
        <p:nvPicPr>
          <p:cNvPr id="12" name="Image 0" descr="preencoded.png">    </p:cNvPr>
          <p:cNvPicPr>
            <a:picLocks noChangeAspect="1"/>
          </p:cNvPicPr>
          <p:nvPr/>
        </p:nvPicPr>
        <p:blipFill>
          <a:blip r:embed="rId1"/>
          <a:srcRect l="0" r="0" t="0" b="0"/>
          <a:stretch/>
        </p:blipFill>
        <p:spPr>
          <a:xfrm>
            <a:off x="11371064" y="1224707"/>
            <a:ext cx="5705475" cy="8682484"/>
          </a:xfrm>
          <a:prstGeom prst="rect">
            <a:avLst/>
          </a:prstGeom>
        </p:spPr>
      </p:pic>
      <p:sp>
        <p:nvSpPr>
          <p:cNvPr id="13" name="Text 10"/>
          <p:cNvSpPr/>
          <p:nvPr/>
        </p:nvSpPr>
        <p:spPr>
          <a:xfrm>
            <a:off x="12345293" y="9912697"/>
            <a:ext cx="5532190" cy="304800"/>
          </a:xfrm>
          <a:prstGeom prst="rect">
            <a:avLst/>
          </a:prstGeom>
          <a:noFill/>
          <a:ln/>
        </p:spPr>
        <p:txBody>
          <a:bodyPr wrap="square" lIns="25400" tIns="25400" rIns="25400" bIns="25400" rtlCol="0" anchor="t">
            <a:normAutofit/>
          </a:bodyPr>
          <a:lstStyle/>
          <a:p>
            <a:pPr algn="l" indent="0" marL="0">
              <a:buNone/>
            </a:pPr>
            <a:r>
              <a:rPr lang="en-US" sz="1800" spc="504" kern="0" dirty="0">
                <a:solidFill>
                  <a:srgbClr val="5D3527">
                    <a:alpha val="65000"/>
                  </a:srgbClr>
                </a:solidFill>
                <a:latin typeface="Arial" pitchFamily="34" charset="0"/>
                <a:ea typeface="Arial" pitchFamily="34" charset="-122"/>
                <a:cs typeface="Arial" pitchFamily="34" charset="-120"/>
              </a:rPr>
              <a:t>FINAL SUBMISSION · MAY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5497546"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ONE · THE DATASET</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A behavioral map of 100,000 Starbucks orders.</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Text 3"/>
          <p:cNvSpPr/>
          <p:nvPr/>
        </p:nvSpPr>
        <p:spPr>
          <a:xfrm>
            <a:off x="571500" y="3229868"/>
            <a:ext cx="12753975" cy="390525"/>
          </a:xfrm>
          <a:prstGeom prst="rect">
            <a:avLst/>
          </a:prstGeom>
          <a:noFill/>
          <a:ln/>
        </p:spPr>
        <p:txBody>
          <a:bodyPr wrap="square" lIns="25400" tIns="25400" rIns="25400" bIns="25400" rtlCol="0" anchor="t">
            <a:normAutofit/>
          </a:bodyPr>
          <a:lstStyle/>
          <a:p>
            <a:pPr algn="l" indent="0" marL="0">
              <a:buNone/>
            </a:pPr>
            <a:r>
              <a:rPr lang="en-US" sz="2250" i="1" dirty="0">
                <a:solidFill>
                  <a:srgbClr val="7D4C3D"/>
                </a:solidFill>
                <a:latin typeface="Arial" pitchFamily="34" charset="0"/>
                <a:ea typeface="Arial" pitchFamily="34" charset="-122"/>
                <a:cs typeface="Arial" pitchFamily="34" charset="-120"/>
              </a:rPr>
              <a:t>Why customer spend matters — and what we can ask of this data.</a:t>
            </a:r>
            <a:endParaRPr lang="en-US" sz="2250" dirty="0"/>
          </a:p>
        </p:txBody>
      </p:sp>
      <p:sp>
        <p:nvSpPr>
          <p:cNvPr id="6" name="Shape 4"/>
          <p:cNvSpPr/>
          <p:nvPr/>
        </p:nvSpPr>
        <p:spPr>
          <a:xfrm>
            <a:off x="571500" y="3963293"/>
            <a:ext cx="4711601" cy="2320230"/>
          </a:xfrm>
          <a:prstGeom prst="roundRect">
            <a:avLst>
              <a:gd name="adj" fmla="val 5747"/>
            </a:avLst>
          </a:prstGeom>
          <a:solidFill>
            <a:srgbClr val="E8DCCB"/>
          </a:solidFill>
          <a:ln w="9525">
            <a:solidFill>
              <a:srgbClr val="7D4C3D">
                <a:alpha val="18000"/>
              </a:srgbClr>
            </a:solidFill>
            <a:prstDash val="solid"/>
          </a:ln>
        </p:spPr>
      </p:sp>
      <p:sp>
        <p:nvSpPr>
          <p:cNvPr id="7" name="Text 5"/>
          <p:cNvSpPr/>
          <p:nvPr/>
        </p:nvSpPr>
        <p:spPr>
          <a:xfrm>
            <a:off x="923925" y="4277618"/>
            <a:ext cx="412695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100,000</a:t>
            </a:r>
            <a:endParaRPr lang="en-US" sz="4800" dirty="0"/>
          </a:p>
        </p:txBody>
      </p:sp>
      <p:sp>
        <p:nvSpPr>
          <p:cNvPr id="8" name="Text 6"/>
          <p:cNvSpPr/>
          <p:nvPr/>
        </p:nvSpPr>
        <p:spPr>
          <a:xfrm>
            <a:off x="923925" y="5039618"/>
            <a:ext cx="412695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orders</a:t>
            </a:r>
            <a:endParaRPr lang="en-US" sz="1800" dirty="0"/>
          </a:p>
        </p:txBody>
      </p:sp>
      <p:sp>
        <p:nvSpPr>
          <p:cNvPr id="9" name="Text 7"/>
          <p:cNvSpPr/>
          <p:nvPr/>
        </p:nvSpPr>
        <p:spPr>
          <a:xfrm>
            <a:off x="923925" y="5435798"/>
            <a:ext cx="4126953" cy="5715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Order-level transactions, no missing values</a:t>
            </a:r>
            <a:endParaRPr lang="en-US" sz="1800" dirty="0"/>
          </a:p>
        </p:txBody>
      </p:sp>
      <p:sp>
        <p:nvSpPr>
          <p:cNvPr id="10" name="Shape 8"/>
          <p:cNvSpPr/>
          <p:nvPr/>
        </p:nvSpPr>
        <p:spPr>
          <a:xfrm>
            <a:off x="5549801" y="3963293"/>
            <a:ext cx="4711750" cy="2320230"/>
          </a:xfrm>
          <a:prstGeom prst="roundRect">
            <a:avLst>
              <a:gd name="adj" fmla="val 5747"/>
            </a:avLst>
          </a:prstGeom>
          <a:solidFill>
            <a:srgbClr val="E8DCCB"/>
          </a:solidFill>
          <a:ln w="9525">
            <a:solidFill>
              <a:srgbClr val="7D4C3D">
                <a:alpha val="18000"/>
              </a:srgbClr>
            </a:solidFill>
            <a:prstDash val="solid"/>
          </a:ln>
        </p:spPr>
      </p:sp>
      <p:sp>
        <p:nvSpPr>
          <p:cNvPr id="11" name="Text 9"/>
          <p:cNvSpPr/>
          <p:nvPr/>
        </p:nvSpPr>
        <p:spPr>
          <a:xfrm>
            <a:off x="5902226" y="4277618"/>
            <a:ext cx="412710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14,988</a:t>
            </a:r>
            <a:endParaRPr lang="en-US" sz="4800" dirty="0"/>
          </a:p>
        </p:txBody>
      </p:sp>
      <p:sp>
        <p:nvSpPr>
          <p:cNvPr id="12" name="Text 10"/>
          <p:cNvSpPr/>
          <p:nvPr/>
        </p:nvSpPr>
        <p:spPr>
          <a:xfrm>
            <a:off x="5902226" y="5039618"/>
            <a:ext cx="412710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unique customers</a:t>
            </a:r>
            <a:endParaRPr lang="en-US" sz="1800" dirty="0"/>
          </a:p>
        </p:txBody>
      </p:sp>
      <p:sp>
        <p:nvSpPr>
          <p:cNvPr id="13" name="Text 11"/>
          <p:cNvSpPr/>
          <p:nvPr/>
        </p:nvSpPr>
        <p:spPr>
          <a:xfrm>
            <a:off x="5902226" y="5435798"/>
            <a:ext cx="412710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Repeat-purchase history captured</a:t>
            </a:r>
            <a:endParaRPr lang="en-US" sz="1800" dirty="0"/>
          </a:p>
        </p:txBody>
      </p:sp>
      <p:sp>
        <p:nvSpPr>
          <p:cNvPr id="14" name="Shape 12"/>
          <p:cNvSpPr/>
          <p:nvPr/>
        </p:nvSpPr>
        <p:spPr>
          <a:xfrm>
            <a:off x="571500" y="6550223"/>
            <a:ext cx="4711601" cy="2320230"/>
          </a:xfrm>
          <a:prstGeom prst="roundRect">
            <a:avLst>
              <a:gd name="adj" fmla="val 5747"/>
            </a:avLst>
          </a:prstGeom>
          <a:solidFill>
            <a:srgbClr val="E8DCCB"/>
          </a:solidFill>
          <a:ln w="9525">
            <a:solidFill>
              <a:srgbClr val="7D4C3D">
                <a:alpha val="18000"/>
              </a:srgbClr>
            </a:solidFill>
            <a:prstDash val="solid"/>
          </a:ln>
        </p:spPr>
      </p:sp>
      <p:sp>
        <p:nvSpPr>
          <p:cNvPr id="15" name="Text 13"/>
          <p:cNvSpPr/>
          <p:nvPr/>
        </p:nvSpPr>
        <p:spPr>
          <a:xfrm>
            <a:off x="923925" y="6864548"/>
            <a:ext cx="412695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500</a:t>
            </a:r>
            <a:endParaRPr lang="en-US" sz="4800" dirty="0"/>
          </a:p>
        </p:txBody>
      </p:sp>
      <p:sp>
        <p:nvSpPr>
          <p:cNvPr id="16" name="Text 14"/>
          <p:cNvSpPr/>
          <p:nvPr/>
        </p:nvSpPr>
        <p:spPr>
          <a:xfrm>
            <a:off x="923925" y="7626548"/>
            <a:ext cx="412695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stores</a:t>
            </a:r>
            <a:endParaRPr lang="en-US" sz="1800" dirty="0"/>
          </a:p>
        </p:txBody>
      </p:sp>
      <p:sp>
        <p:nvSpPr>
          <p:cNvPr id="17" name="Text 15"/>
          <p:cNvSpPr/>
          <p:nvPr/>
        </p:nvSpPr>
        <p:spPr>
          <a:xfrm>
            <a:off x="923925" y="8022729"/>
            <a:ext cx="412695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Urban, suburban &amp; rural locations</a:t>
            </a:r>
            <a:endParaRPr lang="en-US" sz="1800" dirty="0"/>
          </a:p>
        </p:txBody>
      </p:sp>
      <p:sp>
        <p:nvSpPr>
          <p:cNvPr id="18" name="Shape 16"/>
          <p:cNvSpPr/>
          <p:nvPr/>
        </p:nvSpPr>
        <p:spPr>
          <a:xfrm>
            <a:off x="5549801" y="6550223"/>
            <a:ext cx="4711750" cy="2320230"/>
          </a:xfrm>
          <a:prstGeom prst="roundRect">
            <a:avLst>
              <a:gd name="adj" fmla="val 5747"/>
            </a:avLst>
          </a:prstGeom>
          <a:solidFill>
            <a:srgbClr val="E8DCCB"/>
          </a:solidFill>
          <a:ln w="9525">
            <a:solidFill>
              <a:srgbClr val="7D4C3D">
                <a:alpha val="18000"/>
              </a:srgbClr>
            </a:solidFill>
            <a:prstDash val="solid"/>
          </a:ln>
        </p:spPr>
      </p:sp>
      <p:sp>
        <p:nvSpPr>
          <p:cNvPr id="19" name="Text 17"/>
          <p:cNvSpPr/>
          <p:nvPr/>
        </p:nvSpPr>
        <p:spPr>
          <a:xfrm>
            <a:off x="5902226" y="6864548"/>
            <a:ext cx="412710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20</a:t>
            </a:r>
            <a:endParaRPr lang="en-US" sz="4800" dirty="0"/>
          </a:p>
        </p:txBody>
      </p:sp>
      <p:sp>
        <p:nvSpPr>
          <p:cNvPr id="20" name="Text 18"/>
          <p:cNvSpPr/>
          <p:nvPr/>
        </p:nvSpPr>
        <p:spPr>
          <a:xfrm>
            <a:off x="5902226" y="7626548"/>
            <a:ext cx="412710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variables</a:t>
            </a:r>
            <a:endParaRPr lang="en-US" sz="1800" dirty="0"/>
          </a:p>
        </p:txBody>
      </p:sp>
      <p:sp>
        <p:nvSpPr>
          <p:cNvPr id="21" name="Text 19"/>
          <p:cNvSpPr/>
          <p:nvPr/>
        </p:nvSpPr>
        <p:spPr>
          <a:xfrm>
            <a:off x="5902226" y="8022729"/>
            <a:ext cx="4127107" cy="5715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Channel, cart, customizations, satisfaction…</a:t>
            </a:r>
            <a:endParaRPr lang="en-US" sz="1800" dirty="0"/>
          </a:p>
        </p:txBody>
      </p:sp>
      <p:sp>
        <p:nvSpPr>
          <p:cNvPr id="22" name="Shape 20"/>
          <p:cNvSpPr/>
          <p:nvPr/>
        </p:nvSpPr>
        <p:spPr>
          <a:xfrm>
            <a:off x="10794950" y="4039493"/>
            <a:ext cx="3054102" cy="390525"/>
          </a:xfrm>
          <a:prstGeom prst="roundRect">
            <a:avLst>
              <a:gd name="adj" fmla="val 50000"/>
            </a:avLst>
          </a:prstGeom>
          <a:solidFill>
            <a:srgbClr val="7D4C3D"/>
          </a:solidFill>
          <a:ln/>
        </p:spPr>
      </p:sp>
      <p:sp>
        <p:nvSpPr>
          <p:cNvPr id="23" name="Text 21"/>
          <p:cNvSpPr/>
          <p:nvPr/>
        </p:nvSpPr>
        <p:spPr>
          <a:xfrm>
            <a:off x="10947350" y="4096643"/>
            <a:ext cx="2840925" cy="314325"/>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FAF8ED"/>
                </a:solidFill>
                <a:latin typeface="Arial" pitchFamily="34" charset="0"/>
                <a:ea typeface="Arial" pitchFamily="34" charset="-122"/>
                <a:cs typeface="Arial" pitchFamily="34" charset="-120"/>
              </a:rPr>
              <a:t>WHY THIS MATTERS</a:t>
            </a:r>
            <a:endParaRPr lang="en-US" sz="1800" dirty="0"/>
          </a:p>
        </p:txBody>
      </p:sp>
      <p:sp>
        <p:nvSpPr>
          <p:cNvPr id="24" name="Text 22"/>
          <p:cNvSpPr/>
          <p:nvPr/>
        </p:nvSpPr>
        <p:spPr>
          <a:xfrm>
            <a:off x="10794950" y="4658618"/>
            <a:ext cx="7129043"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Spend per order is the single revenue lever that ties together channel strategy, loyalty design, and the in-store experience.</a:t>
            </a:r>
            <a:endParaRPr lang="en-US" sz="1950" dirty="0"/>
          </a:p>
        </p:txBody>
      </p:sp>
      <p:sp>
        <p:nvSpPr>
          <p:cNvPr id="25" name="Text 23"/>
          <p:cNvSpPr/>
          <p:nvPr/>
        </p:nvSpPr>
        <p:spPr>
          <a:xfrm>
            <a:off x="10794950" y="5673923"/>
            <a:ext cx="7129043" cy="1199108"/>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With zero missing values and twenty rich behavioral variables, this dataset lets us go beyond averages to ask what actually </a:t>
            </a:r>
            <a:pPr algn="l" indent="0" marL="0">
              <a:lnSpc>
                <a:spcPct val="155000"/>
              </a:lnSpc>
              <a:buNone/>
            </a:pPr>
            <a:r>
              <a:rPr lang="en-US" sz="1950" i="1" dirty="0">
                <a:solidFill>
                  <a:srgbClr val="7D4C3D"/>
                </a:solidFill>
                <a:latin typeface="Arial" pitchFamily="34" charset="0"/>
                <a:ea typeface="Arial" pitchFamily="34" charset="-122"/>
                <a:cs typeface="Arial" pitchFamily="34" charset="-120"/>
              </a:rPr>
              <a:t>drives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a higher ticket.</a:t>
            </a:r>
            <a:endParaRPr lang="en-US" sz="1950" dirty="0"/>
          </a:p>
        </p:txBody>
      </p:sp>
      <p:sp>
        <p:nvSpPr>
          <p:cNvPr id="26" name="Text 24"/>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27" name="Text 25"/>
          <p:cNvSpPr/>
          <p:nvPr/>
        </p:nvSpPr>
        <p:spPr>
          <a:xfrm>
            <a:off x="571500" y="9591675"/>
            <a:ext cx="1097905"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02 / 16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BCBBB"/>
        </a:solidFill>
      </p:bgPr>
    </p:bg>
    <p:spTree>
      <p:nvGrpSpPr>
        <p:cNvPr id="1" name=""/>
        <p:cNvGrpSpPr/>
        <p:nvPr/>
      </p:nvGrpSpPr>
      <p:grpSpPr>
        <a:xfrm>
          <a:off x="0" y="0"/>
          <a:ext cx="0" cy="0"/>
          <a:chOff x="0" y="0"/>
          <a:chExt cx="0" cy="0"/>
        </a:xfrm>
      </p:grpSpPr>
      <p:sp>
        <p:nvSpPr>
          <p:cNvPr id="2" name="Text 0"/>
          <p:cNvSpPr/>
          <p:nvPr/>
        </p:nvSpPr>
        <p:spPr>
          <a:xfrm>
            <a:off x="1143000" y="1143000"/>
            <a:ext cx="5786810"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5D3527">
                    <a:alpha val="70000"/>
                  </a:srgbClr>
                </a:solidFill>
                <a:latin typeface="Arial" pitchFamily="34" charset="0"/>
                <a:ea typeface="Arial" pitchFamily="34" charset="-122"/>
                <a:cs typeface="Arial" pitchFamily="34" charset="-120"/>
              </a:rPr>
              <a:t>CHAPTER TWO · THE QUESTION</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What factors drive customer spending at Starbucks?</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Text 3"/>
          <p:cNvSpPr/>
          <p:nvPr/>
        </p:nvSpPr>
        <p:spPr>
          <a:xfrm>
            <a:off x="571500" y="3229868"/>
            <a:ext cx="12753975" cy="390525"/>
          </a:xfrm>
          <a:prstGeom prst="rect">
            <a:avLst/>
          </a:prstGeom>
          <a:noFill/>
          <a:ln/>
        </p:spPr>
        <p:txBody>
          <a:bodyPr wrap="square" lIns="25400" tIns="25400" rIns="25400" bIns="25400" rtlCol="0" anchor="t">
            <a:normAutofit/>
          </a:bodyPr>
          <a:lstStyle/>
          <a:p>
            <a:pPr algn="l" indent="0" marL="0">
              <a:buNone/>
            </a:pPr>
            <a:r>
              <a:rPr lang="en-US" sz="2250" i="1" dirty="0">
                <a:solidFill>
                  <a:srgbClr val="7D4C3D"/>
                </a:solidFill>
                <a:latin typeface="Arial" pitchFamily="34" charset="0"/>
                <a:ea typeface="Arial" pitchFamily="34" charset="-122"/>
                <a:cs typeface="Arial" pitchFamily="34" charset="-120"/>
              </a:rPr>
              <a:t>A central question, broken into five DATA 202 lenses.</a:t>
            </a:r>
            <a:endParaRPr lang="en-US" sz="2250" dirty="0"/>
          </a:p>
        </p:txBody>
      </p:sp>
      <p:sp>
        <p:nvSpPr>
          <p:cNvPr id="6" name="Text 4"/>
          <p:cNvSpPr/>
          <p:nvPr/>
        </p:nvSpPr>
        <p:spPr>
          <a:xfrm>
            <a:off x="1276350" y="4115693"/>
            <a:ext cx="77112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Which segments spend more?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Channel, rewards, age, store type.</a:t>
            </a:r>
            <a:endParaRPr lang="en-US" sz="1800" dirty="0"/>
          </a:p>
        </p:txBody>
      </p:sp>
      <p:sp>
        <p:nvSpPr>
          <p:cNvPr id="7" name="Text 5"/>
          <p:cNvSpPr/>
          <p:nvPr/>
        </p:nvSpPr>
        <p:spPr>
          <a:xfrm>
            <a:off x="10229850" y="4115693"/>
            <a:ext cx="77112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How do cart size and customizations relate to spend?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Correlation &amp; covariance.</a:t>
            </a:r>
            <a:endParaRPr lang="en-US" sz="1800" dirty="0"/>
          </a:p>
        </p:txBody>
      </p:sp>
      <p:sp>
        <p:nvSpPr>
          <p:cNvPr id="8" name="Text 6"/>
          <p:cNvSpPr/>
          <p:nvPr/>
        </p:nvSpPr>
        <p:spPr>
          <a:xfrm>
            <a:off x="1276350" y="5315843"/>
            <a:ext cx="77112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Are Mobile and Rewards differences statistically real?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Two-sample &amp; paired tests.</a:t>
            </a:r>
            <a:endParaRPr lang="en-US" sz="1800" dirty="0"/>
          </a:p>
        </p:txBody>
      </p:sp>
      <p:sp>
        <p:nvSpPr>
          <p:cNvPr id="9" name="Text 7"/>
          <p:cNvSpPr/>
          <p:nvPr/>
        </p:nvSpPr>
        <p:spPr>
          <a:xfrm>
            <a:off x="10229850" y="5315843"/>
            <a:ext cx="77112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How likely are high-spender orders — and who places them?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Probability &amp; Bayes.</a:t>
            </a:r>
            <a:endParaRPr lang="en-US" sz="1800" dirty="0"/>
          </a:p>
        </p:txBody>
      </p:sp>
      <p:sp>
        <p:nvSpPr>
          <p:cNvPr id="10" name="Text 8"/>
          <p:cNvSpPr/>
          <p:nvPr/>
        </p:nvSpPr>
        <p:spPr>
          <a:xfrm>
            <a:off x="1276350" y="6515993"/>
            <a:ext cx="77112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Can linear algebra and optimization model spend?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Normal equations &amp; gradient descent.</a:t>
            </a:r>
            <a:endParaRPr lang="en-US" sz="1800" dirty="0"/>
          </a:p>
        </p:txBody>
      </p:sp>
      <p:sp>
        <p:nvSpPr>
          <p:cNvPr id="11" name="Text 9"/>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5D3527">
                    <a:alpha val="85000"/>
                  </a:srgbClr>
                </a:solidFill>
                <a:latin typeface="Arial" pitchFamily="34" charset="0"/>
                <a:ea typeface="Arial" pitchFamily="34" charset="-122"/>
                <a:cs typeface="Arial" pitchFamily="34" charset="-120"/>
              </a:rPr>
              <a:t>Starbucks</a:t>
            </a:r>
            <a:endParaRPr lang="en-US" sz="1950" dirty="0"/>
          </a:p>
        </p:txBody>
      </p:sp>
      <p:sp>
        <p:nvSpPr>
          <p:cNvPr id="12" name="Text 10"/>
          <p:cNvSpPr/>
          <p:nvPr/>
        </p:nvSpPr>
        <p:spPr>
          <a:xfrm>
            <a:off x="571500" y="9591675"/>
            <a:ext cx="1100286"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03 / 16</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6848363"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THREE · DATA EXPLORATION</a:t>
            </a:r>
            <a:endParaRPr lang="en-US" sz="1800" dirty="0"/>
          </a:p>
        </p:txBody>
      </p:sp>
      <p:sp>
        <p:nvSpPr>
          <p:cNvPr id="3" name="Text 1"/>
          <p:cNvSpPr/>
          <p:nvPr/>
        </p:nvSpPr>
        <p:spPr>
          <a:xfrm>
            <a:off x="571500" y="1524000"/>
            <a:ext cx="14716125"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The shape of an average order.</a:t>
            </a:r>
            <a:endParaRPr lang="en-US" sz="4800" dirty="0"/>
          </a:p>
        </p:txBody>
      </p:sp>
      <p:sp>
        <p:nvSpPr>
          <p:cNvPr id="4" name="Shape 2"/>
          <p:cNvSpPr/>
          <p:nvPr/>
        </p:nvSpPr>
        <p:spPr>
          <a:xfrm>
            <a:off x="571500" y="2310259"/>
            <a:ext cx="762000" cy="19050"/>
          </a:xfrm>
          <a:prstGeom prst="rect">
            <a:avLst/>
          </a:prstGeom>
          <a:solidFill>
            <a:srgbClr val="7D4C3D"/>
          </a:solidFill>
          <a:ln/>
        </p:spPr>
      </p:sp>
      <p:sp>
        <p:nvSpPr>
          <p:cNvPr id="5" name="Shape 3"/>
          <p:cNvSpPr/>
          <p:nvPr/>
        </p:nvSpPr>
        <p:spPr>
          <a:xfrm>
            <a:off x="571500" y="3223766"/>
            <a:ext cx="4019550" cy="1710630"/>
          </a:xfrm>
          <a:prstGeom prst="roundRect">
            <a:avLst>
              <a:gd name="adj" fmla="val 7795"/>
            </a:avLst>
          </a:prstGeom>
          <a:solidFill>
            <a:srgbClr val="E8DCCB"/>
          </a:solidFill>
          <a:ln w="9525">
            <a:solidFill>
              <a:srgbClr val="7D4C3D">
                <a:alpha val="18000"/>
              </a:srgbClr>
            </a:solidFill>
            <a:prstDash val="solid"/>
          </a:ln>
        </p:spPr>
      </p:sp>
      <p:sp>
        <p:nvSpPr>
          <p:cNvPr id="6" name="Text 4"/>
          <p:cNvSpPr/>
          <p:nvPr/>
        </p:nvSpPr>
        <p:spPr>
          <a:xfrm>
            <a:off x="923925" y="3538091"/>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$14.87</a:t>
            </a:r>
            <a:endParaRPr lang="en-US" sz="4800" dirty="0"/>
          </a:p>
        </p:txBody>
      </p:sp>
      <p:sp>
        <p:nvSpPr>
          <p:cNvPr id="7" name="Text 5"/>
          <p:cNvSpPr/>
          <p:nvPr/>
        </p:nvSpPr>
        <p:spPr>
          <a:xfrm>
            <a:off x="923925" y="4300091"/>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mean total_spend</a:t>
            </a:r>
            <a:endParaRPr lang="en-US" sz="1800" dirty="0"/>
          </a:p>
        </p:txBody>
      </p:sp>
      <p:sp>
        <p:nvSpPr>
          <p:cNvPr id="8" name="Shape 6"/>
          <p:cNvSpPr/>
          <p:nvPr/>
        </p:nvSpPr>
        <p:spPr>
          <a:xfrm>
            <a:off x="4857750" y="3223766"/>
            <a:ext cx="4019550" cy="1710630"/>
          </a:xfrm>
          <a:prstGeom prst="roundRect">
            <a:avLst>
              <a:gd name="adj" fmla="val 7795"/>
            </a:avLst>
          </a:prstGeom>
          <a:solidFill>
            <a:srgbClr val="E8DCCB"/>
          </a:solidFill>
          <a:ln w="9525">
            <a:solidFill>
              <a:srgbClr val="7D4C3D">
                <a:alpha val="18000"/>
              </a:srgbClr>
            </a:solidFill>
            <a:prstDash val="solid"/>
          </a:ln>
        </p:spPr>
      </p:sp>
      <p:sp>
        <p:nvSpPr>
          <p:cNvPr id="9" name="Text 7"/>
          <p:cNvSpPr/>
          <p:nvPr/>
        </p:nvSpPr>
        <p:spPr>
          <a:xfrm>
            <a:off x="5210175" y="3538091"/>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$14.17</a:t>
            </a:r>
            <a:endParaRPr lang="en-US" sz="4800" dirty="0"/>
          </a:p>
        </p:txBody>
      </p:sp>
      <p:sp>
        <p:nvSpPr>
          <p:cNvPr id="10" name="Text 8"/>
          <p:cNvSpPr/>
          <p:nvPr/>
        </p:nvSpPr>
        <p:spPr>
          <a:xfrm>
            <a:off x="5210175" y="4300091"/>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median</a:t>
            </a:r>
            <a:endParaRPr lang="en-US" sz="1800" dirty="0"/>
          </a:p>
        </p:txBody>
      </p:sp>
      <p:sp>
        <p:nvSpPr>
          <p:cNvPr id="11" name="Shape 9"/>
          <p:cNvSpPr/>
          <p:nvPr/>
        </p:nvSpPr>
        <p:spPr>
          <a:xfrm>
            <a:off x="571500" y="5201096"/>
            <a:ext cx="4019550" cy="1710630"/>
          </a:xfrm>
          <a:prstGeom prst="roundRect">
            <a:avLst>
              <a:gd name="adj" fmla="val 7795"/>
            </a:avLst>
          </a:prstGeom>
          <a:solidFill>
            <a:srgbClr val="E8DCCB"/>
          </a:solidFill>
          <a:ln w="9525">
            <a:solidFill>
              <a:srgbClr val="7D4C3D">
                <a:alpha val="18000"/>
              </a:srgbClr>
            </a:solidFill>
            <a:prstDash val="solid"/>
          </a:ln>
        </p:spPr>
      </p:sp>
      <p:sp>
        <p:nvSpPr>
          <p:cNvPr id="12" name="Text 10"/>
          <p:cNvSpPr/>
          <p:nvPr/>
        </p:nvSpPr>
        <p:spPr>
          <a:xfrm>
            <a:off x="923925" y="5515421"/>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$5.51</a:t>
            </a:r>
            <a:endParaRPr lang="en-US" sz="4800" dirty="0"/>
          </a:p>
        </p:txBody>
      </p:sp>
      <p:sp>
        <p:nvSpPr>
          <p:cNvPr id="13" name="Text 11"/>
          <p:cNvSpPr/>
          <p:nvPr/>
        </p:nvSpPr>
        <p:spPr>
          <a:xfrm>
            <a:off x="923925" y="6277421"/>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std. deviation</a:t>
            </a:r>
            <a:endParaRPr lang="en-US" sz="1800" dirty="0"/>
          </a:p>
        </p:txBody>
      </p:sp>
      <p:sp>
        <p:nvSpPr>
          <p:cNvPr id="14" name="Shape 12"/>
          <p:cNvSpPr/>
          <p:nvPr/>
        </p:nvSpPr>
        <p:spPr>
          <a:xfrm>
            <a:off x="4857750" y="5201096"/>
            <a:ext cx="4019550" cy="1710630"/>
          </a:xfrm>
          <a:prstGeom prst="roundRect">
            <a:avLst>
              <a:gd name="adj" fmla="val 7795"/>
            </a:avLst>
          </a:prstGeom>
          <a:solidFill>
            <a:srgbClr val="E8DCCB"/>
          </a:solidFill>
          <a:ln w="9525">
            <a:solidFill>
              <a:srgbClr val="7D4C3D">
                <a:alpha val="18000"/>
              </a:srgbClr>
            </a:solidFill>
            <a:prstDash val="solid"/>
          </a:ln>
        </p:spPr>
      </p:sp>
      <p:sp>
        <p:nvSpPr>
          <p:cNvPr id="15" name="Text 13"/>
          <p:cNvSpPr/>
          <p:nvPr/>
        </p:nvSpPr>
        <p:spPr>
          <a:xfrm>
            <a:off x="5210175" y="5515421"/>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$7.34</a:t>
            </a:r>
            <a:endParaRPr lang="en-US" sz="4800" dirty="0"/>
          </a:p>
        </p:txBody>
      </p:sp>
      <p:sp>
        <p:nvSpPr>
          <p:cNvPr id="16" name="Text 14"/>
          <p:cNvSpPr/>
          <p:nvPr/>
        </p:nvSpPr>
        <p:spPr>
          <a:xfrm>
            <a:off x="5210175" y="6277421"/>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interquartile range</a:t>
            </a:r>
            <a:endParaRPr lang="en-US" sz="1800" dirty="0"/>
          </a:p>
        </p:txBody>
      </p:sp>
      <p:sp>
        <p:nvSpPr>
          <p:cNvPr id="17" name="Text 15"/>
          <p:cNvSpPr/>
          <p:nvPr/>
        </p:nvSpPr>
        <p:spPr>
          <a:xfrm>
            <a:off x="571500" y="7140327"/>
            <a:ext cx="8554974" cy="333375"/>
          </a:xfrm>
          <a:prstGeom prst="rect">
            <a:avLst/>
          </a:prstGeom>
          <a:noFill/>
          <a:ln/>
        </p:spPr>
        <p:txBody>
          <a:bodyPr wrap="square" lIns="25400" tIns="25400" rIns="25400" bIns="25400" rtlCol="0" anchor="t">
            <a:normAutofit/>
          </a:bodyPr>
          <a:lstStyle/>
          <a:p>
            <a:pPr algn="l" indent="0" marL="0">
              <a:buNone/>
            </a:pPr>
            <a:r>
              <a:rPr lang="en-US" sz="1950" i="1" dirty="0">
                <a:solidFill>
                  <a:srgbClr val="7D4C3D"/>
                </a:solidFill>
                <a:latin typeface="Arial" pitchFamily="34" charset="0"/>
                <a:ea typeface="Arial" pitchFamily="34" charset="-122"/>
                <a:cs typeface="Arial" pitchFamily="34" charset="-120"/>
              </a:rPr>
              <a:t>Outliers above $29.19 · just 1.42% of orders.</a:t>
            </a:r>
            <a:endParaRPr lang="en-US" sz="1950" dirty="0"/>
          </a:p>
        </p:txBody>
      </p:sp>
      <p:sp>
        <p:nvSpPr>
          <p:cNvPr id="18" name="Shape 16"/>
          <p:cNvSpPr/>
          <p:nvPr/>
        </p:nvSpPr>
        <p:spPr>
          <a:xfrm>
            <a:off x="9410700" y="2615059"/>
            <a:ext cx="3961656" cy="390525"/>
          </a:xfrm>
          <a:prstGeom prst="roundRect">
            <a:avLst>
              <a:gd name="adj" fmla="val 50000"/>
            </a:avLst>
          </a:prstGeom>
          <a:solidFill>
            <a:srgbClr val="1E5631"/>
          </a:solidFill>
          <a:ln/>
        </p:spPr>
      </p:sp>
      <p:sp>
        <p:nvSpPr>
          <p:cNvPr id="19" name="Text 17"/>
          <p:cNvSpPr/>
          <p:nvPr/>
        </p:nvSpPr>
        <p:spPr>
          <a:xfrm>
            <a:off x="9563100" y="2672209"/>
            <a:ext cx="3775706" cy="314325"/>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FAF8ED"/>
                </a:solidFill>
                <a:latin typeface="Arial" pitchFamily="34" charset="0"/>
                <a:ea typeface="Arial" pitchFamily="34" charset="-122"/>
                <a:cs typeface="Arial" pitchFamily="34" charset="-120"/>
              </a:rPr>
              <a:t>MEAN SPEND BY SEGMENT</a:t>
            </a:r>
            <a:endParaRPr lang="en-US" sz="1800" dirty="0"/>
          </a:p>
        </p:txBody>
      </p:sp>
      <p:sp>
        <p:nvSpPr>
          <p:cNvPr id="20" name="Shape 18"/>
          <p:cNvSpPr/>
          <p:nvPr/>
        </p:nvSpPr>
        <p:spPr>
          <a:xfrm>
            <a:off x="9410700" y="3177034"/>
            <a:ext cx="4500414" cy="619125"/>
          </a:xfrm>
          <a:prstGeom prst="roundRect">
            <a:avLst>
              <a:gd name="adj" fmla="val 18462"/>
            </a:avLst>
          </a:prstGeom>
          <a:solidFill>
            <a:srgbClr val="7D4C3D"/>
          </a:solidFill>
          <a:ln/>
        </p:spPr>
      </p:sp>
      <p:sp>
        <p:nvSpPr>
          <p:cNvPr id="21" name="Text 19"/>
          <p:cNvSpPr/>
          <p:nvPr/>
        </p:nvSpPr>
        <p:spPr>
          <a:xfrm>
            <a:off x="9639300" y="3348484"/>
            <a:ext cx="4178226" cy="314325"/>
          </a:xfrm>
          <a:prstGeom prst="rect">
            <a:avLst/>
          </a:prstGeom>
          <a:noFill/>
          <a:ln/>
        </p:spPr>
        <p:txBody>
          <a:bodyPr wrap="square" lIns="25400" tIns="25400" rIns="25400" bIns="25400" rtlCol="0" anchor="ctr">
            <a:normAutofit/>
          </a:bodyPr>
          <a:lstStyle/>
          <a:p>
            <a:pPr algn="l" indent="0" marL="0">
              <a:buNone/>
            </a:pPr>
            <a:r>
              <a:rPr lang="en-US" sz="1800" b="1" spc="72" kern="0" dirty="0">
                <a:solidFill>
                  <a:srgbClr val="FAF8ED"/>
                </a:solidFill>
                <a:latin typeface="Arial" pitchFamily="34" charset="0"/>
                <a:ea typeface="Arial" pitchFamily="34" charset="-122"/>
                <a:cs typeface="Arial" pitchFamily="34" charset="-120"/>
              </a:rPr>
              <a:t>Segment</a:t>
            </a:r>
            <a:endParaRPr lang="en-US" sz="1800" dirty="0"/>
          </a:p>
        </p:txBody>
      </p:sp>
      <p:sp>
        <p:nvSpPr>
          <p:cNvPr id="22" name="Shape 20"/>
          <p:cNvSpPr/>
          <p:nvPr/>
        </p:nvSpPr>
        <p:spPr>
          <a:xfrm>
            <a:off x="13911114" y="3177034"/>
            <a:ext cx="3805386" cy="619125"/>
          </a:xfrm>
          <a:prstGeom prst="rect">
            <a:avLst/>
          </a:prstGeom>
          <a:solidFill>
            <a:srgbClr val="7D4C3D"/>
          </a:solidFill>
          <a:ln/>
        </p:spPr>
      </p:sp>
      <p:sp>
        <p:nvSpPr>
          <p:cNvPr id="23" name="Text 21"/>
          <p:cNvSpPr/>
          <p:nvPr/>
        </p:nvSpPr>
        <p:spPr>
          <a:xfrm>
            <a:off x="14025552" y="3348484"/>
            <a:ext cx="3462348" cy="314325"/>
          </a:xfrm>
          <a:prstGeom prst="rect">
            <a:avLst/>
          </a:prstGeom>
          <a:noFill/>
          <a:ln/>
        </p:spPr>
        <p:txBody>
          <a:bodyPr wrap="square" lIns="25400" tIns="25400" rIns="25400" bIns="25400" rtlCol="0" anchor="ctr">
            <a:normAutofit/>
          </a:bodyPr>
          <a:lstStyle/>
          <a:p>
            <a:pPr algn="r" indent="0" marL="0">
              <a:buNone/>
            </a:pPr>
            <a:r>
              <a:rPr lang="en-US" sz="1800" b="1" spc="72" kern="0" dirty="0">
                <a:solidFill>
                  <a:srgbClr val="FAF8ED"/>
                </a:solidFill>
                <a:latin typeface="Arial" pitchFamily="34" charset="0"/>
                <a:ea typeface="Arial" pitchFamily="34" charset="-122"/>
                <a:cs typeface="Arial" pitchFamily="34" charset="-120"/>
              </a:rPr>
              <a:t>Mean spend</a:t>
            </a:r>
            <a:endParaRPr lang="en-US" sz="1800" dirty="0"/>
          </a:p>
        </p:txBody>
      </p:sp>
      <p:sp>
        <p:nvSpPr>
          <p:cNvPr id="24" name="Shape 22"/>
          <p:cNvSpPr/>
          <p:nvPr/>
        </p:nvSpPr>
        <p:spPr>
          <a:xfrm>
            <a:off x="9410700" y="3796159"/>
            <a:ext cx="4500414" cy="623888"/>
          </a:xfrm>
          <a:prstGeom prst="rect">
            <a:avLst/>
          </a:prstGeom>
          <a:solidFill>
            <a:srgbClr val="FFFDF7">
              <a:alpha val="55000"/>
            </a:srgbClr>
          </a:solidFill>
          <a:ln/>
        </p:spPr>
      </p:sp>
      <p:sp>
        <p:nvSpPr>
          <p:cNvPr id="25" name="Shape 23"/>
          <p:cNvSpPr/>
          <p:nvPr/>
        </p:nvSpPr>
        <p:spPr>
          <a:xfrm>
            <a:off x="9410700" y="4410521"/>
            <a:ext cx="4500414" cy="9525"/>
          </a:xfrm>
          <a:prstGeom prst="rect">
            <a:avLst/>
          </a:prstGeom>
          <a:solidFill>
            <a:srgbClr val="7D4C3D">
              <a:alpha val="18000"/>
            </a:srgbClr>
          </a:solidFill>
          <a:ln/>
        </p:spPr>
      </p:sp>
      <p:sp>
        <p:nvSpPr>
          <p:cNvPr id="26" name="Text 24"/>
          <p:cNvSpPr/>
          <p:nvPr/>
        </p:nvSpPr>
        <p:spPr>
          <a:xfrm>
            <a:off x="9639300" y="3967609"/>
            <a:ext cx="4178226" cy="309562"/>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Mobile App</a:t>
            </a:r>
            <a:endParaRPr lang="en-US" sz="1800" dirty="0"/>
          </a:p>
        </p:txBody>
      </p:sp>
      <p:sp>
        <p:nvSpPr>
          <p:cNvPr id="27" name="Shape 25"/>
          <p:cNvSpPr/>
          <p:nvPr/>
        </p:nvSpPr>
        <p:spPr>
          <a:xfrm>
            <a:off x="13911114" y="3796159"/>
            <a:ext cx="3805386" cy="623888"/>
          </a:xfrm>
          <a:prstGeom prst="rect">
            <a:avLst/>
          </a:prstGeom>
          <a:solidFill>
            <a:srgbClr val="FFFDF7">
              <a:alpha val="55000"/>
            </a:srgbClr>
          </a:solidFill>
          <a:ln/>
        </p:spPr>
      </p:sp>
      <p:sp>
        <p:nvSpPr>
          <p:cNvPr id="28" name="Shape 26"/>
          <p:cNvSpPr/>
          <p:nvPr/>
        </p:nvSpPr>
        <p:spPr>
          <a:xfrm>
            <a:off x="13911114" y="4410521"/>
            <a:ext cx="3805386" cy="9525"/>
          </a:xfrm>
          <a:prstGeom prst="rect">
            <a:avLst/>
          </a:prstGeom>
          <a:solidFill>
            <a:srgbClr val="7D4C3D">
              <a:alpha val="18000"/>
            </a:srgbClr>
          </a:solidFill>
          <a:ln/>
        </p:spPr>
      </p:sp>
      <p:sp>
        <p:nvSpPr>
          <p:cNvPr id="29" name="Text 27"/>
          <p:cNvSpPr/>
          <p:nvPr/>
        </p:nvSpPr>
        <p:spPr>
          <a:xfrm>
            <a:off x="14025552" y="3967609"/>
            <a:ext cx="3462348" cy="309562"/>
          </a:xfrm>
          <a:prstGeom prst="rect">
            <a:avLst/>
          </a:prstGeom>
          <a:noFill/>
          <a:ln/>
        </p:spPr>
        <p:txBody>
          <a:bodyPr wrap="square" lIns="25400" tIns="25400" rIns="25400" bIns="25400" rtlCol="0" anchor="ctr">
            <a:normAutofit/>
          </a:bodyPr>
          <a:lstStyle/>
          <a:p>
            <a:pPr algn="r" indent="0" marL="0">
              <a:buNone/>
            </a:pPr>
            <a:r>
              <a:rPr lang="en-US" sz="1800" b="1" dirty="0">
                <a:solidFill>
                  <a:srgbClr val="1E5631"/>
                </a:solidFill>
                <a:latin typeface="Arial" pitchFamily="34" charset="0"/>
                <a:ea typeface="Arial" pitchFamily="34" charset="-122"/>
                <a:cs typeface="Arial" pitchFamily="34" charset="-120"/>
              </a:rPr>
              <a:t>$18.08</a:t>
            </a:r>
            <a:endParaRPr lang="en-US" sz="1800" dirty="0"/>
          </a:p>
        </p:txBody>
      </p:sp>
      <p:sp>
        <p:nvSpPr>
          <p:cNvPr id="30" name="Shape 28"/>
          <p:cNvSpPr/>
          <p:nvPr/>
        </p:nvSpPr>
        <p:spPr>
          <a:xfrm>
            <a:off x="9410700" y="4420046"/>
            <a:ext cx="4500414" cy="628650"/>
          </a:xfrm>
          <a:prstGeom prst="rect">
            <a:avLst/>
          </a:prstGeom>
          <a:solidFill>
            <a:srgbClr val="E8DCCB"/>
          </a:solidFill>
          <a:ln/>
        </p:spPr>
      </p:sp>
      <p:sp>
        <p:nvSpPr>
          <p:cNvPr id="31" name="Shape 29"/>
          <p:cNvSpPr/>
          <p:nvPr/>
        </p:nvSpPr>
        <p:spPr>
          <a:xfrm>
            <a:off x="9410700" y="5039171"/>
            <a:ext cx="4500414" cy="9525"/>
          </a:xfrm>
          <a:prstGeom prst="rect">
            <a:avLst/>
          </a:prstGeom>
          <a:solidFill>
            <a:srgbClr val="7D4C3D">
              <a:alpha val="18000"/>
            </a:srgbClr>
          </a:solidFill>
          <a:ln/>
        </p:spPr>
      </p:sp>
      <p:sp>
        <p:nvSpPr>
          <p:cNvPr id="32" name="Text 30"/>
          <p:cNvSpPr/>
          <p:nvPr/>
        </p:nvSpPr>
        <p:spPr>
          <a:xfrm>
            <a:off x="9639300" y="4591496"/>
            <a:ext cx="4178226"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Drive-Thru</a:t>
            </a:r>
            <a:endParaRPr lang="en-US" sz="1800" dirty="0"/>
          </a:p>
        </p:txBody>
      </p:sp>
      <p:sp>
        <p:nvSpPr>
          <p:cNvPr id="33" name="Shape 31"/>
          <p:cNvSpPr/>
          <p:nvPr/>
        </p:nvSpPr>
        <p:spPr>
          <a:xfrm>
            <a:off x="13911114" y="4420046"/>
            <a:ext cx="3805386" cy="628650"/>
          </a:xfrm>
          <a:prstGeom prst="rect">
            <a:avLst/>
          </a:prstGeom>
          <a:solidFill>
            <a:srgbClr val="E8DCCB"/>
          </a:solidFill>
          <a:ln/>
        </p:spPr>
      </p:sp>
      <p:sp>
        <p:nvSpPr>
          <p:cNvPr id="34" name="Shape 32"/>
          <p:cNvSpPr/>
          <p:nvPr/>
        </p:nvSpPr>
        <p:spPr>
          <a:xfrm>
            <a:off x="13911114" y="5039171"/>
            <a:ext cx="3805386" cy="9525"/>
          </a:xfrm>
          <a:prstGeom prst="rect">
            <a:avLst/>
          </a:prstGeom>
          <a:solidFill>
            <a:srgbClr val="7D4C3D">
              <a:alpha val="18000"/>
            </a:srgbClr>
          </a:solidFill>
          <a:ln/>
        </p:spPr>
      </p:sp>
      <p:sp>
        <p:nvSpPr>
          <p:cNvPr id="35" name="Text 33"/>
          <p:cNvSpPr/>
          <p:nvPr/>
        </p:nvSpPr>
        <p:spPr>
          <a:xfrm>
            <a:off x="14025552" y="4591496"/>
            <a:ext cx="3462348"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$12.48</a:t>
            </a:r>
            <a:endParaRPr lang="en-US" sz="1800" dirty="0"/>
          </a:p>
        </p:txBody>
      </p:sp>
      <p:sp>
        <p:nvSpPr>
          <p:cNvPr id="36" name="Shape 34"/>
          <p:cNvSpPr/>
          <p:nvPr/>
        </p:nvSpPr>
        <p:spPr>
          <a:xfrm>
            <a:off x="9410700" y="5048696"/>
            <a:ext cx="4500414" cy="628650"/>
          </a:xfrm>
          <a:prstGeom prst="rect">
            <a:avLst/>
          </a:prstGeom>
          <a:solidFill>
            <a:srgbClr val="FFFDF7">
              <a:alpha val="55000"/>
            </a:srgbClr>
          </a:solidFill>
          <a:ln/>
        </p:spPr>
      </p:sp>
      <p:sp>
        <p:nvSpPr>
          <p:cNvPr id="37" name="Shape 35"/>
          <p:cNvSpPr/>
          <p:nvPr/>
        </p:nvSpPr>
        <p:spPr>
          <a:xfrm>
            <a:off x="9410700" y="5667821"/>
            <a:ext cx="4500414" cy="9525"/>
          </a:xfrm>
          <a:prstGeom prst="rect">
            <a:avLst/>
          </a:prstGeom>
          <a:solidFill>
            <a:srgbClr val="7D4C3D">
              <a:alpha val="18000"/>
            </a:srgbClr>
          </a:solidFill>
          <a:ln/>
        </p:spPr>
      </p:sp>
      <p:sp>
        <p:nvSpPr>
          <p:cNvPr id="38" name="Text 36"/>
          <p:cNvSpPr/>
          <p:nvPr/>
        </p:nvSpPr>
        <p:spPr>
          <a:xfrm>
            <a:off x="9639300" y="5220146"/>
            <a:ext cx="4178226"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In-Store Cashier</a:t>
            </a:r>
            <a:endParaRPr lang="en-US" sz="1800" dirty="0"/>
          </a:p>
        </p:txBody>
      </p:sp>
      <p:sp>
        <p:nvSpPr>
          <p:cNvPr id="39" name="Shape 37"/>
          <p:cNvSpPr/>
          <p:nvPr/>
        </p:nvSpPr>
        <p:spPr>
          <a:xfrm>
            <a:off x="13911114" y="5048696"/>
            <a:ext cx="3805386" cy="628650"/>
          </a:xfrm>
          <a:prstGeom prst="rect">
            <a:avLst/>
          </a:prstGeom>
          <a:solidFill>
            <a:srgbClr val="FFFDF7">
              <a:alpha val="55000"/>
            </a:srgbClr>
          </a:solidFill>
          <a:ln/>
        </p:spPr>
      </p:sp>
      <p:sp>
        <p:nvSpPr>
          <p:cNvPr id="40" name="Shape 38"/>
          <p:cNvSpPr/>
          <p:nvPr/>
        </p:nvSpPr>
        <p:spPr>
          <a:xfrm>
            <a:off x="13911114" y="5667821"/>
            <a:ext cx="3805386" cy="9525"/>
          </a:xfrm>
          <a:prstGeom prst="rect">
            <a:avLst/>
          </a:prstGeom>
          <a:solidFill>
            <a:srgbClr val="7D4C3D">
              <a:alpha val="18000"/>
            </a:srgbClr>
          </a:solidFill>
          <a:ln/>
        </p:spPr>
      </p:sp>
      <p:sp>
        <p:nvSpPr>
          <p:cNvPr id="41" name="Text 39"/>
          <p:cNvSpPr/>
          <p:nvPr/>
        </p:nvSpPr>
        <p:spPr>
          <a:xfrm>
            <a:off x="14025552" y="5220146"/>
            <a:ext cx="3462348"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$12.51</a:t>
            </a:r>
            <a:endParaRPr lang="en-US" sz="1800" dirty="0"/>
          </a:p>
        </p:txBody>
      </p:sp>
      <p:sp>
        <p:nvSpPr>
          <p:cNvPr id="42" name="Shape 40"/>
          <p:cNvSpPr/>
          <p:nvPr/>
        </p:nvSpPr>
        <p:spPr>
          <a:xfrm>
            <a:off x="9410700" y="5677346"/>
            <a:ext cx="4500414" cy="628650"/>
          </a:xfrm>
          <a:prstGeom prst="rect">
            <a:avLst/>
          </a:prstGeom>
          <a:solidFill>
            <a:srgbClr val="E8DCCB"/>
          </a:solidFill>
          <a:ln/>
        </p:spPr>
      </p:sp>
      <p:sp>
        <p:nvSpPr>
          <p:cNvPr id="43" name="Shape 41"/>
          <p:cNvSpPr/>
          <p:nvPr/>
        </p:nvSpPr>
        <p:spPr>
          <a:xfrm>
            <a:off x="9410700" y="6296471"/>
            <a:ext cx="4500414" cy="9525"/>
          </a:xfrm>
          <a:prstGeom prst="rect">
            <a:avLst/>
          </a:prstGeom>
          <a:solidFill>
            <a:srgbClr val="7D4C3D">
              <a:alpha val="18000"/>
            </a:srgbClr>
          </a:solidFill>
          <a:ln/>
        </p:spPr>
      </p:sp>
      <p:sp>
        <p:nvSpPr>
          <p:cNvPr id="44" name="Text 42"/>
          <p:cNvSpPr/>
          <p:nvPr/>
        </p:nvSpPr>
        <p:spPr>
          <a:xfrm>
            <a:off x="9639300" y="5848796"/>
            <a:ext cx="4178226"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Kiosk</a:t>
            </a:r>
            <a:endParaRPr lang="en-US" sz="1800" dirty="0"/>
          </a:p>
        </p:txBody>
      </p:sp>
      <p:sp>
        <p:nvSpPr>
          <p:cNvPr id="45" name="Shape 43"/>
          <p:cNvSpPr/>
          <p:nvPr/>
        </p:nvSpPr>
        <p:spPr>
          <a:xfrm>
            <a:off x="13911114" y="5677346"/>
            <a:ext cx="3805386" cy="628650"/>
          </a:xfrm>
          <a:prstGeom prst="rect">
            <a:avLst/>
          </a:prstGeom>
          <a:solidFill>
            <a:srgbClr val="E8DCCB"/>
          </a:solidFill>
          <a:ln/>
        </p:spPr>
      </p:sp>
      <p:sp>
        <p:nvSpPr>
          <p:cNvPr id="46" name="Shape 44"/>
          <p:cNvSpPr/>
          <p:nvPr/>
        </p:nvSpPr>
        <p:spPr>
          <a:xfrm>
            <a:off x="13911114" y="6296471"/>
            <a:ext cx="3805386" cy="9525"/>
          </a:xfrm>
          <a:prstGeom prst="rect">
            <a:avLst/>
          </a:prstGeom>
          <a:solidFill>
            <a:srgbClr val="7D4C3D">
              <a:alpha val="18000"/>
            </a:srgbClr>
          </a:solidFill>
          <a:ln/>
        </p:spPr>
      </p:sp>
      <p:sp>
        <p:nvSpPr>
          <p:cNvPr id="47" name="Text 45"/>
          <p:cNvSpPr/>
          <p:nvPr/>
        </p:nvSpPr>
        <p:spPr>
          <a:xfrm>
            <a:off x="14025552" y="5848796"/>
            <a:ext cx="3462348"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$12.49</a:t>
            </a:r>
            <a:endParaRPr lang="en-US" sz="1800" dirty="0"/>
          </a:p>
        </p:txBody>
      </p:sp>
      <p:sp>
        <p:nvSpPr>
          <p:cNvPr id="48" name="Shape 46"/>
          <p:cNvSpPr/>
          <p:nvPr/>
        </p:nvSpPr>
        <p:spPr>
          <a:xfrm>
            <a:off x="9410700" y="6305996"/>
            <a:ext cx="4500414" cy="628650"/>
          </a:xfrm>
          <a:prstGeom prst="rect">
            <a:avLst/>
          </a:prstGeom>
          <a:solidFill>
            <a:srgbClr val="FFFDF7">
              <a:alpha val="55000"/>
            </a:srgbClr>
          </a:solidFill>
          <a:ln/>
        </p:spPr>
      </p:sp>
      <p:sp>
        <p:nvSpPr>
          <p:cNvPr id="49" name="Shape 47"/>
          <p:cNvSpPr/>
          <p:nvPr/>
        </p:nvSpPr>
        <p:spPr>
          <a:xfrm>
            <a:off x="9410700" y="6925121"/>
            <a:ext cx="4500414" cy="9525"/>
          </a:xfrm>
          <a:prstGeom prst="rect">
            <a:avLst/>
          </a:prstGeom>
          <a:solidFill>
            <a:srgbClr val="7D4C3D">
              <a:alpha val="18000"/>
            </a:srgbClr>
          </a:solidFill>
          <a:ln/>
        </p:spPr>
      </p:sp>
      <p:sp>
        <p:nvSpPr>
          <p:cNvPr id="50" name="Text 48"/>
          <p:cNvSpPr/>
          <p:nvPr/>
        </p:nvSpPr>
        <p:spPr>
          <a:xfrm>
            <a:off x="9639300" y="6477446"/>
            <a:ext cx="4178226"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Rewards member</a:t>
            </a:r>
            <a:endParaRPr lang="en-US" sz="1800" dirty="0"/>
          </a:p>
        </p:txBody>
      </p:sp>
      <p:sp>
        <p:nvSpPr>
          <p:cNvPr id="51" name="Shape 49"/>
          <p:cNvSpPr/>
          <p:nvPr/>
        </p:nvSpPr>
        <p:spPr>
          <a:xfrm>
            <a:off x="13911114" y="6305996"/>
            <a:ext cx="3805386" cy="628650"/>
          </a:xfrm>
          <a:prstGeom prst="rect">
            <a:avLst/>
          </a:prstGeom>
          <a:solidFill>
            <a:srgbClr val="FFFDF7">
              <a:alpha val="55000"/>
            </a:srgbClr>
          </a:solidFill>
          <a:ln/>
        </p:spPr>
      </p:sp>
      <p:sp>
        <p:nvSpPr>
          <p:cNvPr id="52" name="Shape 50"/>
          <p:cNvSpPr/>
          <p:nvPr/>
        </p:nvSpPr>
        <p:spPr>
          <a:xfrm>
            <a:off x="13911114" y="6925121"/>
            <a:ext cx="3805386" cy="9525"/>
          </a:xfrm>
          <a:prstGeom prst="rect">
            <a:avLst/>
          </a:prstGeom>
          <a:solidFill>
            <a:srgbClr val="7D4C3D">
              <a:alpha val="18000"/>
            </a:srgbClr>
          </a:solidFill>
          <a:ln/>
        </p:spPr>
      </p:sp>
      <p:sp>
        <p:nvSpPr>
          <p:cNvPr id="53" name="Text 51"/>
          <p:cNvSpPr/>
          <p:nvPr/>
        </p:nvSpPr>
        <p:spPr>
          <a:xfrm>
            <a:off x="14025552" y="6477446"/>
            <a:ext cx="3462348"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1E5631"/>
                </a:solidFill>
                <a:latin typeface="Arial" pitchFamily="34" charset="0"/>
                <a:ea typeface="Arial" pitchFamily="34" charset="-122"/>
                <a:cs typeface="Arial" pitchFamily="34" charset="-120"/>
              </a:rPr>
              <a:t>$15.72</a:t>
            </a:r>
            <a:endParaRPr lang="en-US" sz="1800" dirty="0"/>
          </a:p>
        </p:txBody>
      </p:sp>
      <p:sp>
        <p:nvSpPr>
          <p:cNvPr id="54" name="Shape 52"/>
          <p:cNvSpPr/>
          <p:nvPr/>
        </p:nvSpPr>
        <p:spPr>
          <a:xfrm>
            <a:off x="9410700" y="6934646"/>
            <a:ext cx="4500414" cy="628650"/>
          </a:xfrm>
          <a:prstGeom prst="rect">
            <a:avLst/>
          </a:prstGeom>
          <a:solidFill>
            <a:srgbClr val="E8DCCB"/>
          </a:solidFill>
          <a:ln/>
        </p:spPr>
      </p:sp>
      <p:sp>
        <p:nvSpPr>
          <p:cNvPr id="55" name="Shape 53"/>
          <p:cNvSpPr/>
          <p:nvPr/>
        </p:nvSpPr>
        <p:spPr>
          <a:xfrm>
            <a:off x="9410700" y="7553771"/>
            <a:ext cx="4500414" cy="9525"/>
          </a:xfrm>
          <a:prstGeom prst="rect">
            <a:avLst/>
          </a:prstGeom>
          <a:solidFill>
            <a:srgbClr val="7D4C3D">
              <a:alpha val="18000"/>
            </a:srgbClr>
          </a:solidFill>
          <a:ln/>
        </p:spPr>
      </p:sp>
      <p:sp>
        <p:nvSpPr>
          <p:cNvPr id="56" name="Text 54"/>
          <p:cNvSpPr/>
          <p:nvPr/>
        </p:nvSpPr>
        <p:spPr>
          <a:xfrm>
            <a:off x="9639300" y="7106096"/>
            <a:ext cx="4178226"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Non-rewards</a:t>
            </a:r>
            <a:endParaRPr lang="en-US" sz="1800" dirty="0"/>
          </a:p>
        </p:txBody>
      </p:sp>
      <p:sp>
        <p:nvSpPr>
          <p:cNvPr id="57" name="Shape 55"/>
          <p:cNvSpPr/>
          <p:nvPr/>
        </p:nvSpPr>
        <p:spPr>
          <a:xfrm>
            <a:off x="13911114" y="6934646"/>
            <a:ext cx="3805386" cy="628650"/>
          </a:xfrm>
          <a:prstGeom prst="rect">
            <a:avLst/>
          </a:prstGeom>
          <a:solidFill>
            <a:srgbClr val="E8DCCB"/>
          </a:solidFill>
          <a:ln/>
        </p:spPr>
      </p:sp>
      <p:sp>
        <p:nvSpPr>
          <p:cNvPr id="58" name="Shape 56"/>
          <p:cNvSpPr/>
          <p:nvPr/>
        </p:nvSpPr>
        <p:spPr>
          <a:xfrm>
            <a:off x="13911114" y="7553771"/>
            <a:ext cx="3805386" cy="9525"/>
          </a:xfrm>
          <a:prstGeom prst="rect">
            <a:avLst/>
          </a:prstGeom>
          <a:solidFill>
            <a:srgbClr val="7D4C3D">
              <a:alpha val="18000"/>
            </a:srgbClr>
          </a:solidFill>
          <a:ln/>
        </p:spPr>
      </p:sp>
      <p:sp>
        <p:nvSpPr>
          <p:cNvPr id="59" name="Text 57"/>
          <p:cNvSpPr/>
          <p:nvPr/>
        </p:nvSpPr>
        <p:spPr>
          <a:xfrm>
            <a:off x="14025552" y="7106096"/>
            <a:ext cx="3462348"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$14.09</a:t>
            </a:r>
            <a:endParaRPr lang="en-US" sz="1800" dirty="0"/>
          </a:p>
        </p:txBody>
      </p:sp>
      <p:sp>
        <p:nvSpPr>
          <p:cNvPr id="60" name="Text 58"/>
          <p:cNvSpPr/>
          <p:nvPr/>
        </p:nvSpPr>
        <p:spPr>
          <a:xfrm>
            <a:off x="9410700" y="7739509"/>
            <a:ext cx="8554974"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5D3527"/>
                </a:solidFill>
                <a:latin typeface="Arial" pitchFamily="34" charset="0"/>
                <a:ea typeface="Arial" pitchFamily="34" charset="-122"/>
                <a:cs typeface="Arial" pitchFamily="34" charset="-120"/>
              </a:rPr>
              <a:t>Mobile App leads every other channel by ~$5.58.</a:t>
            </a:r>
            <a:endParaRPr lang="en-US" sz="1950" dirty="0"/>
          </a:p>
        </p:txBody>
      </p:sp>
      <p:sp>
        <p:nvSpPr>
          <p:cNvPr id="61" name="Text 59"/>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62" name="Text 60"/>
          <p:cNvSpPr/>
          <p:nvPr/>
        </p:nvSpPr>
        <p:spPr>
          <a:xfrm>
            <a:off x="571500" y="9591675"/>
            <a:ext cx="1106984"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04 / 16</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5762743"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FOUR · CORRELATION</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Cart size, not customizations, is the dominant driver.</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Shape 3"/>
          <p:cNvSpPr/>
          <p:nvPr/>
        </p:nvSpPr>
        <p:spPr>
          <a:xfrm>
            <a:off x="571500" y="3229868"/>
            <a:ext cx="10012561" cy="6953250"/>
          </a:xfrm>
          <a:prstGeom prst="roundRect">
            <a:avLst>
              <a:gd name="adj" fmla="val 1918"/>
            </a:avLst>
          </a:prstGeom>
          <a:solidFill>
            <a:srgbClr val="FFFFFF"/>
          </a:solidFill>
          <a:ln w="9525">
            <a:solidFill>
              <a:srgbClr val="7D4C3D">
                <a:alpha val="18000"/>
              </a:srgbClr>
            </a:solidFill>
            <a:prstDash val="solid"/>
          </a:ln>
          <a:effectLst>
            <a:outerShdw sx="100000" sy="100000" kx="0" ky="0" algn="bl" rotWithShape="0" blurRad="228600" dist="76200" dir="5400000">
              <a:srgbClr val="7D4C3D">
                <a:alpha val="8000"/>
              </a:srgbClr>
            </a:outerShdw>
          </a:effectLst>
        </p:spPr>
      </p:sp>
      <p:pic>
        <p:nvPicPr>
          <p:cNvPr id="6" name="Image 0" descr="preencoded.png">    </p:cNvPr>
          <p:cNvPicPr>
            <a:picLocks noChangeAspect="1"/>
          </p:cNvPicPr>
          <p:nvPr/>
        </p:nvPicPr>
        <p:blipFill>
          <a:blip r:embed="rId1"/>
          <a:srcRect l="0" r="0" t="0" b="0"/>
          <a:stretch/>
        </p:blipFill>
        <p:spPr>
          <a:xfrm>
            <a:off x="809625" y="3467993"/>
            <a:ext cx="9536311" cy="6477000"/>
          </a:xfrm>
          <a:prstGeom prst="rect">
            <a:avLst/>
          </a:prstGeom>
        </p:spPr>
      </p:pic>
      <p:sp>
        <p:nvSpPr>
          <p:cNvPr id="7" name="Shape 4"/>
          <p:cNvSpPr/>
          <p:nvPr/>
        </p:nvSpPr>
        <p:spPr>
          <a:xfrm>
            <a:off x="11041261" y="4301877"/>
            <a:ext cx="6675090" cy="676275"/>
          </a:xfrm>
          <a:prstGeom prst="roundRect">
            <a:avLst>
              <a:gd name="adj" fmla="val 14085"/>
            </a:avLst>
          </a:prstGeom>
          <a:solidFill>
            <a:srgbClr val="E8DCCB"/>
          </a:solidFill>
          <a:ln/>
        </p:spPr>
      </p:sp>
      <p:sp>
        <p:nvSpPr>
          <p:cNvPr id="8" name="Text 5"/>
          <p:cNvSpPr/>
          <p:nvPr/>
        </p:nvSpPr>
        <p:spPr>
          <a:xfrm>
            <a:off x="11307961" y="4492377"/>
            <a:ext cx="106724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cart_size</a:t>
            </a:r>
            <a:endParaRPr lang="en-US" sz="1950" dirty="0"/>
          </a:p>
        </p:txBody>
      </p:sp>
      <p:sp>
        <p:nvSpPr>
          <p:cNvPr id="9" name="Shape 6"/>
          <p:cNvSpPr/>
          <p:nvPr/>
        </p:nvSpPr>
        <p:spPr>
          <a:xfrm>
            <a:off x="12527607" y="4573339"/>
            <a:ext cx="3310979" cy="133350"/>
          </a:xfrm>
          <a:prstGeom prst="roundRect">
            <a:avLst>
              <a:gd name="adj" fmla="val 50000"/>
            </a:avLst>
          </a:prstGeom>
          <a:solidFill>
            <a:srgbClr val="5D3527">
              <a:alpha val="85000"/>
            </a:srgbClr>
          </a:solidFill>
          <a:ln/>
        </p:spPr>
      </p:sp>
      <p:sp>
        <p:nvSpPr>
          <p:cNvPr id="10" name="Text 7"/>
          <p:cNvSpPr/>
          <p:nvPr/>
        </p:nvSpPr>
        <p:spPr>
          <a:xfrm>
            <a:off x="16358890" y="4501902"/>
            <a:ext cx="1090761"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r = 0.900</a:t>
            </a:r>
            <a:endParaRPr lang="en-US" sz="1800" dirty="0"/>
          </a:p>
        </p:txBody>
      </p:sp>
      <p:sp>
        <p:nvSpPr>
          <p:cNvPr id="11" name="Shape 8"/>
          <p:cNvSpPr/>
          <p:nvPr/>
        </p:nvSpPr>
        <p:spPr>
          <a:xfrm>
            <a:off x="11041261" y="5111502"/>
            <a:ext cx="6675090" cy="676275"/>
          </a:xfrm>
          <a:prstGeom prst="roundRect">
            <a:avLst>
              <a:gd name="adj" fmla="val 14085"/>
            </a:avLst>
          </a:prstGeom>
          <a:solidFill>
            <a:srgbClr val="E8DCCB"/>
          </a:solidFill>
          <a:ln/>
        </p:spPr>
      </p:sp>
      <p:sp>
        <p:nvSpPr>
          <p:cNvPr id="12" name="Text 9"/>
          <p:cNvSpPr/>
          <p:nvPr/>
        </p:nvSpPr>
        <p:spPr>
          <a:xfrm>
            <a:off x="11307961" y="5302002"/>
            <a:ext cx="2333625"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num_customizations</a:t>
            </a:r>
            <a:endParaRPr lang="en-US" sz="1950" dirty="0"/>
          </a:p>
        </p:txBody>
      </p:sp>
      <p:sp>
        <p:nvSpPr>
          <p:cNvPr id="13" name="Shape 10"/>
          <p:cNvSpPr/>
          <p:nvPr/>
        </p:nvSpPr>
        <p:spPr>
          <a:xfrm>
            <a:off x="13793986" y="5382964"/>
            <a:ext cx="989112" cy="133350"/>
          </a:xfrm>
          <a:prstGeom prst="roundRect">
            <a:avLst>
              <a:gd name="adj" fmla="val 50000"/>
            </a:avLst>
          </a:prstGeom>
          <a:solidFill>
            <a:srgbClr val="7D4C3D">
              <a:alpha val="85000"/>
            </a:srgbClr>
          </a:solidFill>
          <a:ln/>
        </p:spPr>
      </p:sp>
      <p:sp>
        <p:nvSpPr>
          <p:cNvPr id="14" name="Text 11"/>
          <p:cNvSpPr/>
          <p:nvPr/>
        </p:nvSpPr>
        <p:spPr>
          <a:xfrm>
            <a:off x="16358890" y="5311527"/>
            <a:ext cx="1090761"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r = 0.409</a:t>
            </a:r>
            <a:endParaRPr lang="en-US" sz="1800" dirty="0"/>
          </a:p>
        </p:txBody>
      </p:sp>
      <p:sp>
        <p:nvSpPr>
          <p:cNvPr id="15" name="Shape 12"/>
          <p:cNvSpPr/>
          <p:nvPr/>
        </p:nvSpPr>
        <p:spPr>
          <a:xfrm>
            <a:off x="11041261" y="5921127"/>
            <a:ext cx="6675090" cy="676275"/>
          </a:xfrm>
          <a:prstGeom prst="roundRect">
            <a:avLst>
              <a:gd name="adj" fmla="val 14085"/>
            </a:avLst>
          </a:prstGeom>
          <a:solidFill>
            <a:srgbClr val="E8DCCB"/>
          </a:solidFill>
          <a:ln/>
        </p:spPr>
      </p:sp>
      <p:sp>
        <p:nvSpPr>
          <p:cNvPr id="16" name="Text 13"/>
          <p:cNvSpPr/>
          <p:nvPr/>
        </p:nvSpPr>
        <p:spPr>
          <a:xfrm>
            <a:off x="11307961" y="6111627"/>
            <a:ext cx="2471291"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customer_satisfaction</a:t>
            </a:r>
            <a:endParaRPr lang="en-US" sz="1950" dirty="0"/>
          </a:p>
        </p:txBody>
      </p:sp>
      <p:sp>
        <p:nvSpPr>
          <p:cNvPr id="17" name="Shape 14"/>
          <p:cNvSpPr/>
          <p:nvPr/>
        </p:nvSpPr>
        <p:spPr>
          <a:xfrm>
            <a:off x="13931652" y="6192589"/>
            <a:ext cx="136475" cy="133350"/>
          </a:xfrm>
          <a:prstGeom prst="ellipse">
            <a:avLst/>
          </a:prstGeom>
          <a:solidFill>
            <a:srgbClr val="A48C7E">
              <a:alpha val="85000"/>
            </a:srgbClr>
          </a:solidFill>
          <a:ln/>
        </p:spPr>
      </p:sp>
      <p:sp>
        <p:nvSpPr>
          <p:cNvPr id="18" name="Text 15"/>
          <p:cNvSpPr/>
          <p:nvPr/>
        </p:nvSpPr>
        <p:spPr>
          <a:xfrm>
            <a:off x="16358890" y="6121152"/>
            <a:ext cx="1090761"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r = 0.066</a:t>
            </a:r>
            <a:endParaRPr lang="en-US" sz="1800" dirty="0"/>
          </a:p>
        </p:txBody>
      </p:sp>
      <p:sp>
        <p:nvSpPr>
          <p:cNvPr id="19" name="Shape 16"/>
          <p:cNvSpPr/>
          <p:nvPr/>
        </p:nvSpPr>
        <p:spPr>
          <a:xfrm>
            <a:off x="11041261" y="6730752"/>
            <a:ext cx="6675090" cy="676275"/>
          </a:xfrm>
          <a:prstGeom prst="roundRect">
            <a:avLst>
              <a:gd name="adj" fmla="val 14085"/>
            </a:avLst>
          </a:prstGeom>
          <a:solidFill>
            <a:srgbClr val="E8DCCB"/>
          </a:solidFill>
          <a:ln/>
        </p:spPr>
      </p:sp>
      <p:sp>
        <p:nvSpPr>
          <p:cNvPr id="20" name="Text 17"/>
          <p:cNvSpPr/>
          <p:nvPr/>
        </p:nvSpPr>
        <p:spPr>
          <a:xfrm>
            <a:off x="11307961" y="6921252"/>
            <a:ext cx="226456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fulfillment_time_min</a:t>
            </a:r>
            <a:endParaRPr lang="en-US" sz="1950" dirty="0"/>
          </a:p>
        </p:txBody>
      </p:sp>
      <p:sp>
        <p:nvSpPr>
          <p:cNvPr id="21" name="Shape 18"/>
          <p:cNvSpPr/>
          <p:nvPr/>
        </p:nvSpPr>
        <p:spPr>
          <a:xfrm>
            <a:off x="13724930" y="7002214"/>
            <a:ext cx="23217" cy="133350"/>
          </a:xfrm>
          <a:prstGeom prst="roundRect">
            <a:avLst>
              <a:gd name="adj" fmla="val 50000"/>
            </a:avLst>
          </a:prstGeom>
          <a:solidFill>
            <a:srgbClr val="A48C7E">
              <a:alpha val="85000"/>
            </a:srgbClr>
          </a:solidFill>
          <a:ln/>
        </p:spPr>
      </p:sp>
      <p:sp>
        <p:nvSpPr>
          <p:cNvPr id="22" name="Text 19"/>
          <p:cNvSpPr/>
          <p:nvPr/>
        </p:nvSpPr>
        <p:spPr>
          <a:xfrm>
            <a:off x="16210955" y="6930777"/>
            <a:ext cx="1238696"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r = -0.012</a:t>
            </a:r>
            <a:endParaRPr lang="en-US" sz="1800" dirty="0"/>
          </a:p>
        </p:txBody>
      </p:sp>
      <p:sp>
        <p:nvSpPr>
          <p:cNvPr id="23" name="Text 20"/>
          <p:cNvSpPr/>
          <p:nvPr/>
        </p:nvSpPr>
        <p:spPr>
          <a:xfrm>
            <a:off x="11041261" y="7711827"/>
            <a:ext cx="6875343" cy="1189583"/>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3A2A22"/>
                </a:solidFill>
                <a:latin typeface="Arial" pitchFamily="34" charset="0"/>
                <a:ea typeface="Arial" pitchFamily="34" charset="-122"/>
                <a:cs typeface="Arial" pitchFamily="34" charset="-120"/>
              </a:rPr>
              <a:t>Cart size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is near-deterministic for spend. Customizations matter, but only secondarily. Fulfillment time and satisfaction are essentially uncorrelated with spend.</a:t>
            </a:r>
            <a:endParaRPr lang="en-US" sz="1950" dirty="0"/>
          </a:p>
        </p:txBody>
      </p:sp>
      <p:sp>
        <p:nvSpPr>
          <p:cNvPr id="24" name="Text 21"/>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25" name="Text 22"/>
          <p:cNvSpPr/>
          <p:nvPr/>
        </p:nvSpPr>
        <p:spPr>
          <a:xfrm>
            <a:off x="571500" y="9591675"/>
            <a:ext cx="1094780"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05 / 16</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5684563"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FIVE · DISTRIBUTION</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Tighter than Chebyshev, but not quite normal.</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Shape 3"/>
          <p:cNvSpPr/>
          <p:nvPr/>
        </p:nvSpPr>
        <p:spPr>
          <a:xfrm>
            <a:off x="571500" y="3276451"/>
            <a:ext cx="8305800" cy="5810250"/>
          </a:xfrm>
          <a:prstGeom prst="roundRect">
            <a:avLst>
              <a:gd name="adj" fmla="val 2295"/>
            </a:avLst>
          </a:prstGeom>
          <a:solidFill>
            <a:srgbClr val="FFFFFF"/>
          </a:solidFill>
          <a:ln w="9525">
            <a:solidFill>
              <a:srgbClr val="7D4C3D">
                <a:alpha val="18000"/>
              </a:srgbClr>
            </a:solidFill>
            <a:prstDash val="solid"/>
          </a:ln>
          <a:effectLst>
            <a:outerShdw sx="100000" sy="100000" kx="0" ky="0" algn="bl" rotWithShape="0" blurRad="228600" dist="76200" dir="5400000">
              <a:srgbClr val="7D4C3D">
                <a:alpha val="8000"/>
              </a:srgbClr>
            </a:outerShdw>
          </a:effectLst>
        </p:spPr>
      </p:sp>
      <p:pic>
        <p:nvPicPr>
          <p:cNvPr id="6" name="Image 0" descr="preencoded.png">    </p:cNvPr>
          <p:cNvPicPr>
            <a:picLocks noChangeAspect="1"/>
          </p:cNvPicPr>
          <p:nvPr/>
        </p:nvPicPr>
        <p:blipFill>
          <a:blip r:embed="rId1"/>
          <a:srcRect l="0" r="0" t="0" b="0"/>
          <a:stretch/>
        </p:blipFill>
        <p:spPr>
          <a:xfrm>
            <a:off x="809625" y="3514576"/>
            <a:ext cx="7829550" cy="5334000"/>
          </a:xfrm>
          <a:prstGeom prst="rect">
            <a:avLst/>
          </a:prstGeom>
        </p:spPr>
      </p:pic>
      <p:sp>
        <p:nvSpPr>
          <p:cNvPr id="7" name="Shape 4"/>
          <p:cNvSpPr/>
          <p:nvPr/>
        </p:nvSpPr>
        <p:spPr>
          <a:xfrm>
            <a:off x="9410700" y="3229868"/>
            <a:ext cx="4019550" cy="2053530"/>
          </a:xfrm>
          <a:prstGeom prst="roundRect">
            <a:avLst>
              <a:gd name="adj" fmla="val 6494"/>
            </a:avLst>
          </a:prstGeom>
          <a:solidFill>
            <a:srgbClr val="E8DCCB"/>
          </a:solidFill>
          <a:ln w="9525">
            <a:solidFill>
              <a:srgbClr val="7D4C3D">
                <a:alpha val="18000"/>
              </a:srgbClr>
            </a:solidFill>
            <a:prstDash val="solid"/>
          </a:ln>
        </p:spPr>
      </p:sp>
      <p:sp>
        <p:nvSpPr>
          <p:cNvPr id="8" name="Text 5"/>
          <p:cNvSpPr/>
          <p:nvPr/>
        </p:nvSpPr>
        <p:spPr>
          <a:xfrm>
            <a:off x="9763125" y="3544193"/>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95.83%</a:t>
            </a:r>
            <a:endParaRPr lang="en-US" sz="4800" dirty="0"/>
          </a:p>
        </p:txBody>
      </p:sp>
      <p:sp>
        <p:nvSpPr>
          <p:cNvPr id="9" name="Text 6"/>
          <p:cNvSpPr/>
          <p:nvPr/>
        </p:nvSpPr>
        <p:spPr>
          <a:xfrm>
            <a:off x="9763125" y="4306193"/>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of orders within ±2 SD</a:t>
            </a:r>
            <a:endParaRPr lang="en-US" sz="1800" dirty="0"/>
          </a:p>
        </p:txBody>
      </p:sp>
      <p:sp>
        <p:nvSpPr>
          <p:cNvPr id="10" name="Text 7"/>
          <p:cNvSpPr/>
          <p:nvPr/>
        </p:nvSpPr>
        <p:spPr>
          <a:xfrm>
            <a:off x="9763125" y="4702373"/>
            <a:ext cx="341414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Empirical</a:t>
            </a:r>
            <a:endParaRPr lang="en-US" sz="1800" dirty="0"/>
          </a:p>
        </p:txBody>
      </p:sp>
      <p:sp>
        <p:nvSpPr>
          <p:cNvPr id="11" name="Shape 8"/>
          <p:cNvSpPr/>
          <p:nvPr/>
        </p:nvSpPr>
        <p:spPr>
          <a:xfrm>
            <a:off x="13696950" y="3229868"/>
            <a:ext cx="4019550" cy="2053530"/>
          </a:xfrm>
          <a:prstGeom prst="roundRect">
            <a:avLst>
              <a:gd name="adj" fmla="val 6494"/>
            </a:avLst>
          </a:prstGeom>
          <a:solidFill>
            <a:srgbClr val="E8DCCB"/>
          </a:solidFill>
          <a:ln w="9525">
            <a:solidFill>
              <a:srgbClr val="7D4C3D">
                <a:alpha val="18000"/>
              </a:srgbClr>
            </a:solidFill>
            <a:prstDash val="solid"/>
          </a:ln>
        </p:spPr>
      </p:sp>
      <p:sp>
        <p:nvSpPr>
          <p:cNvPr id="12" name="Text 9"/>
          <p:cNvSpPr/>
          <p:nvPr/>
        </p:nvSpPr>
        <p:spPr>
          <a:xfrm>
            <a:off x="14049375" y="3544193"/>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99.34%</a:t>
            </a:r>
            <a:endParaRPr lang="en-US" sz="4800" dirty="0"/>
          </a:p>
        </p:txBody>
      </p:sp>
      <p:sp>
        <p:nvSpPr>
          <p:cNvPr id="13" name="Text 10"/>
          <p:cNvSpPr/>
          <p:nvPr/>
        </p:nvSpPr>
        <p:spPr>
          <a:xfrm>
            <a:off x="14049375" y="4306193"/>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within ±3 SD</a:t>
            </a:r>
            <a:endParaRPr lang="en-US" sz="1800" dirty="0"/>
          </a:p>
        </p:txBody>
      </p:sp>
      <p:sp>
        <p:nvSpPr>
          <p:cNvPr id="14" name="Text 11"/>
          <p:cNvSpPr/>
          <p:nvPr/>
        </p:nvSpPr>
        <p:spPr>
          <a:xfrm>
            <a:off x="14049375" y="4702373"/>
            <a:ext cx="341414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Empirical</a:t>
            </a:r>
            <a:endParaRPr lang="en-US" sz="1800" dirty="0"/>
          </a:p>
        </p:txBody>
      </p:sp>
      <p:sp>
        <p:nvSpPr>
          <p:cNvPr id="15" name="Shape 12"/>
          <p:cNvSpPr/>
          <p:nvPr/>
        </p:nvSpPr>
        <p:spPr>
          <a:xfrm>
            <a:off x="9410700" y="5550098"/>
            <a:ext cx="4019550" cy="2320230"/>
          </a:xfrm>
          <a:prstGeom prst="roundRect">
            <a:avLst>
              <a:gd name="adj" fmla="val 5747"/>
            </a:avLst>
          </a:prstGeom>
          <a:solidFill>
            <a:srgbClr val="E8DCCB"/>
          </a:solidFill>
          <a:ln w="9525">
            <a:solidFill>
              <a:srgbClr val="7D4C3D">
                <a:alpha val="18000"/>
              </a:srgbClr>
            </a:solidFill>
            <a:prstDash val="solid"/>
          </a:ln>
        </p:spPr>
      </p:sp>
      <p:sp>
        <p:nvSpPr>
          <p:cNvPr id="16" name="Text 13"/>
          <p:cNvSpPr/>
          <p:nvPr/>
        </p:nvSpPr>
        <p:spPr>
          <a:xfrm>
            <a:off x="9763125" y="5864423"/>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≥75%</a:t>
            </a:r>
            <a:endParaRPr lang="en-US" sz="4800" dirty="0"/>
          </a:p>
        </p:txBody>
      </p:sp>
      <p:sp>
        <p:nvSpPr>
          <p:cNvPr id="17" name="Text 14"/>
          <p:cNvSpPr/>
          <p:nvPr/>
        </p:nvSpPr>
        <p:spPr>
          <a:xfrm>
            <a:off x="9763125" y="6626423"/>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Chebyshev floor at 2 SD</a:t>
            </a:r>
            <a:endParaRPr lang="en-US" sz="1800" dirty="0"/>
          </a:p>
        </p:txBody>
      </p:sp>
      <p:sp>
        <p:nvSpPr>
          <p:cNvPr id="18" name="Text 15"/>
          <p:cNvSpPr/>
          <p:nvPr/>
        </p:nvSpPr>
        <p:spPr>
          <a:xfrm>
            <a:off x="9763125" y="7022604"/>
            <a:ext cx="341414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Distribution-free</a:t>
            </a:r>
            <a:endParaRPr lang="en-US" sz="1800" dirty="0"/>
          </a:p>
        </p:txBody>
      </p:sp>
      <p:sp>
        <p:nvSpPr>
          <p:cNvPr id="19" name="Shape 16"/>
          <p:cNvSpPr/>
          <p:nvPr/>
        </p:nvSpPr>
        <p:spPr>
          <a:xfrm>
            <a:off x="13696950" y="5550098"/>
            <a:ext cx="4019550" cy="2320230"/>
          </a:xfrm>
          <a:prstGeom prst="roundRect">
            <a:avLst>
              <a:gd name="adj" fmla="val 5747"/>
            </a:avLst>
          </a:prstGeom>
          <a:solidFill>
            <a:srgbClr val="E8DCCB"/>
          </a:solidFill>
          <a:ln w="9525">
            <a:solidFill>
              <a:srgbClr val="7D4C3D">
                <a:alpha val="18000"/>
              </a:srgbClr>
            </a:solidFill>
            <a:prstDash val="solid"/>
          </a:ln>
        </p:spPr>
      </p:sp>
      <p:sp>
        <p:nvSpPr>
          <p:cNvPr id="20" name="Text 17"/>
          <p:cNvSpPr/>
          <p:nvPr/>
        </p:nvSpPr>
        <p:spPr>
          <a:xfrm>
            <a:off x="14049375" y="5864423"/>
            <a:ext cx="3414141"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right-skew</a:t>
            </a:r>
            <a:endParaRPr lang="en-US" sz="4800" dirty="0"/>
          </a:p>
        </p:txBody>
      </p:sp>
      <p:sp>
        <p:nvSpPr>
          <p:cNvPr id="21" name="Text 18"/>
          <p:cNvSpPr/>
          <p:nvPr/>
        </p:nvSpPr>
        <p:spPr>
          <a:xfrm>
            <a:off x="14049375" y="6626423"/>
            <a:ext cx="34141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moderate</a:t>
            </a:r>
            <a:endParaRPr lang="en-US" sz="1800" dirty="0"/>
          </a:p>
        </p:txBody>
      </p:sp>
      <p:sp>
        <p:nvSpPr>
          <p:cNvPr id="22" name="Text 19"/>
          <p:cNvSpPr/>
          <p:nvPr/>
        </p:nvSpPr>
        <p:spPr>
          <a:xfrm>
            <a:off x="14049375" y="7022604"/>
            <a:ext cx="3414141" cy="571500"/>
          </a:xfrm>
          <a:prstGeom prst="rect">
            <a:avLst/>
          </a:prstGeom>
          <a:noFill/>
          <a:ln/>
        </p:spPr>
        <p:txBody>
          <a:bodyPr wrap="square" lIns="25400" tIns="25400" rIns="25400" bIns="25400" rtlCol="0" anchor="t">
            <a:normAutofit/>
          </a:bodyPr>
          <a:lstStyle/>
          <a:p>
            <a:pPr algn="l" indent="0" marL="0">
              <a:buNone/>
            </a:pPr>
            <a:r>
              <a:rPr lang="en-US" sz="1800" dirty="0">
                <a:solidFill>
                  <a:srgbClr val="7D4C3D">
                    <a:alpha val="75000"/>
                  </a:srgbClr>
                </a:solidFill>
                <a:latin typeface="Arial" pitchFamily="34" charset="0"/>
                <a:ea typeface="Arial" pitchFamily="34" charset="-122"/>
                <a:cs typeface="Arial" pitchFamily="34" charset="-120"/>
              </a:rPr>
              <a:t>Normal underestimates the right tail</a:t>
            </a:r>
            <a:endParaRPr lang="en-US" sz="1800" dirty="0"/>
          </a:p>
        </p:txBody>
      </p:sp>
      <p:sp>
        <p:nvSpPr>
          <p:cNvPr id="23" name="Text 20"/>
          <p:cNvSpPr/>
          <p:nvPr/>
        </p:nvSpPr>
        <p:spPr>
          <a:xfrm>
            <a:off x="9410700" y="8117979"/>
            <a:ext cx="8554974"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Because normality is imperfect, we use </a:t>
            </a:r>
            <a:pPr algn="l" indent="0" marL="0">
              <a:lnSpc>
                <a:spcPct val="155000"/>
              </a:lnSpc>
              <a:buNone/>
            </a:pPr>
            <a:r>
              <a:rPr lang="en-US" sz="1950" b="1" dirty="0">
                <a:solidFill>
                  <a:srgbClr val="3A2A22"/>
                </a:solidFill>
                <a:latin typeface="Arial" pitchFamily="34" charset="0"/>
                <a:ea typeface="Arial" pitchFamily="34" charset="-122"/>
                <a:cs typeface="Arial" pitchFamily="34" charset="-120"/>
              </a:rPr>
              <a:t>empirical probabilities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 not the normal approximation — for tail events.</a:t>
            </a:r>
            <a:endParaRPr lang="en-US" sz="1950" dirty="0"/>
          </a:p>
        </p:txBody>
      </p:sp>
      <p:sp>
        <p:nvSpPr>
          <p:cNvPr id="24" name="Text 21"/>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25" name="Text 22"/>
          <p:cNvSpPr/>
          <p:nvPr/>
        </p:nvSpPr>
        <p:spPr>
          <a:xfrm>
            <a:off x="571500" y="9591675"/>
            <a:ext cx="1101030"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06 / 16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BCBBB"/>
        </a:solidFill>
      </p:bgPr>
    </p:bg>
    <p:spTree>
      <p:nvGrpSpPr>
        <p:cNvPr id="1" name=""/>
        <p:cNvGrpSpPr/>
        <p:nvPr/>
      </p:nvGrpSpPr>
      <p:grpSpPr>
        <a:xfrm>
          <a:off x="0" y="0"/>
          <a:ext cx="0" cy="0"/>
          <a:chOff x="0" y="0"/>
          <a:chExt cx="0" cy="0"/>
        </a:xfrm>
      </p:grpSpPr>
      <p:sp>
        <p:nvSpPr>
          <p:cNvPr id="2" name="Text 0"/>
          <p:cNvSpPr/>
          <p:nvPr/>
        </p:nvSpPr>
        <p:spPr>
          <a:xfrm>
            <a:off x="1143000" y="1143000"/>
            <a:ext cx="7940269"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5D3527">
                    <a:alpha val="70000"/>
                  </a:srgbClr>
                </a:solidFill>
                <a:latin typeface="Arial" pitchFamily="34" charset="0"/>
                <a:ea typeface="Arial" pitchFamily="34" charset="-122"/>
                <a:cs typeface="Arial" pitchFamily="34" charset="-120"/>
              </a:rPr>
              <a:t>CHAPTER SIX · 95% CONFIDENCE INTERVALS</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Mobile and Rewards bands don't overlap with the rest.</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Shape 3"/>
          <p:cNvSpPr/>
          <p:nvPr/>
        </p:nvSpPr>
        <p:spPr>
          <a:xfrm>
            <a:off x="571500" y="3248918"/>
            <a:ext cx="10012561" cy="6000750"/>
          </a:xfrm>
          <a:prstGeom prst="roundRect">
            <a:avLst>
              <a:gd name="adj" fmla="val 2222"/>
            </a:avLst>
          </a:prstGeom>
          <a:solidFill>
            <a:srgbClr val="FAF8ED"/>
          </a:solidFill>
          <a:ln w="9525">
            <a:solidFill>
              <a:srgbClr val="7D4C3D">
                <a:alpha val="18000"/>
              </a:srgbClr>
            </a:solidFill>
            <a:prstDash val="solid"/>
          </a:ln>
          <a:effectLst>
            <a:outerShdw sx="100000" sy="100000" kx="0" ky="0" algn="bl" rotWithShape="0" blurRad="228600" dist="76200" dir="5400000">
              <a:srgbClr val="7D4C3D">
                <a:alpha val="8000"/>
              </a:srgbClr>
            </a:outerShdw>
          </a:effectLst>
        </p:spPr>
      </p:sp>
      <p:pic>
        <p:nvPicPr>
          <p:cNvPr id="6" name="Image 0" descr="preencoded.png">    </p:cNvPr>
          <p:cNvPicPr>
            <a:picLocks noChangeAspect="1"/>
          </p:cNvPicPr>
          <p:nvPr/>
        </p:nvPicPr>
        <p:blipFill>
          <a:blip r:embed="rId1"/>
          <a:srcRect l="0" r="0" t="0" b="0"/>
          <a:stretch/>
        </p:blipFill>
        <p:spPr>
          <a:xfrm>
            <a:off x="809625" y="3487043"/>
            <a:ext cx="9536311" cy="5524500"/>
          </a:xfrm>
          <a:prstGeom prst="rect">
            <a:avLst/>
          </a:prstGeom>
        </p:spPr>
      </p:pic>
      <p:sp>
        <p:nvSpPr>
          <p:cNvPr id="7" name="Shape 4"/>
          <p:cNvSpPr/>
          <p:nvPr/>
        </p:nvSpPr>
        <p:spPr>
          <a:xfrm>
            <a:off x="11041261" y="3849439"/>
            <a:ext cx="3158579" cy="619125"/>
          </a:xfrm>
          <a:prstGeom prst="roundRect">
            <a:avLst>
              <a:gd name="adj" fmla="val 18462"/>
            </a:avLst>
          </a:prstGeom>
          <a:solidFill>
            <a:srgbClr val="7D4C3D"/>
          </a:solidFill>
          <a:ln/>
        </p:spPr>
      </p:sp>
      <p:sp>
        <p:nvSpPr>
          <p:cNvPr id="8" name="Text 5"/>
          <p:cNvSpPr/>
          <p:nvPr/>
        </p:nvSpPr>
        <p:spPr>
          <a:xfrm>
            <a:off x="11269861" y="4020889"/>
            <a:ext cx="2796137" cy="314325"/>
          </a:xfrm>
          <a:prstGeom prst="rect">
            <a:avLst/>
          </a:prstGeom>
          <a:noFill/>
          <a:ln/>
        </p:spPr>
        <p:txBody>
          <a:bodyPr wrap="square" lIns="25400" tIns="25400" rIns="25400" bIns="25400" rtlCol="0" anchor="ctr">
            <a:normAutofit/>
          </a:bodyPr>
          <a:lstStyle/>
          <a:p>
            <a:pPr algn="l" indent="0" marL="0">
              <a:buNone/>
            </a:pPr>
            <a:r>
              <a:rPr lang="en-US" sz="1800" b="1" spc="72" kern="0" dirty="0">
                <a:solidFill>
                  <a:srgbClr val="FAF8ED"/>
                </a:solidFill>
                <a:latin typeface="Arial" pitchFamily="34" charset="0"/>
                <a:ea typeface="Arial" pitchFamily="34" charset="-122"/>
                <a:cs typeface="Arial" pitchFamily="34" charset="-120"/>
              </a:rPr>
              <a:t>Segment</a:t>
            </a:r>
            <a:endParaRPr lang="en-US" sz="1800" dirty="0"/>
          </a:p>
        </p:txBody>
      </p:sp>
      <p:sp>
        <p:nvSpPr>
          <p:cNvPr id="9" name="Shape 6"/>
          <p:cNvSpPr/>
          <p:nvPr/>
        </p:nvSpPr>
        <p:spPr>
          <a:xfrm>
            <a:off x="14199840" y="3849439"/>
            <a:ext cx="3516511" cy="619125"/>
          </a:xfrm>
          <a:prstGeom prst="rect">
            <a:avLst/>
          </a:prstGeom>
          <a:solidFill>
            <a:srgbClr val="7D4C3D"/>
          </a:solidFill>
          <a:ln/>
        </p:spPr>
      </p:sp>
      <p:sp>
        <p:nvSpPr>
          <p:cNvPr id="10" name="Text 7"/>
          <p:cNvSpPr/>
          <p:nvPr/>
        </p:nvSpPr>
        <p:spPr>
          <a:xfrm>
            <a:off x="14322945" y="4020889"/>
            <a:ext cx="3164806" cy="314325"/>
          </a:xfrm>
          <a:prstGeom prst="rect">
            <a:avLst/>
          </a:prstGeom>
          <a:noFill/>
          <a:ln/>
        </p:spPr>
        <p:txBody>
          <a:bodyPr wrap="square" lIns="25400" tIns="25400" rIns="25400" bIns="25400" rtlCol="0" anchor="ctr">
            <a:normAutofit/>
          </a:bodyPr>
          <a:lstStyle/>
          <a:p>
            <a:pPr algn="r" indent="0" marL="0">
              <a:buNone/>
            </a:pPr>
            <a:r>
              <a:rPr lang="en-US" sz="1800" b="1" spc="72" kern="0" dirty="0">
                <a:solidFill>
                  <a:srgbClr val="FAF8ED"/>
                </a:solidFill>
                <a:latin typeface="Arial" pitchFamily="34" charset="0"/>
                <a:ea typeface="Arial" pitchFamily="34" charset="-122"/>
                <a:cs typeface="Arial" pitchFamily="34" charset="-120"/>
              </a:rPr>
              <a:t>95% CI</a:t>
            </a:r>
            <a:endParaRPr lang="en-US" sz="1800" dirty="0"/>
          </a:p>
        </p:txBody>
      </p:sp>
      <p:sp>
        <p:nvSpPr>
          <p:cNvPr id="11" name="Shape 8"/>
          <p:cNvSpPr/>
          <p:nvPr/>
        </p:nvSpPr>
        <p:spPr>
          <a:xfrm>
            <a:off x="11041261" y="4468564"/>
            <a:ext cx="3158579" cy="623888"/>
          </a:xfrm>
          <a:prstGeom prst="rect">
            <a:avLst/>
          </a:prstGeom>
          <a:solidFill>
            <a:srgbClr val="FFFDF7">
              <a:alpha val="55000"/>
            </a:srgbClr>
          </a:solidFill>
          <a:ln/>
        </p:spPr>
      </p:sp>
      <p:sp>
        <p:nvSpPr>
          <p:cNvPr id="12" name="Shape 9"/>
          <p:cNvSpPr/>
          <p:nvPr/>
        </p:nvSpPr>
        <p:spPr>
          <a:xfrm>
            <a:off x="11041261" y="5082927"/>
            <a:ext cx="3158579" cy="9525"/>
          </a:xfrm>
          <a:prstGeom prst="rect">
            <a:avLst/>
          </a:prstGeom>
          <a:solidFill>
            <a:srgbClr val="7D4C3D">
              <a:alpha val="18000"/>
            </a:srgbClr>
          </a:solidFill>
          <a:ln/>
        </p:spPr>
      </p:sp>
      <p:sp>
        <p:nvSpPr>
          <p:cNvPr id="13" name="Text 10"/>
          <p:cNvSpPr/>
          <p:nvPr/>
        </p:nvSpPr>
        <p:spPr>
          <a:xfrm>
            <a:off x="11269861" y="4640014"/>
            <a:ext cx="2796137" cy="309562"/>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Overall mean</a:t>
            </a:r>
            <a:endParaRPr lang="en-US" sz="1800" dirty="0"/>
          </a:p>
        </p:txBody>
      </p:sp>
      <p:sp>
        <p:nvSpPr>
          <p:cNvPr id="14" name="Shape 11"/>
          <p:cNvSpPr/>
          <p:nvPr/>
        </p:nvSpPr>
        <p:spPr>
          <a:xfrm>
            <a:off x="14199840" y="4468564"/>
            <a:ext cx="3516511" cy="623888"/>
          </a:xfrm>
          <a:prstGeom prst="rect">
            <a:avLst/>
          </a:prstGeom>
          <a:solidFill>
            <a:srgbClr val="FFFDF7">
              <a:alpha val="55000"/>
            </a:srgbClr>
          </a:solidFill>
          <a:ln/>
        </p:spPr>
      </p:sp>
      <p:sp>
        <p:nvSpPr>
          <p:cNvPr id="15" name="Shape 12"/>
          <p:cNvSpPr/>
          <p:nvPr/>
        </p:nvSpPr>
        <p:spPr>
          <a:xfrm>
            <a:off x="14199840" y="5082927"/>
            <a:ext cx="3516511" cy="9525"/>
          </a:xfrm>
          <a:prstGeom prst="rect">
            <a:avLst/>
          </a:prstGeom>
          <a:solidFill>
            <a:srgbClr val="7D4C3D">
              <a:alpha val="18000"/>
            </a:srgbClr>
          </a:solidFill>
          <a:ln/>
        </p:spPr>
      </p:sp>
      <p:sp>
        <p:nvSpPr>
          <p:cNvPr id="16" name="Text 13"/>
          <p:cNvSpPr/>
          <p:nvPr/>
        </p:nvSpPr>
        <p:spPr>
          <a:xfrm>
            <a:off x="14322945" y="4640014"/>
            <a:ext cx="3164806" cy="309562"/>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[14.83, 14.90]</a:t>
            </a:r>
            <a:endParaRPr lang="en-US" sz="1800" dirty="0"/>
          </a:p>
        </p:txBody>
      </p:sp>
      <p:sp>
        <p:nvSpPr>
          <p:cNvPr id="17" name="Shape 14"/>
          <p:cNvSpPr/>
          <p:nvPr/>
        </p:nvSpPr>
        <p:spPr>
          <a:xfrm>
            <a:off x="11041261" y="5092452"/>
            <a:ext cx="3158579" cy="628650"/>
          </a:xfrm>
          <a:prstGeom prst="rect">
            <a:avLst/>
          </a:prstGeom>
          <a:solidFill>
            <a:srgbClr val="E8DCCB"/>
          </a:solidFill>
          <a:ln/>
        </p:spPr>
      </p:sp>
      <p:sp>
        <p:nvSpPr>
          <p:cNvPr id="18" name="Shape 15"/>
          <p:cNvSpPr/>
          <p:nvPr/>
        </p:nvSpPr>
        <p:spPr>
          <a:xfrm>
            <a:off x="11041261" y="5711577"/>
            <a:ext cx="3158579" cy="9525"/>
          </a:xfrm>
          <a:prstGeom prst="rect">
            <a:avLst/>
          </a:prstGeom>
          <a:solidFill>
            <a:srgbClr val="7D4C3D">
              <a:alpha val="18000"/>
            </a:srgbClr>
          </a:solidFill>
          <a:ln/>
        </p:spPr>
      </p:sp>
      <p:sp>
        <p:nvSpPr>
          <p:cNvPr id="19" name="Text 16"/>
          <p:cNvSpPr/>
          <p:nvPr/>
        </p:nvSpPr>
        <p:spPr>
          <a:xfrm>
            <a:off x="11269861" y="5263902"/>
            <a:ext cx="279613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Mobile App</a:t>
            </a:r>
            <a:endParaRPr lang="en-US" sz="1800" dirty="0"/>
          </a:p>
        </p:txBody>
      </p:sp>
      <p:sp>
        <p:nvSpPr>
          <p:cNvPr id="20" name="Shape 17"/>
          <p:cNvSpPr/>
          <p:nvPr/>
        </p:nvSpPr>
        <p:spPr>
          <a:xfrm>
            <a:off x="14199840" y="5092452"/>
            <a:ext cx="3516511" cy="628650"/>
          </a:xfrm>
          <a:prstGeom prst="rect">
            <a:avLst/>
          </a:prstGeom>
          <a:solidFill>
            <a:srgbClr val="E8DCCB"/>
          </a:solidFill>
          <a:ln/>
        </p:spPr>
      </p:sp>
      <p:sp>
        <p:nvSpPr>
          <p:cNvPr id="21" name="Shape 18"/>
          <p:cNvSpPr/>
          <p:nvPr/>
        </p:nvSpPr>
        <p:spPr>
          <a:xfrm>
            <a:off x="14199840" y="5711577"/>
            <a:ext cx="3516511" cy="9525"/>
          </a:xfrm>
          <a:prstGeom prst="rect">
            <a:avLst/>
          </a:prstGeom>
          <a:solidFill>
            <a:srgbClr val="7D4C3D">
              <a:alpha val="18000"/>
            </a:srgbClr>
          </a:solidFill>
          <a:ln/>
        </p:spPr>
      </p:sp>
      <p:sp>
        <p:nvSpPr>
          <p:cNvPr id="22" name="Text 19"/>
          <p:cNvSpPr/>
          <p:nvPr/>
        </p:nvSpPr>
        <p:spPr>
          <a:xfrm>
            <a:off x="14322945" y="5263902"/>
            <a:ext cx="3164806"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1E5631"/>
                </a:solidFill>
                <a:latin typeface="Arial" pitchFamily="34" charset="0"/>
                <a:ea typeface="Arial" pitchFamily="34" charset="-122"/>
                <a:cs typeface="Arial" pitchFamily="34" charset="-120"/>
              </a:rPr>
              <a:t>[18.02, 18.13]</a:t>
            </a:r>
            <a:endParaRPr lang="en-US" sz="1800" dirty="0"/>
          </a:p>
        </p:txBody>
      </p:sp>
      <p:sp>
        <p:nvSpPr>
          <p:cNvPr id="23" name="Shape 20"/>
          <p:cNvSpPr/>
          <p:nvPr/>
        </p:nvSpPr>
        <p:spPr>
          <a:xfrm>
            <a:off x="11041261" y="5721102"/>
            <a:ext cx="3158579" cy="628650"/>
          </a:xfrm>
          <a:prstGeom prst="rect">
            <a:avLst/>
          </a:prstGeom>
          <a:solidFill>
            <a:srgbClr val="FFFDF7">
              <a:alpha val="55000"/>
            </a:srgbClr>
          </a:solidFill>
          <a:ln/>
        </p:spPr>
      </p:sp>
      <p:sp>
        <p:nvSpPr>
          <p:cNvPr id="24" name="Shape 21"/>
          <p:cNvSpPr/>
          <p:nvPr/>
        </p:nvSpPr>
        <p:spPr>
          <a:xfrm>
            <a:off x="11041261" y="6340227"/>
            <a:ext cx="3158579" cy="9525"/>
          </a:xfrm>
          <a:prstGeom prst="rect">
            <a:avLst/>
          </a:prstGeom>
          <a:solidFill>
            <a:srgbClr val="7D4C3D">
              <a:alpha val="18000"/>
            </a:srgbClr>
          </a:solidFill>
          <a:ln/>
        </p:spPr>
      </p:sp>
      <p:sp>
        <p:nvSpPr>
          <p:cNvPr id="25" name="Text 22"/>
          <p:cNvSpPr/>
          <p:nvPr/>
        </p:nvSpPr>
        <p:spPr>
          <a:xfrm>
            <a:off x="11269861" y="5892552"/>
            <a:ext cx="279613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Rewards</a:t>
            </a:r>
            <a:endParaRPr lang="en-US" sz="1800" dirty="0"/>
          </a:p>
        </p:txBody>
      </p:sp>
      <p:sp>
        <p:nvSpPr>
          <p:cNvPr id="26" name="Shape 23"/>
          <p:cNvSpPr/>
          <p:nvPr/>
        </p:nvSpPr>
        <p:spPr>
          <a:xfrm>
            <a:off x="14199840" y="5721102"/>
            <a:ext cx="3516511" cy="628650"/>
          </a:xfrm>
          <a:prstGeom prst="rect">
            <a:avLst/>
          </a:prstGeom>
          <a:solidFill>
            <a:srgbClr val="FFFDF7">
              <a:alpha val="55000"/>
            </a:srgbClr>
          </a:solidFill>
          <a:ln/>
        </p:spPr>
      </p:sp>
      <p:sp>
        <p:nvSpPr>
          <p:cNvPr id="27" name="Shape 24"/>
          <p:cNvSpPr/>
          <p:nvPr/>
        </p:nvSpPr>
        <p:spPr>
          <a:xfrm>
            <a:off x="14199840" y="6340227"/>
            <a:ext cx="3516511" cy="9525"/>
          </a:xfrm>
          <a:prstGeom prst="rect">
            <a:avLst/>
          </a:prstGeom>
          <a:solidFill>
            <a:srgbClr val="7D4C3D">
              <a:alpha val="18000"/>
            </a:srgbClr>
          </a:solidFill>
          <a:ln/>
        </p:spPr>
      </p:sp>
      <p:sp>
        <p:nvSpPr>
          <p:cNvPr id="28" name="Text 25"/>
          <p:cNvSpPr/>
          <p:nvPr/>
        </p:nvSpPr>
        <p:spPr>
          <a:xfrm>
            <a:off x="14322945" y="5892552"/>
            <a:ext cx="3164806"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1E5631"/>
                </a:solidFill>
                <a:latin typeface="Arial" pitchFamily="34" charset="0"/>
                <a:ea typeface="Arial" pitchFamily="34" charset="-122"/>
                <a:cs typeface="Arial" pitchFamily="34" charset="-120"/>
              </a:rPr>
              <a:t>[15.67, 15.77]</a:t>
            </a:r>
            <a:endParaRPr lang="en-US" sz="1800" dirty="0"/>
          </a:p>
        </p:txBody>
      </p:sp>
      <p:sp>
        <p:nvSpPr>
          <p:cNvPr id="29" name="Shape 26"/>
          <p:cNvSpPr/>
          <p:nvPr/>
        </p:nvSpPr>
        <p:spPr>
          <a:xfrm>
            <a:off x="11041261" y="6349752"/>
            <a:ext cx="3158579" cy="628650"/>
          </a:xfrm>
          <a:prstGeom prst="rect">
            <a:avLst/>
          </a:prstGeom>
          <a:solidFill>
            <a:srgbClr val="E8DCCB"/>
          </a:solidFill>
          <a:ln/>
        </p:spPr>
      </p:sp>
      <p:sp>
        <p:nvSpPr>
          <p:cNvPr id="30" name="Shape 27"/>
          <p:cNvSpPr/>
          <p:nvPr/>
        </p:nvSpPr>
        <p:spPr>
          <a:xfrm>
            <a:off x="11041261" y="6968877"/>
            <a:ext cx="3158579" cy="9525"/>
          </a:xfrm>
          <a:prstGeom prst="rect">
            <a:avLst/>
          </a:prstGeom>
          <a:solidFill>
            <a:srgbClr val="7D4C3D">
              <a:alpha val="18000"/>
            </a:srgbClr>
          </a:solidFill>
          <a:ln/>
        </p:spPr>
      </p:sp>
      <p:sp>
        <p:nvSpPr>
          <p:cNvPr id="31" name="Text 28"/>
          <p:cNvSpPr/>
          <p:nvPr/>
        </p:nvSpPr>
        <p:spPr>
          <a:xfrm>
            <a:off x="11269861" y="6521202"/>
            <a:ext cx="279613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Non-Rewards</a:t>
            </a:r>
            <a:endParaRPr lang="en-US" sz="1800" dirty="0"/>
          </a:p>
        </p:txBody>
      </p:sp>
      <p:sp>
        <p:nvSpPr>
          <p:cNvPr id="32" name="Shape 29"/>
          <p:cNvSpPr/>
          <p:nvPr/>
        </p:nvSpPr>
        <p:spPr>
          <a:xfrm>
            <a:off x="14199840" y="6349752"/>
            <a:ext cx="3516511" cy="628650"/>
          </a:xfrm>
          <a:prstGeom prst="rect">
            <a:avLst/>
          </a:prstGeom>
          <a:solidFill>
            <a:srgbClr val="E8DCCB"/>
          </a:solidFill>
          <a:ln/>
        </p:spPr>
      </p:sp>
      <p:sp>
        <p:nvSpPr>
          <p:cNvPr id="33" name="Shape 30"/>
          <p:cNvSpPr/>
          <p:nvPr/>
        </p:nvSpPr>
        <p:spPr>
          <a:xfrm>
            <a:off x="14199840" y="6968877"/>
            <a:ext cx="3516511" cy="9525"/>
          </a:xfrm>
          <a:prstGeom prst="rect">
            <a:avLst/>
          </a:prstGeom>
          <a:solidFill>
            <a:srgbClr val="7D4C3D">
              <a:alpha val="18000"/>
            </a:srgbClr>
          </a:solidFill>
          <a:ln/>
        </p:spPr>
      </p:sp>
      <p:sp>
        <p:nvSpPr>
          <p:cNvPr id="34" name="Text 31"/>
          <p:cNvSpPr/>
          <p:nvPr/>
        </p:nvSpPr>
        <p:spPr>
          <a:xfrm>
            <a:off x="14322945" y="6521202"/>
            <a:ext cx="3164806" cy="314325"/>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[14.04, 14.13]</a:t>
            </a:r>
            <a:endParaRPr lang="en-US" sz="1800" dirty="0"/>
          </a:p>
        </p:txBody>
      </p:sp>
      <p:sp>
        <p:nvSpPr>
          <p:cNvPr id="35" name="Text 32"/>
          <p:cNvSpPr/>
          <p:nvPr/>
        </p:nvSpPr>
        <p:spPr>
          <a:xfrm>
            <a:off x="11041261" y="7249864"/>
            <a:ext cx="6875343" cy="118958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5D3527"/>
                </a:solidFill>
                <a:latin typeface="Arial" pitchFamily="34" charset="0"/>
                <a:ea typeface="Arial" pitchFamily="34" charset="-122"/>
                <a:cs typeface="Arial" pitchFamily="34" charset="-120"/>
              </a:rPr>
              <a:t>With </a:t>
            </a:r>
            <a:pPr algn="l" indent="0" marL="0">
              <a:lnSpc>
                <a:spcPct val="155000"/>
              </a:lnSpc>
              <a:buNone/>
            </a:pPr>
            <a:r>
              <a:rPr lang="en-US" sz="1950" i="1" dirty="0">
                <a:solidFill>
                  <a:srgbClr val="5D3527"/>
                </a:solidFill>
                <a:latin typeface="Arial" pitchFamily="34" charset="0"/>
                <a:ea typeface="Arial" pitchFamily="34" charset="-122"/>
                <a:cs typeface="Arial" pitchFamily="34" charset="-120"/>
              </a:rPr>
              <a:t>n </a:t>
            </a:r>
            <a:pPr algn="l" indent="0" marL="0">
              <a:lnSpc>
                <a:spcPct val="155000"/>
              </a:lnSpc>
              <a:buNone/>
            </a:pPr>
            <a:r>
              <a:rPr lang="en-US" sz="1950" dirty="0">
                <a:solidFill>
                  <a:srgbClr val="5D3527"/>
                </a:solidFill>
                <a:latin typeface="Arial" pitchFamily="34" charset="0"/>
                <a:ea typeface="Arial" pitchFamily="34" charset="-122"/>
                <a:cs typeface="Arial" pitchFamily="34" charset="-120"/>
              </a:rPr>
              <a:t>≈ 100,000, intervals are narrow. The Mobile band sits well above every other channel — previewing the hypothesis tests.</a:t>
            </a:r>
            <a:endParaRPr lang="en-US" sz="1950" dirty="0"/>
          </a:p>
        </p:txBody>
      </p:sp>
      <p:sp>
        <p:nvSpPr>
          <p:cNvPr id="36" name="Text 33"/>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5D3527">
                    <a:alpha val="85000"/>
                  </a:srgbClr>
                </a:solidFill>
                <a:latin typeface="Arial" pitchFamily="34" charset="0"/>
                <a:ea typeface="Arial" pitchFamily="34" charset="-122"/>
                <a:cs typeface="Arial" pitchFamily="34" charset="-120"/>
              </a:rPr>
              <a:t>Starbucks</a:t>
            </a:r>
            <a:endParaRPr lang="en-US" sz="1950" dirty="0"/>
          </a:p>
        </p:txBody>
      </p:sp>
      <p:sp>
        <p:nvSpPr>
          <p:cNvPr id="37" name="Text 34"/>
          <p:cNvSpPr/>
          <p:nvPr/>
        </p:nvSpPr>
        <p:spPr>
          <a:xfrm>
            <a:off x="571500" y="9591675"/>
            <a:ext cx="1083171"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07 / 16</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7240027"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SEVEN · HYPOTHESIS TESTING</a:t>
            </a:r>
            <a:endParaRPr lang="en-US" sz="1800" dirty="0"/>
          </a:p>
        </p:txBody>
      </p:sp>
      <p:sp>
        <p:nvSpPr>
          <p:cNvPr id="3" name="Text 1"/>
          <p:cNvSpPr/>
          <p:nvPr/>
        </p:nvSpPr>
        <p:spPr>
          <a:xfrm>
            <a:off x="571500" y="1524000"/>
            <a:ext cx="14716125"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Four tests, four verdicts.</a:t>
            </a:r>
            <a:endParaRPr lang="en-US" sz="4800" dirty="0"/>
          </a:p>
        </p:txBody>
      </p:sp>
      <p:sp>
        <p:nvSpPr>
          <p:cNvPr id="4" name="Shape 2"/>
          <p:cNvSpPr/>
          <p:nvPr/>
        </p:nvSpPr>
        <p:spPr>
          <a:xfrm>
            <a:off x="571500" y="2310259"/>
            <a:ext cx="762000" cy="19050"/>
          </a:xfrm>
          <a:prstGeom prst="rect">
            <a:avLst/>
          </a:prstGeom>
          <a:solidFill>
            <a:srgbClr val="7D4C3D"/>
          </a:solidFill>
          <a:ln/>
        </p:spPr>
      </p:sp>
      <p:sp>
        <p:nvSpPr>
          <p:cNvPr id="5" name="Shape 3"/>
          <p:cNvSpPr/>
          <p:nvPr/>
        </p:nvSpPr>
        <p:spPr>
          <a:xfrm>
            <a:off x="571500" y="2927449"/>
            <a:ext cx="8305800" cy="5810250"/>
          </a:xfrm>
          <a:prstGeom prst="roundRect">
            <a:avLst>
              <a:gd name="adj" fmla="val 2295"/>
            </a:avLst>
          </a:prstGeom>
          <a:solidFill>
            <a:srgbClr val="FFFFFF"/>
          </a:solidFill>
          <a:ln w="9525">
            <a:solidFill>
              <a:srgbClr val="7D4C3D">
                <a:alpha val="18000"/>
              </a:srgbClr>
            </a:solidFill>
            <a:prstDash val="solid"/>
          </a:ln>
          <a:effectLst>
            <a:outerShdw sx="100000" sy="100000" kx="0" ky="0" algn="bl" rotWithShape="0" blurRad="228600" dist="76200" dir="5400000">
              <a:srgbClr val="7D4C3D">
                <a:alpha val="8000"/>
              </a:srgbClr>
            </a:outerShdw>
          </a:effectLst>
        </p:spPr>
      </p:sp>
      <p:pic>
        <p:nvPicPr>
          <p:cNvPr id="6" name="Image 0" descr="preencoded.png">    </p:cNvPr>
          <p:cNvPicPr>
            <a:picLocks noChangeAspect="1"/>
          </p:cNvPicPr>
          <p:nvPr/>
        </p:nvPicPr>
        <p:blipFill>
          <a:blip r:embed="rId1"/>
          <a:srcRect l="0" r="0" t="0" b="0"/>
          <a:stretch/>
        </p:blipFill>
        <p:spPr>
          <a:xfrm>
            <a:off x="809625" y="3165574"/>
            <a:ext cx="7829550" cy="5334000"/>
          </a:xfrm>
          <a:prstGeom prst="rect">
            <a:avLst/>
          </a:prstGeom>
        </p:spPr>
      </p:pic>
      <p:sp>
        <p:nvSpPr>
          <p:cNvPr id="7" name="Shape 4"/>
          <p:cNvSpPr/>
          <p:nvPr/>
        </p:nvSpPr>
        <p:spPr>
          <a:xfrm>
            <a:off x="9410700" y="2596009"/>
            <a:ext cx="1750516" cy="619125"/>
          </a:xfrm>
          <a:prstGeom prst="roundRect">
            <a:avLst>
              <a:gd name="adj" fmla="val 18462"/>
            </a:avLst>
          </a:prstGeom>
          <a:solidFill>
            <a:srgbClr val="7D4C3D"/>
          </a:solidFill>
          <a:ln/>
        </p:spPr>
      </p:sp>
      <p:sp>
        <p:nvSpPr>
          <p:cNvPr id="8" name="Text 5"/>
          <p:cNvSpPr/>
          <p:nvPr/>
        </p:nvSpPr>
        <p:spPr>
          <a:xfrm>
            <a:off x="9639300" y="2767459"/>
            <a:ext cx="1369516" cy="314325"/>
          </a:xfrm>
          <a:prstGeom prst="rect">
            <a:avLst/>
          </a:prstGeom>
          <a:noFill/>
          <a:ln/>
        </p:spPr>
        <p:txBody>
          <a:bodyPr wrap="square" lIns="25400" tIns="25400" rIns="25400" bIns="25400" rtlCol="0" anchor="ctr">
            <a:normAutofit/>
          </a:bodyPr>
          <a:lstStyle/>
          <a:p>
            <a:pPr algn="l" indent="0" marL="0">
              <a:buNone/>
            </a:pPr>
            <a:r>
              <a:rPr lang="en-US" sz="1800" b="1" spc="72" kern="0" dirty="0">
                <a:solidFill>
                  <a:srgbClr val="FAF8ED"/>
                </a:solidFill>
                <a:latin typeface="Arial" pitchFamily="34" charset="0"/>
                <a:ea typeface="Arial" pitchFamily="34" charset="-122"/>
                <a:cs typeface="Arial" pitchFamily="34" charset="-120"/>
              </a:rPr>
              <a:t>Test</a:t>
            </a:r>
            <a:endParaRPr lang="en-US" sz="1800" dirty="0"/>
          </a:p>
        </p:txBody>
      </p:sp>
      <p:sp>
        <p:nvSpPr>
          <p:cNvPr id="9" name="Shape 6"/>
          <p:cNvSpPr/>
          <p:nvPr/>
        </p:nvSpPr>
        <p:spPr>
          <a:xfrm>
            <a:off x="11161216" y="2596009"/>
            <a:ext cx="1247775" cy="619125"/>
          </a:xfrm>
          <a:prstGeom prst="rect">
            <a:avLst/>
          </a:prstGeom>
          <a:solidFill>
            <a:srgbClr val="7D4C3D"/>
          </a:solidFill>
          <a:ln/>
        </p:spPr>
      </p:sp>
      <p:sp>
        <p:nvSpPr>
          <p:cNvPr id="10" name="Text 7"/>
          <p:cNvSpPr/>
          <p:nvPr/>
        </p:nvSpPr>
        <p:spPr>
          <a:xfrm>
            <a:off x="11313616" y="2767459"/>
            <a:ext cx="866775" cy="314325"/>
          </a:xfrm>
          <a:prstGeom prst="rect">
            <a:avLst/>
          </a:prstGeom>
          <a:noFill/>
          <a:ln/>
        </p:spPr>
        <p:txBody>
          <a:bodyPr wrap="square" lIns="25400" tIns="25400" rIns="25400" bIns="25400" rtlCol="0" anchor="ctr">
            <a:normAutofit/>
          </a:bodyPr>
          <a:lstStyle/>
          <a:p>
            <a:pPr algn="r" indent="0" marL="0">
              <a:buNone/>
            </a:pPr>
            <a:r>
              <a:rPr lang="en-US" sz="1800" b="1" spc="72" kern="0" dirty="0">
                <a:solidFill>
                  <a:srgbClr val="FAF8ED"/>
                </a:solidFill>
                <a:latin typeface="Arial" pitchFamily="34" charset="0"/>
                <a:ea typeface="Arial" pitchFamily="34" charset="-122"/>
                <a:cs typeface="Arial" pitchFamily="34" charset="-120"/>
              </a:rPr>
              <a:t>Diff</a:t>
            </a:r>
            <a:endParaRPr lang="en-US" sz="1800" dirty="0"/>
          </a:p>
        </p:txBody>
      </p:sp>
      <p:sp>
        <p:nvSpPr>
          <p:cNvPr id="11" name="Shape 8"/>
          <p:cNvSpPr/>
          <p:nvPr/>
        </p:nvSpPr>
        <p:spPr>
          <a:xfrm>
            <a:off x="12408991" y="2596009"/>
            <a:ext cx="1490067" cy="619125"/>
          </a:xfrm>
          <a:prstGeom prst="rect">
            <a:avLst/>
          </a:prstGeom>
          <a:solidFill>
            <a:srgbClr val="7D4C3D"/>
          </a:solidFill>
          <a:ln/>
        </p:spPr>
      </p:sp>
      <p:sp>
        <p:nvSpPr>
          <p:cNvPr id="12" name="Text 9"/>
          <p:cNvSpPr/>
          <p:nvPr/>
        </p:nvSpPr>
        <p:spPr>
          <a:xfrm>
            <a:off x="12561391" y="2767459"/>
            <a:ext cx="1109067" cy="314325"/>
          </a:xfrm>
          <a:prstGeom prst="rect">
            <a:avLst/>
          </a:prstGeom>
          <a:noFill/>
          <a:ln/>
        </p:spPr>
        <p:txBody>
          <a:bodyPr wrap="square" lIns="25400" tIns="25400" rIns="25400" bIns="25400" rtlCol="0" anchor="ctr">
            <a:normAutofit/>
          </a:bodyPr>
          <a:lstStyle/>
          <a:p>
            <a:pPr algn="r" indent="0" marL="0">
              <a:buNone/>
            </a:pPr>
            <a:r>
              <a:rPr lang="en-US" sz="1800" b="1" spc="72" kern="0" dirty="0">
                <a:solidFill>
                  <a:srgbClr val="FAF8ED"/>
                </a:solidFill>
                <a:latin typeface="Arial" pitchFamily="34" charset="0"/>
                <a:ea typeface="Arial" pitchFamily="34" charset="-122"/>
                <a:cs typeface="Arial" pitchFamily="34" charset="-120"/>
              </a:rPr>
              <a:t>Stat</a:t>
            </a:r>
            <a:endParaRPr lang="en-US" sz="1800" dirty="0"/>
          </a:p>
        </p:txBody>
      </p:sp>
      <p:sp>
        <p:nvSpPr>
          <p:cNvPr id="13" name="Shape 10"/>
          <p:cNvSpPr/>
          <p:nvPr/>
        </p:nvSpPr>
        <p:spPr>
          <a:xfrm>
            <a:off x="13899059" y="2596009"/>
            <a:ext cx="962471" cy="619125"/>
          </a:xfrm>
          <a:prstGeom prst="rect">
            <a:avLst/>
          </a:prstGeom>
          <a:solidFill>
            <a:srgbClr val="7D4C3D"/>
          </a:solidFill>
          <a:ln/>
        </p:spPr>
      </p:sp>
      <p:sp>
        <p:nvSpPr>
          <p:cNvPr id="14" name="Text 11"/>
          <p:cNvSpPr/>
          <p:nvPr/>
        </p:nvSpPr>
        <p:spPr>
          <a:xfrm>
            <a:off x="14051459" y="2767459"/>
            <a:ext cx="581471" cy="314325"/>
          </a:xfrm>
          <a:prstGeom prst="rect">
            <a:avLst/>
          </a:prstGeom>
          <a:noFill/>
          <a:ln/>
        </p:spPr>
        <p:txBody>
          <a:bodyPr wrap="square" lIns="25400" tIns="25400" rIns="25400" bIns="25400" rtlCol="0" anchor="ctr">
            <a:normAutofit/>
          </a:bodyPr>
          <a:lstStyle/>
          <a:p>
            <a:pPr algn="r" indent="0" marL="0">
              <a:buNone/>
            </a:pPr>
            <a:r>
              <a:rPr lang="en-US" sz="1800" b="1" spc="72" kern="0" dirty="0">
                <a:solidFill>
                  <a:srgbClr val="FAF8ED"/>
                </a:solidFill>
                <a:latin typeface="Arial" pitchFamily="34" charset="0"/>
                <a:ea typeface="Arial" pitchFamily="34" charset="-122"/>
                <a:cs typeface="Arial" pitchFamily="34" charset="-120"/>
              </a:rPr>
              <a:t>p</a:t>
            </a:r>
            <a:endParaRPr lang="en-US" sz="1800" dirty="0"/>
          </a:p>
        </p:txBody>
      </p:sp>
      <p:sp>
        <p:nvSpPr>
          <p:cNvPr id="15" name="Shape 12"/>
          <p:cNvSpPr/>
          <p:nvPr/>
        </p:nvSpPr>
        <p:spPr>
          <a:xfrm>
            <a:off x="14861530" y="2596009"/>
            <a:ext cx="2854970" cy="619125"/>
          </a:xfrm>
          <a:prstGeom prst="rect">
            <a:avLst/>
          </a:prstGeom>
          <a:solidFill>
            <a:srgbClr val="7D4C3D"/>
          </a:solidFill>
          <a:ln/>
        </p:spPr>
      </p:sp>
      <p:sp>
        <p:nvSpPr>
          <p:cNvPr id="16" name="Text 13"/>
          <p:cNvSpPr/>
          <p:nvPr/>
        </p:nvSpPr>
        <p:spPr>
          <a:xfrm>
            <a:off x="15090130" y="2767459"/>
            <a:ext cx="2483419" cy="314325"/>
          </a:xfrm>
          <a:prstGeom prst="rect">
            <a:avLst/>
          </a:prstGeom>
          <a:noFill/>
          <a:ln/>
        </p:spPr>
        <p:txBody>
          <a:bodyPr wrap="square" lIns="25400" tIns="25400" rIns="25400" bIns="25400" rtlCol="0" anchor="ctr">
            <a:normAutofit/>
          </a:bodyPr>
          <a:lstStyle/>
          <a:p>
            <a:pPr algn="l" indent="0" marL="0">
              <a:buNone/>
            </a:pPr>
            <a:r>
              <a:rPr lang="en-US" sz="1800" b="1" spc="72" kern="0" dirty="0">
                <a:solidFill>
                  <a:srgbClr val="FAF8ED"/>
                </a:solidFill>
                <a:latin typeface="Arial" pitchFamily="34" charset="0"/>
                <a:ea typeface="Arial" pitchFamily="34" charset="-122"/>
                <a:cs typeface="Arial" pitchFamily="34" charset="-120"/>
              </a:rPr>
              <a:t>Decision</a:t>
            </a:r>
            <a:endParaRPr lang="en-US" sz="1800" dirty="0"/>
          </a:p>
        </p:txBody>
      </p:sp>
      <p:sp>
        <p:nvSpPr>
          <p:cNvPr id="17" name="Shape 14"/>
          <p:cNvSpPr/>
          <p:nvPr/>
        </p:nvSpPr>
        <p:spPr>
          <a:xfrm>
            <a:off x="9410700" y="3215134"/>
            <a:ext cx="1750516" cy="881063"/>
          </a:xfrm>
          <a:prstGeom prst="rect">
            <a:avLst/>
          </a:prstGeom>
          <a:solidFill>
            <a:srgbClr val="FFFDF7">
              <a:alpha val="55000"/>
            </a:srgbClr>
          </a:solidFill>
          <a:ln/>
        </p:spPr>
      </p:sp>
      <p:sp>
        <p:nvSpPr>
          <p:cNvPr id="18" name="Shape 15"/>
          <p:cNvSpPr/>
          <p:nvPr/>
        </p:nvSpPr>
        <p:spPr>
          <a:xfrm>
            <a:off x="9410700" y="4086671"/>
            <a:ext cx="1750516" cy="9525"/>
          </a:xfrm>
          <a:prstGeom prst="rect">
            <a:avLst/>
          </a:prstGeom>
          <a:solidFill>
            <a:srgbClr val="7D4C3D">
              <a:alpha val="18000"/>
            </a:srgbClr>
          </a:solidFill>
          <a:ln/>
        </p:spPr>
      </p:sp>
      <p:sp>
        <p:nvSpPr>
          <p:cNvPr id="19" name="Text 16"/>
          <p:cNvSpPr/>
          <p:nvPr/>
        </p:nvSpPr>
        <p:spPr>
          <a:xfrm>
            <a:off x="9639300" y="3386584"/>
            <a:ext cx="1369516" cy="566738"/>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Mobile vs Non-Mobile</a:t>
            </a:r>
            <a:endParaRPr lang="en-US" sz="1800" dirty="0"/>
          </a:p>
        </p:txBody>
      </p:sp>
      <p:sp>
        <p:nvSpPr>
          <p:cNvPr id="20" name="Shape 17"/>
          <p:cNvSpPr/>
          <p:nvPr/>
        </p:nvSpPr>
        <p:spPr>
          <a:xfrm>
            <a:off x="11161216" y="3215134"/>
            <a:ext cx="1247775" cy="881063"/>
          </a:xfrm>
          <a:prstGeom prst="rect">
            <a:avLst/>
          </a:prstGeom>
          <a:solidFill>
            <a:srgbClr val="FFFDF7">
              <a:alpha val="55000"/>
            </a:srgbClr>
          </a:solidFill>
          <a:ln/>
        </p:spPr>
      </p:sp>
      <p:sp>
        <p:nvSpPr>
          <p:cNvPr id="21" name="Shape 18"/>
          <p:cNvSpPr/>
          <p:nvPr/>
        </p:nvSpPr>
        <p:spPr>
          <a:xfrm>
            <a:off x="11161216" y="4086671"/>
            <a:ext cx="1247775" cy="9525"/>
          </a:xfrm>
          <a:prstGeom prst="rect">
            <a:avLst/>
          </a:prstGeom>
          <a:solidFill>
            <a:srgbClr val="7D4C3D">
              <a:alpha val="18000"/>
            </a:srgbClr>
          </a:solidFill>
          <a:ln/>
        </p:spPr>
      </p:sp>
      <p:sp>
        <p:nvSpPr>
          <p:cNvPr id="22" name="Text 19"/>
          <p:cNvSpPr/>
          <p:nvPr/>
        </p:nvSpPr>
        <p:spPr>
          <a:xfrm>
            <a:off x="11313616" y="3386584"/>
            <a:ext cx="866775" cy="566738"/>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$5.58</a:t>
            </a:r>
            <a:endParaRPr lang="en-US" sz="1800" dirty="0"/>
          </a:p>
        </p:txBody>
      </p:sp>
      <p:sp>
        <p:nvSpPr>
          <p:cNvPr id="23" name="Shape 20"/>
          <p:cNvSpPr/>
          <p:nvPr/>
        </p:nvSpPr>
        <p:spPr>
          <a:xfrm>
            <a:off x="12408991" y="3215134"/>
            <a:ext cx="1490067" cy="881063"/>
          </a:xfrm>
          <a:prstGeom prst="rect">
            <a:avLst/>
          </a:prstGeom>
          <a:solidFill>
            <a:srgbClr val="FFFDF7">
              <a:alpha val="55000"/>
            </a:srgbClr>
          </a:solidFill>
          <a:ln/>
        </p:spPr>
      </p:sp>
      <p:sp>
        <p:nvSpPr>
          <p:cNvPr id="24" name="Shape 21"/>
          <p:cNvSpPr/>
          <p:nvPr/>
        </p:nvSpPr>
        <p:spPr>
          <a:xfrm>
            <a:off x="12408991" y="4086671"/>
            <a:ext cx="1490067" cy="9525"/>
          </a:xfrm>
          <a:prstGeom prst="rect">
            <a:avLst/>
          </a:prstGeom>
          <a:solidFill>
            <a:srgbClr val="7D4C3D">
              <a:alpha val="18000"/>
            </a:srgbClr>
          </a:solidFill>
          <a:ln/>
        </p:spPr>
      </p:sp>
      <p:sp>
        <p:nvSpPr>
          <p:cNvPr id="25" name="Text 22"/>
          <p:cNvSpPr/>
          <p:nvPr/>
        </p:nvSpPr>
        <p:spPr>
          <a:xfrm>
            <a:off x="12561391" y="3386584"/>
            <a:ext cx="1109067" cy="566738"/>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t=175.91</a:t>
            </a:r>
            <a:endParaRPr lang="en-US" sz="1800" dirty="0"/>
          </a:p>
        </p:txBody>
      </p:sp>
      <p:sp>
        <p:nvSpPr>
          <p:cNvPr id="26" name="Shape 23"/>
          <p:cNvSpPr/>
          <p:nvPr/>
        </p:nvSpPr>
        <p:spPr>
          <a:xfrm>
            <a:off x="13899059" y="3215134"/>
            <a:ext cx="962471" cy="881063"/>
          </a:xfrm>
          <a:prstGeom prst="rect">
            <a:avLst/>
          </a:prstGeom>
          <a:solidFill>
            <a:srgbClr val="FFFDF7">
              <a:alpha val="55000"/>
            </a:srgbClr>
          </a:solidFill>
          <a:ln/>
        </p:spPr>
      </p:sp>
      <p:sp>
        <p:nvSpPr>
          <p:cNvPr id="27" name="Shape 24"/>
          <p:cNvSpPr/>
          <p:nvPr/>
        </p:nvSpPr>
        <p:spPr>
          <a:xfrm>
            <a:off x="13899059" y="4086671"/>
            <a:ext cx="962471" cy="9525"/>
          </a:xfrm>
          <a:prstGeom prst="rect">
            <a:avLst/>
          </a:prstGeom>
          <a:solidFill>
            <a:srgbClr val="7D4C3D">
              <a:alpha val="18000"/>
            </a:srgbClr>
          </a:solidFill>
          <a:ln/>
        </p:spPr>
      </p:sp>
      <p:sp>
        <p:nvSpPr>
          <p:cNvPr id="28" name="Text 25"/>
          <p:cNvSpPr/>
          <p:nvPr/>
        </p:nvSpPr>
        <p:spPr>
          <a:xfrm>
            <a:off x="14051459" y="3386584"/>
            <a:ext cx="581471" cy="566738"/>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0</a:t>
            </a:r>
            <a:endParaRPr lang="en-US" sz="1800" dirty="0"/>
          </a:p>
        </p:txBody>
      </p:sp>
      <p:sp>
        <p:nvSpPr>
          <p:cNvPr id="29" name="Shape 26"/>
          <p:cNvSpPr/>
          <p:nvPr/>
        </p:nvSpPr>
        <p:spPr>
          <a:xfrm>
            <a:off x="14861530" y="3215134"/>
            <a:ext cx="2854970" cy="881063"/>
          </a:xfrm>
          <a:prstGeom prst="rect">
            <a:avLst/>
          </a:prstGeom>
          <a:solidFill>
            <a:srgbClr val="FFFDF7">
              <a:alpha val="55000"/>
            </a:srgbClr>
          </a:solidFill>
          <a:ln/>
        </p:spPr>
      </p:sp>
      <p:sp>
        <p:nvSpPr>
          <p:cNvPr id="30" name="Shape 27"/>
          <p:cNvSpPr/>
          <p:nvPr/>
        </p:nvSpPr>
        <p:spPr>
          <a:xfrm>
            <a:off x="14861530" y="4086671"/>
            <a:ext cx="2854970" cy="9525"/>
          </a:xfrm>
          <a:prstGeom prst="rect">
            <a:avLst/>
          </a:prstGeom>
          <a:solidFill>
            <a:srgbClr val="7D4C3D">
              <a:alpha val="18000"/>
            </a:srgbClr>
          </a:solidFill>
          <a:ln/>
        </p:spPr>
      </p:sp>
      <p:sp>
        <p:nvSpPr>
          <p:cNvPr id="31" name="Shape 28"/>
          <p:cNvSpPr/>
          <p:nvPr/>
        </p:nvSpPr>
        <p:spPr>
          <a:xfrm>
            <a:off x="15090130" y="3477071"/>
            <a:ext cx="1644848" cy="352425"/>
          </a:xfrm>
          <a:prstGeom prst="roundRect">
            <a:avLst>
              <a:gd name="adj" fmla="val 50000"/>
            </a:avLst>
          </a:prstGeom>
          <a:solidFill>
            <a:srgbClr val="7D4C3D"/>
          </a:solidFill>
          <a:ln/>
        </p:spPr>
      </p:sp>
      <p:sp>
        <p:nvSpPr>
          <p:cNvPr id="32" name="Text 29"/>
          <p:cNvSpPr/>
          <p:nvPr/>
        </p:nvSpPr>
        <p:spPr>
          <a:xfrm>
            <a:off x="15204430" y="3515171"/>
            <a:ext cx="1492448" cy="314325"/>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FAF8ED"/>
                </a:solidFill>
                <a:latin typeface="Arial" pitchFamily="34" charset="0"/>
                <a:ea typeface="Arial" pitchFamily="34" charset="-122"/>
                <a:cs typeface="Arial" pitchFamily="34" charset="-120"/>
              </a:rPr>
              <a:t>REJECT H₀</a:t>
            </a:r>
            <a:endParaRPr lang="en-US" sz="1800" dirty="0"/>
          </a:p>
        </p:txBody>
      </p:sp>
      <p:sp>
        <p:nvSpPr>
          <p:cNvPr id="33" name="Shape 30"/>
          <p:cNvSpPr/>
          <p:nvPr/>
        </p:nvSpPr>
        <p:spPr>
          <a:xfrm>
            <a:off x="9410700" y="4096196"/>
            <a:ext cx="1750516" cy="1152525"/>
          </a:xfrm>
          <a:prstGeom prst="rect">
            <a:avLst/>
          </a:prstGeom>
          <a:solidFill>
            <a:srgbClr val="E8DCCB"/>
          </a:solidFill>
          <a:ln/>
        </p:spPr>
      </p:sp>
      <p:sp>
        <p:nvSpPr>
          <p:cNvPr id="34" name="Shape 31"/>
          <p:cNvSpPr/>
          <p:nvPr/>
        </p:nvSpPr>
        <p:spPr>
          <a:xfrm>
            <a:off x="9410700" y="5239196"/>
            <a:ext cx="1750516" cy="9525"/>
          </a:xfrm>
          <a:prstGeom prst="rect">
            <a:avLst/>
          </a:prstGeom>
          <a:solidFill>
            <a:srgbClr val="7D4C3D">
              <a:alpha val="18000"/>
            </a:srgbClr>
          </a:solidFill>
          <a:ln/>
        </p:spPr>
      </p:sp>
      <p:sp>
        <p:nvSpPr>
          <p:cNvPr id="35" name="Text 32"/>
          <p:cNvSpPr/>
          <p:nvPr/>
        </p:nvSpPr>
        <p:spPr>
          <a:xfrm>
            <a:off x="9639300" y="4267646"/>
            <a:ext cx="1369516" cy="838200"/>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Rewards vs Non-Rewards</a:t>
            </a:r>
            <a:endParaRPr lang="en-US" sz="1800" dirty="0"/>
          </a:p>
        </p:txBody>
      </p:sp>
      <p:sp>
        <p:nvSpPr>
          <p:cNvPr id="36" name="Shape 33"/>
          <p:cNvSpPr/>
          <p:nvPr/>
        </p:nvSpPr>
        <p:spPr>
          <a:xfrm>
            <a:off x="11161216" y="4096196"/>
            <a:ext cx="1247775" cy="1152525"/>
          </a:xfrm>
          <a:prstGeom prst="rect">
            <a:avLst/>
          </a:prstGeom>
          <a:solidFill>
            <a:srgbClr val="E8DCCB"/>
          </a:solidFill>
          <a:ln/>
        </p:spPr>
      </p:sp>
      <p:sp>
        <p:nvSpPr>
          <p:cNvPr id="37" name="Shape 34"/>
          <p:cNvSpPr/>
          <p:nvPr/>
        </p:nvSpPr>
        <p:spPr>
          <a:xfrm>
            <a:off x="11161216" y="5239196"/>
            <a:ext cx="1247775" cy="9525"/>
          </a:xfrm>
          <a:prstGeom prst="rect">
            <a:avLst/>
          </a:prstGeom>
          <a:solidFill>
            <a:srgbClr val="7D4C3D">
              <a:alpha val="18000"/>
            </a:srgbClr>
          </a:solidFill>
          <a:ln/>
        </p:spPr>
      </p:sp>
      <p:sp>
        <p:nvSpPr>
          <p:cNvPr id="38" name="Text 35"/>
          <p:cNvSpPr/>
          <p:nvPr/>
        </p:nvSpPr>
        <p:spPr>
          <a:xfrm>
            <a:off x="11313616" y="4267646"/>
            <a:ext cx="866775" cy="8382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$1.63</a:t>
            </a:r>
            <a:endParaRPr lang="en-US" sz="1800" dirty="0"/>
          </a:p>
        </p:txBody>
      </p:sp>
      <p:sp>
        <p:nvSpPr>
          <p:cNvPr id="39" name="Shape 36"/>
          <p:cNvSpPr/>
          <p:nvPr/>
        </p:nvSpPr>
        <p:spPr>
          <a:xfrm>
            <a:off x="12408991" y="4096196"/>
            <a:ext cx="1490067" cy="1152525"/>
          </a:xfrm>
          <a:prstGeom prst="rect">
            <a:avLst/>
          </a:prstGeom>
          <a:solidFill>
            <a:srgbClr val="E8DCCB"/>
          </a:solidFill>
          <a:ln/>
        </p:spPr>
      </p:sp>
      <p:sp>
        <p:nvSpPr>
          <p:cNvPr id="40" name="Shape 37"/>
          <p:cNvSpPr/>
          <p:nvPr/>
        </p:nvSpPr>
        <p:spPr>
          <a:xfrm>
            <a:off x="12408991" y="5239196"/>
            <a:ext cx="1490067" cy="9525"/>
          </a:xfrm>
          <a:prstGeom prst="rect">
            <a:avLst/>
          </a:prstGeom>
          <a:solidFill>
            <a:srgbClr val="7D4C3D">
              <a:alpha val="18000"/>
            </a:srgbClr>
          </a:solidFill>
          <a:ln/>
        </p:spPr>
      </p:sp>
      <p:sp>
        <p:nvSpPr>
          <p:cNvPr id="41" name="Text 38"/>
          <p:cNvSpPr/>
          <p:nvPr/>
        </p:nvSpPr>
        <p:spPr>
          <a:xfrm>
            <a:off x="12561391" y="4267646"/>
            <a:ext cx="1109067" cy="8382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t=47.08</a:t>
            </a:r>
            <a:endParaRPr lang="en-US" sz="1800" dirty="0"/>
          </a:p>
        </p:txBody>
      </p:sp>
      <p:sp>
        <p:nvSpPr>
          <p:cNvPr id="42" name="Shape 39"/>
          <p:cNvSpPr/>
          <p:nvPr/>
        </p:nvSpPr>
        <p:spPr>
          <a:xfrm>
            <a:off x="13899059" y="4096196"/>
            <a:ext cx="962471" cy="1152525"/>
          </a:xfrm>
          <a:prstGeom prst="rect">
            <a:avLst/>
          </a:prstGeom>
          <a:solidFill>
            <a:srgbClr val="E8DCCB"/>
          </a:solidFill>
          <a:ln/>
        </p:spPr>
      </p:sp>
      <p:sp>
        <p:nvSpPr>
          <p:cNvPr id="43" name="Shape 40"/>
          <p:cNvSpPr/>
          <p:nvPr/>
        </p:nvSpPr>
        <p:spPr>
          <a:xfrm>
            <a:off x="13899059" y="5239196"/>
            <a:ext cx="962471" cy="9525"/>
          </a:xfrm>
          <a:prstGeom prst="rect">
            <a:avLst/>
          </a:prstGeom>
          <a:solidFill>
            <a:srgbClr val="7D4C3D">
              <a:alpha val="18000"/>
            </a:srgbClr>
          </a:solidFill>
          <a:ln/>
        </p:spPr>
      </p:sp>
      <p:sp>
        <p:nvSpPr>
          <p:cNvPr id="44" name="Text 41"/>
          <p:cNvSpPr/>
          <p:nvPr/>
        </p:nvSpPr>
        <p:spPr>
          <a:xfrm>
            <a:off x="14051459" y="4267646"/>
            <a:ext cx="581471" cy="8382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0</a:t>
            </a:r>
            <a:endParaRPr lang="en-US" sz="1800" dirty="0"/>
          </a:p>
        </p:txBody>
      </p:sp>
      <p:sp>
        <p:nvSpPr>
          <p:cNvPr id="45" name="Shape 42"/>
          <p:cNvSpPr/>
          <p:nvPr/>
        </p:nvSpPr>
        <p:spPr>
          <a:xfrm>
            <a:off x="14861530" y="4096196"/>
            <a:ext cx="2854970" cy="1152525"/>
          </a:xfrm>
          <a:prstGeom prst="rect">
            <a:avLst/>
          </a:prstGeom>
          <a:solidFill>
            <a:srgbClr val="E8DCCB"/>
          </a:solidFill>
          <a:ln/>
        </p:spPr>
      </p:sp>
      <p:sp>
        <p:nvSpPr>
          <p:cNvPr id="46" name="Shape 43"/>
          <p:cNvSpPr/>
          <p:nvPr/>
        </p:nvSpPr>
        <p:spPr>
          <a:xfrm>
            <a:off x="14861530" y="5239196"/>
            <a:ext cx="2854970" cy="9525"/>
          </a:xfrm>
          <a:prstGeom prst="rect">
            <a:avLst/>
          </a:prstGeom>
          <a:solidFill>
            <a:srgbClr val="7D4C3D">
              <a:alpha val="18000"/>
            </a:srgbClr>
          </a:solidFill>
          <a:ln/>
        </p:spPr>
      </p:sp>
      <p:sp>
        <p:nvSpPr>
          <p:cNvPr id="47" name="Shape 44"/>
          <p:cNvSpPr/>
          <p:nvPr/>
        </p:nvSpPr>
        <p:spPr>
          <a:xfrm>
            <a:off x="15090130" y="4496246"/>
            <a:ext cx="1644848" cy="352425"/>
          </a:xfrm>
          <a:prstGeom prst="roundRect">
            <a:avLst>
              <a:gd name="adj" fmla="val 50000"/>
            </a:avLst>
          </a:prstGeom>
          <a:solidFill>
            <a:srgbClr val="7D4C3D"/>
          </a:solidFill>
          <a:ln/>
        </p:spPr>
      </p:sp>
      <p:sp>
        <p:nvSpPr>
          <p:cNvPr id="48" name="Text 45"/>
          <p:cNvSpPr/>
          <p:nvPr/>
        </p:nvSpPr>
        <p:spPr>
          <a:xfrm>
            <a:off x="15204430" y="4534346"/>
            <a:ext cx="1492448" cy="314325"/>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FAF8ED"/>
                </a:solidFill>
                <a:latin typeface="Arial" pitchFamily="34" charset="0"/>
                <a:ea typeface="Arial" pitchFamily="34" charset="-122"/>
                <a:cs typeface="Arial" pitchFamily="34" charset="-120"/>
              </a:rPr>
              <a:t>REJECT H₀</a:t>
            </a:r>
            <a:endParaRPr lang="en-US" sz="1800" dirty="0"/>
          </a:p>
        </p:txBody>
      </p:sp>
      <p:sp>
        <p:nvSpPr>
          <p:cNvPr id="49" name="Shape 46"/>
          <p:cNvSpPr/>
          <p:nvPr/>
        </p:nvSpPr>
        <p:spPr>
          <a:xfrm>
            <a:off x="9410700" y="5248721"/>
            <a:ext cx="1750516" cy="1152525"/>
          </a:xfrm>
          <a:prstGeom prst="rect">
            <a:avLst/>
          </a:prstGeom>
          <a:solidFill>
            <a:srgbClr val="FFFDF7">
              <a:alpha val="55000"/>
            </a:srgbClr>
          </a:solidFill>
          <a:ln/>
        </p:spPr>
      </p:sp>
      <p:sp>
        <p:nvSpPr>
          <p:cNvPr id="50" name="Shape 47"/>
          <p:cNvSpPr/>
          <p:nvPr/>
        </p:nvSpPr>
        <p:spPr>
          <a:xfrm>
            <a:off x="9410700" y="6391721"/>
            <a:ext cx="1750516" cy="9525"/>
          </a:xfrm>
          <a:prstGeom prst="rect">
            <a:avLst/>
          </a:prstGeom>
          <a:solidFill>
            <a:srgbClr val="7D4C3D">
              <a:alpha val="18000"/>
            </a:srgbClr>
          </a:solidFill>
          <a:ln/>
        </p:spPr>
      </p:sp>
      <p:sp>
        <p:nvSpPr>
          <p:cNvPr id="51" name="Text 48"/>
          <p:cNvSpPr/>
          <p:nvPr/>
        </p:nvSpPr>
        <p:spPr>
          <a:xfrm>
            <a:off x="9639300" y="5420171"/>
            <a:ext cx="1369516" cy="838200"/>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First vs Latest (paired)</a:t>
            </a:r>
            <a:endParaRPr lang="en-US" sz="1800" dirty="0"/>
          </a:p>
        </p:txBody>
      </p:sp>
      <p:sp>
        <p:nvSpPr>
          <p:cNvPr id="52" name="Shape 49"/>
          <p:cNvSpPr/>
          <p:nvPr/>
        </p:nvSpPr>
        <p:spPr>
          <a:xfrm>
            <a:off x="11161216" y="5248721"/>
            <a:ext cx="1247775" cy="1152525"/>
          </a:xfrm>
          <a:prstGeom prst="rect">
            <a:avLst/>
          </a:prstGeom>
          <a:solidFill>
            <a:srgbClr val="FFFDF7">
              <a:alpha val="55000"/>
            </a:srgbClr>
          </a:solidFill>
          <a:ln/>
        </p:spPr>
      </p:sp>
      <p:sp>
        <p:nvSpPr>
          <p:cNvPr id="53" name="Shape 50"/>
          <p:cNvSpPr/>
          <p:nvPr/>
        </p:nvSpPr>
        <p:spPr>
          <a:xfrm>
            <a:off x="11161216" y="6391721"/>
            <a:ext cx="1247775" cy="9525"/>
          </a:xfrm>
          <a:prstGeom prst="rect">
            <a:avLst/>
          </a:prstGeom>
          <a:solidFill>
            <a:srgbClr val="7D4C3D">
              <a:alpha val="18000"/>
            </a:srgbClr>
          </a:solidFill>
          <a:ln/>
        </p:spPr>
      </p:sp>
      <p:sp>
        <p:nvSpPr>
          <p:cNvPr id="54" name="Text 51"/>
          <p:cNvSpPr/>
          <p:nvPr/>
        </p:nvSpPr>
        <p:spPr>
          <a:xfrm>
            <a:off x="11313616" y="5420171"/>
            <a:ext cx="866775" cy="8382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0</a:t>
            </a:r>
            <a:endParaRPr lang="en-US" sz="1800" dirty="0"/>
          </a:p>
        </p:txBody>
      </p:sp>
      <p:sp>
        <p:nvSpPr>
          <p:cNvPr id="55" name="Shape 52"/>
          <p:cNvSpPr/>
          <p:nvPr/>
        </p:nvSpPr>
        <p:spPr>
          <a:xfrm>
            <a:off x="12408991" y="5248721"/>
            <a:ext cx="1490067" cy="1152525"/>
          </a:xfrm>
          <a:prstGeom prst="rect">
            <a:avLst/>
          </a:prstGeom>
          <a:solidFill>
            <a:srgbClr val="FFFDF7">
              <a:alpha val="55000"/>
            </a:srgbClr>
          </a:solidFill>
          <a:ln/>
        </p:spPr>
      </p:sp>
      <p:sp>
        <p:nvSpPr>
          <p:cNvPr id="56" name="Shape 53"/>
          <p:cNvSpPr/>
          <p:nvPr/>
        </p:nvSpPr>
        <p:spPr>
          <a:xfrm>
            <a:off x="12408991" y="6391721"/>
            <a:ext cx="1490067" cy="9525"/>
          </a:xfrm>
          <a:prstGeom prst="rect">
            <a:avLst/>
          </a:prstGeom>
          <a:solidFill>
            <a:srgbClr val="7D4C3D">
              <a:alpha val="18000"/>
            </a:srgbClr>
          </a:solidFill>
          <a:ln/>
        </p:spPr>
      </p:sp>
      <p:sp>
        <p:nvSpPr>
          <p:cNvPr id="57" name="Text 54"/>
          <p:cNvSpPr/>
          <p:nvPr/>
        </p:nvSpPr>
        <p:spPr>
          <a:xfrm>
            <a:off x="12561391" y="5420171"/>
            <a:ext cx="1109067" cy="8382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a:t>
            </a:r>
            <a:endParaRPr lang="en-US" sz="1800" dirty="0"/>
          </a:p>
        </p:txBody>
      </p:sp>
      <p:sp>
        <p:nvSpPr>
          <p:cNvPr id="58" name="Shape 55"/>
          <p:cNvSpPr/>
          <p:nvPr/>
        </p:nvSpPr>
        <p:spPr>
          <a:xfrm>
            <a:off x="13899059" y="5248721"/>
            <a:ext cx="962471" cy="1152525"/>
          </a:xfrm>
          <a:prstGeom prst="rect">
            <a:avLst/>
          </a:prstGeom>
          <a:solidFill>
            <a:srgbClr val="FFFDF7">
              <a:alpha val="55000"/>
            </a:srgbClr>
          </a:solidFill>
          <a:ln/>
        </p:spPr>
      </p:sp>
      <p:sp>
        <p:nvSpPr>
          <p:cNvPr id="59" name="Shape 56"/>
          <p:cNvSpPr/>
          <p:nvPr/>
        </p:nvSpPr>
        <p:spPr>
          <a:xfrm>
            <a:off x="13899059" y="6391721"/>
            <a:ext cx="962471" cy="9525"/>
          </a:xfrm>
          <a:prstGeom prst="rect">
            <a:avLst/>
          </a:prstGeom>
          <a:solidFill>
            <a:srgbClr val="7D4C3D">
              <a:alpha val="18000"/>
            </a:srgbClr>
          </a:solidFill>
          <a:ln/>
        </p:spPr>
      </p:sp>
      <p:sp>
        <p:nvSpPr>
          <p:cNvPr id="60" name="Text 57"/>
          <p:cNvSpPr/>
          <p:nvPr/>
        </p:nvSpPr>
        <p:spPr>
          <a:xfrm>
            <a:off x="14051459" y="5420171"/>
            <a:ext cx="581471" cy="8382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0.44</a:t>
            </a:r>
            <a:endParaRPr lang="en-US" sz="1800" dirty="0"/>
          </a:p>
        </p:txBody>
      </p:sp>
      <p:sp>
        <p:nvSpPr>
          <p:cNvPr id="61" name="Shape 58"/>
          <p:cNvSpPr/>
          <p:nvPr/>
        </p:nvSpPr>
        <p:spPr>
          <a:xfrm>
            <a:off x="14861530" y="5248721"/>
            <a:ext cx="2854970" cy="1152525"/>
          </a:xfrm>
          <a:prstGeom prst="rect">
            <a:avLst/>
          </a:prstGeom>
          <a:solidFill>
            <a:srgbClr val="FFFDF7">
              <a:alpha val="55000"/>
            </a:srgbClr>
          </a:solidFill>
          <a:ln/>
        </p:spPr>
      </p:sp>
      <p:sp>
        <p:nvSpPr>
          <p:cNvPr id="62" name="Shape 59"/>
          <p:cNvSpPr/>
          <p:nvPr/>
        </p:nvSpPr>
        <p:spPr>
          <a:xfrm>
            <a:off x="14861530" y="6391721"/>
            <a:ext cx="2854970" cy="9525"/>
          </a:xfrm>
          <a:prstGeom prst="rect">
            <a:avLst/>
          </a:prstGeom>
          <a:solidFill>
            <a:srgbClr val="7D4C3D">
              <a:alpha val="18000"/>
            </a:srgbClr>
          </a:solidFill>
          <a:ln/>
        </p:spPr>
      </p:sp>
      <p:sp>
        <p:nvSpPr>
          <p:cNvPr id="63" name="Shape 60"/>
          <p:cNvSpPr/>
          <p:nvPr/>
        </p:nvSpPr>
        <p:spPr>
          <a:xfrm>
            <a:off x="15090130" y="5648771"/>
            <a:ext cx="2397621" cy="352425"/>
          </a:xfrm>
          <a:prstGeom prst="roundRect">
            <a:avLst>
              <a:gd name="adj" fmla="val 50000"/>
            </a:avLst>
          </a:prstGeom>
          <a:solidFill>
            <a:srgbClr val="DBCBBB"/>
          </a:solidFill>
          <a:ln/>
        </p:spPr>
      </p:sp>
      <p:sp>
        <p:nvSpPr>
          <p:cNvPr id="64" name="Text 61"/>
          <p:cNvSpPr/>
          <p:nvPr/>
        </p:nvSpPr>
        <p:spPr>
          <a:xfrm>
            <a:off x="15204430" y="5686871"/>
            <a:ext cx="2245221" cy="314325"/>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5D3527"/>
                </a:solidFill>
                <a:latin typeface="Arial" pitchFamily="34" charset="0"/>
                <a:ea typeface="Arial" pitchFamily="34" charset="-122"/>
                <a:cs typeface="Arial" pitchFamily="34" charset="-120"/>
              </a:rPr>
              <a:t>FAIL TO REJECT</a:t>
            </a:r>
            <a:endParaRPr lang="en-US" sz="1800" dirty="0"/>
          </a:p>
        </p:txBody>
      </p:sp>
      <p:sp>
        <p:nvSpPr>
          <p:cNvPr id="65" name="Shape 62"/>
          <p:cNvSpPr/>
          <p:nvPr/>
        </p:nvSpPr>
        <p:spPr>
          <a:xfrm>
            <a:off x="9410700" y="6401246"/>
            <a:ext cx="1750516" cy="1419225"/>
          </a:xfrm>
          <a:prstGeom prst="rect">
            <a:avLst/>
          </a:prstGeom>
          <a:solidFill>
            <a:srgbClr val="E8DCCB"/>
          </a:solidFill>
          <a:ln/>
        </p:spPr>
      </p:sp>
      <p:sp>
        <p:nvSpPr>
          <p:cNvPr id="66" name="Shape 63"/>
          <p:cNvSpPr/>
          <p:nvPr/>
        </p:nvSpPr>
        <p:spPr>
          <a:xfrm>
            <a:off x="9410700" y="7810946"/>
            <a:ext cx="1750516" cy="9525"/>
          </a:xfrm>
          <a:prstGeom prst="rect">
            <a:avLst/>
          </a:prstGeom>
          <a:solidFill>
            <a:srgbClr val="7D4C3D">
              <a:alpha val="18000"/>
            </a:srgbClr>
          </a:solidFill>
          <a:ln/>
        </p:spPr>
      </p:sp>
      <p:sp>
        <p:nvSpPr>
          <p:cNvPr id="67" name="Text 64"/>
          <p:cNvSpPr/>
          <p:nvPr/>
        </p:nvSpPr>
        <p:spPr>
          <a:xfrm>
            <a:off x="9639300" y="6572696"/>
            <a:ext cx="1369516" cy="1104900"/>
          </a:xfrm>
          <a:prstGeom prst="rect">
            <a:avLst/>
          </a:prstGeom>
          <a:noFill/>
          <a:ln/>
        </p:spPr>
        <p:txBody>
          <a:bodyPr wrap="square" lIns="25400" tIns="25400" rIns="25400" bIns="25400" rtlCol="0" anchor="ctr">
            <a:normAutofit/>
          </a:bodyPr>
          <a:lstStyle/>
          <a:p>
            <a:pPr algn="l" indent="0" marL="0">
              <a:buNone/>
            </a:pPr>
            <a:r>
              <a:rPr lang="en-US" sz="1800" dirty="0">
                <a:solidFill>
                  <a:srgbClr val="3A2A22"/>
                </a:solidFill>
                <a:latin typeface="Arial" pitchFamily="34" charset="0"/>
                <a:ea typeface="Arial" pitchFamily="34" charset="-122"/>
                <a:cs typeface="Arial" pitchFamily="34" charset="-120"/>
              </a:rPr>
              <a:t>&gt;$20 high-spender Rewards vs Non</a:t>
            </a:r>
            <a:endParaRPr lang="en-US" sz="1800" dirty="0"/>
          </a:p>
        </p:txBody>
      </p:sp>
      <p:sp>
        <p:nvSpPr>
          <p:cNvPr id="68" name="Shape 65"/>
          <p:cNvSpPr/>
          <p:nvPr/>
        </p:nvSpPr>
        <p:spPr>
          <a:xfrm>
            <a:off x="11161216" y="6401246"/>
            <a:ext cx="1247775" cy="1419225"/>
          </a:xfrm>
          <a:prstGeom prst="rect">
            <a:avLst/>
          </a:prstGeom>
          <a:solidFill>
            <a:srgbClr val="E8DCCB"/>
          </a:solidFill>
          <a:ln/>
        </p:spPr>
      </p:sp>
      <p:sp>
        <p:nvSpPr>
          <p:cNvPr id="69" name="Shape 66"/>
          <p:cNvSpPr/>
          <p:nvPr/>
        </p:nvSpPr>
        <p:spPr>
          <a:xfrm>
            <a:off x="11161216" y="7810946"/>
            <a:ext cx="1247775" cy="9525"/>
          </a:xfrm>
          <a:prstGeom prst="rect">
            <a:avLst/>
          </a:prstGeom>
          <a:solidFill>
            <a:srgbClr val="7D4C3D">
              <a:alpha val="18000"/>
            </a:srgbClr>
          </a:solidFill>
          <a:ln/>
        </p:spPr>
      </p:sp>
      <p:sp>
        <p:nvSpPr>
          <p:cNvPr id="70" name="Text 67"/>
          <p:cNvSpPr/>
          <p:nvPr/>
        </p:nvSpPr>
        <p:spPr>
          <a:xfrm>
            <a:off x="11313616" y="6572696"/>
            <a:ext cx="866775" cy="11049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+8.6pp</a:t>
            </a:r>
            <a:endParaRPr lang="en-US" sz="1800" dirty="0"/>
          </a:p>
        </p:txBody>
      </p:sp>
      <p:sp>
        <p:nvSpPr>
          <p:cNvPr id="71" name="Shape 68"/>
          <p:cNvSpPr/>
          <p:nvPr/>
        </p:nvSpPr>
        <p:spPr>
          <a:xfrm>
            <a:off x="12408991" y="6401246"/>
            <a:ext cx="1490067" cy="1419225"/>
          </a:xfrm>
          <a:prstGeom prst="rect">
            <a:avLst/>
          </a:prstGeom>
          <a:solidFill>
            <a:srgbClr val="E8DCCB"/>
          </a:solidFill>
          <a:ln/>
        </p:spPr>
      </p:sp>
      <p:sp>
        <p:nvSpPr>
          <p:cNvPr id="72" name="Shape 69"/>
          <p:cNvSpPr/>
          <p:nvPr/>
        </p:nvSpPr>
        <p:spPr>
          <a:xfrm>
            <a:off x="12408991" y="7810946"/>
            <a:ext cx="1490067" cy="9525"/>
          </a:xfrm>
          <a:prstGeom prst="rect">
            <a:avLst/>
          </a:prstGeom>
          <a:solidFill>
            <a:srgbClr val="7D4C3D">
              <a:alpha val="18000"/>
            </a:srgbClr>
          </a:solidFill>
          <a:ln/>
        </p:spPr>
      </p:sp>
      <p:sp>
        <p:nvSpPr>
          <p:cNvPr id="73" name="Text 70"/>
          <p:cNvSpPr/>
          <p:nvPr/>
        </p:nvSpPr>
        <p:spPr>
          <a:xfrm>
            <a:off x="12561391" y="6572696"/>
            <a:ext cx="1109067" cy="11049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z = 35.92</a:t>
            </a:r>
            <a:endParaRPr lang="en-US" sz="1800" dirty="0"/>
          </a:p>
        </p:txBody>
      </p:sp>
      <p:sp>
        <p:nvSpPr>
          <p:cNvPr id="74" name="Shape 71"/>
          <p:cNvSpPr/>
          <p:nvPr/>
        </p:nvSpPr>
        <p:spPr>
          <a:xfrm>
            <a:off x="13899059" y="6401246"/>
            <a:ext cx="962471" cy="1419225"/>
          </a:xfrm>
          <a:prstGeom prst="rect">
            <a:avLst/>
          </a:prstGeom>
          <a:solidFill>
            <a:srgbClr val="E8DCCB"/>
          </a:solidFill>
          <a:ln/>
        </p:spPr>
      </p:sp>
      <p:sp>
        <p:nvSpPr>
          <p:cNvPr id="75" name="Shape 72"/>
          <p:cNvSpPr/>
          <p:nvPr/>
        </p:nvSpPr>
        <p:spPr>
          <a:xfrm>
            <a:off x="13899059" y="7810946"/>
            <a:ext cx="962471" cy="9525"/>
          </a:xfrm>
          <a:prstGeom prst="rect">
            <a:avLst/>
          </a:prstGeom>
          <a:solidFill>
            <a:srgbClr val="7D4C3D">
              <a:alpha val="18000"/>
            </a:srgbClr>
          </a:solidFill>
          <a:ln/>
        </p:spPr>
      </p:sp>
      <p:sp>
        <p:nvSpPr>
          <p:cNvPr id="76" name="Text 73"/>
          <p:cNvSpPr/>
          <p:nvPr/>
        </p:nvSpPr>
        <p:spPr>
          <a:xfrm>
            <a:off x="14051459" y="6572696"/>
            <a:ext cx="581471" cy="1104900"/>
          </a:xfrm>
          <a:prstGeom prst="rect">
            <a:avLst/>
          </a:prstGeom>
          <a:noFill/>
          <a:ln/>
        </p:spPr>
        <p:txBody>
          <a:bodyPr wrap="square" lIns="25400" tIns="25400" rIns="25400" bIns="25400" rtlCol="0" anchor="ctr">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0</a:t>
            </a:r>
            <a:endParaRPr lang="en-US" sz="1800" dirty="0"/>
          </a:p>
        </p:txBody>
      </p:sp>
      <p:sp>
        <p:nvSpPr>
          <p:cNvPr id="77" name="Shape 74"/>
          <p:cNvSpPr/>
          <p:nvPr/>
        </p:nvSpPr>
        <p:spPr>
          <a:xfrm>
            <a:off x="14861530" y="6401246"/>
            <a:ext cx="2854970" cy="1419225"/>
          </a:xfrm>
          <a:prstGeom prst="rect">
            <a:avLst/>
          </a:prstGeom>
          <a:solidFill>
            <a:srgbClr val="E8DCCB"/>
          </a:solidFill>
          <a:ln/>
        </p:spPr>
      </p:sp>
      <p:sp>
        <p:nvSpPr>
          <p:cNvPr id="78" name="Shape 75"/>
          <p:cNvSpPr/>
          <p:nvPr/>
        </p:nvSpPr>
        <p:spPr>
          <a:xfrm>
            <a:off x="14861530" y="7810946"/>
            <a:ext cx="2854970" cy="9525"/>
          </a:xfrm>
          <a:prstGeom prst="rect">
            <a:avLst/>
          </a:prstGeom>
          <a:solidFill>
            <a:srgbClr val="7D4C3D">
              <a:alpha val="18000"/>
            </a:srgbClr>
          </a:solidFill>
          <a:ln/>
        </p:spPr>
      </p:sp>
      <p:sp>
        <p:nvSpPr>
          <p:cNvPr id="79" name="Shape 76"/>
          <p:cNvSpPr/>
          <p:nvPr/>
        </p:nvSpPr>
        <p:spPr>
          <a:xfrm>
            <a:off x="15090130" y="6934646"/>
            <a:ext cx="1644848" cy="352425"/>
          </a:xfrm>
          <a:prstGeom prst="roundRect">
            <a:avLst>
              <a:gd name="adj" fmla="val 50000"/>
            </a:avLst>
          </a:prstGeom>
          <a:solidFill>
            <a:srgbClr val="7D4C3D"/>
          </a:solidFill>
          <a:ln/>
        </p:spPr>
      </p:sp>
      <p:sp>
        <p:nvSpPr>
          <p:cNvPr id="80" name="Text 77"/>
          <p:cNvSpPr/>
          <p:nvPr/>
        </p:nvSpPr>
        <p:spPr>
          <a:xfrm>
            <a:off x="15204430" y="6972746"/>
            <a:ext cx="1492448" cy="314325"/>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FAF8ED"/>
                </a:solidFill>
                <a:latin typeface="Arial" pitchFamily="34" charset="0"/>
                <a:ea typeface="Arial" pitchFamily="34" charset="-122"/>
                <a:cs typeface="Arial" pitchFamily="34" charset="-120"/>
              </a:rPr>
              <a:t>REJECT H₀</a:t>
            </a:r>
            <a:endParaRPr lang="en-US" sz="1800" dirty="0"/>
          </a:p>
        </p:txBody>
      </p:sp>
      <p:sp>
        <p:nvSpPr>
          <p:cNvPr id="81" name="Text 78"/>
          <p:cNvSpPr/>
          <p:nvPr/>
        </p:nvSpPr>
        <p:spPr>
          <a:xfrm>
            <a:off x="9410700" y="8053834"/>
            <a:ext cx="8554974"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Mobile and Rewards differences are </a:t>
            </a:r>
            <a:pPr algn="l" indent="0" marL="0">
              <a:lnSpc>
                <a:spcPct val="155000"/>
              </a:lnSpc>
              <a:buNone/>
            </a:pPr>
            <a:r>
              <a:rPr lang="en-US" sz="1950" b="1" dirty="0">
                <a:solidFill>
                  <a:srgbClr val="3A2A22"/>
                </a:solidFill>
                <a:latin typeface="Arial" pitchFamily="34" charset="0"/>
                <a:ea typeface="Arial" pitchFamily="34" charset="-122"/>
                <a:cs typeface="Arial" pitchFamily="34" charset="-120"/>
              </a:rPr>
              <a:t>statistically significant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 Repeat-customer spend is </a:t>
            </a:r>
            <a:pPr algn="l" indent="0" marL="0">
              <a:lnSpc>
                <a:spcPct val="155000"/>
              </a:lnSpc>
              <a:buNone/>
            </a:pPr>
            <a:r>
              <a:rPr lang="en-US" sz="1950" b="1" dirty="0">
                <a:solidFill>
                  <a:srgbClr val="3A2A22"/>
                </a:solidFill>
                <a:latin typeface="Arial" pitchFamily="34" charset="0"/>
                <a:ea typeface="Arial" pitchFamily="34" charset="-122"/>
                <a:cs typeface="Arial" pitchFamily="34" charset="-120"/>
              </a:rPr>
              <a:t>stable over time</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a:t>
            </a:r>
            <a:endParaRPr lang="en-US" sz="1950" dirty="0"/>
          </a:p>
        </p:txBody>
      </p:sp>
      <p:sp>
        <p:nvSpPr>
          <p:cNvPr id="82" name="Text 79"/>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83" name="Text 80"/>
          <p:cNvSpPr/>
          <p:nvPr/>
        </p:nvSpPr>
        <p:spPr>
          <a:xfrm>
            <a:off x="571500" y="9591675"/>
            <a:ext cx="1100882"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08 / 16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D3527"/>
        </a:solidFill>
      </p:bgPr>
    </p:bg>
    <p:spTree>
      <p:nvGrpSpPr>
        <p:cNvPr id="1" name=""/>
        <p:cNvGrpSpPr/>
        <p:nvPr/>
      </p:nvGrpSpPr>
      <p:grpSpPr>
        <a:xfrm>
          <a:off x="0" y="0"/>
          <a:ext cx="0" cy="0"/>
          <a:chOff x="0" y="0"/>
          <a:chExt cx="0" cy="0"/>
        </a:xfrm>
      </p:grpSpPr>
      <p:sp>
        <p:nvSpPr>
          <p:cNvPr id="2" name="Text 0"/>
          <p:cNvSpPr/>
          <p:nvPr/>
        </p:nvSpPr>
        <p:spPr>
          <a:xfrm>
            <a:off x="1143000" y="1143000"/>
            <a:ext cx="7221938"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DCCB">
                    <a:alpha val="85000"/>
                  </a:srgbClr>
                </a:solidFill>
                <a:latin typeface="Arial" pitchFamily="34" charset="0"/>
                <a:ea typeface="Arial" pitchFamily="34" charset="-122"/>
                <a:cs typeface="Arial" pitchFamily="34" charset="-120"/>
              </a:rPr>
              <a:t>CHAPTER EIGHT · PROBABILITY &amp; BAYES</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FAF8ED"/>
                </a:solidFill>
                <a:latin typeface="Arial" pitchFamily="34" charset="0"/>
                <a:ea typeface="Arial" pitchFamily="34" charset="-122"/>
                <a:cs typeface="Arial" pitchFamily="34" charset="-120"/>
              </a:rPr>
              <a:t>High spenders are almost always Mobile.</a:t>
            </a:r>
            <a:endParaRPr lang="en-US" sz="4800" dirty="0"/>
          </a:p>
        </p:txBody>
      </p:sp>
      <p:sp>
        <p:nvSpPr>
          <p:cNvPr id="4" name="Shape 2"/>
          <p:cNvSpPr/>
          <p:nvPr/>
        </p:nvSpPr>
        <p:spPr>
          <a:xfrm>
            <a:off x="571500" y="2944118"/>
            <a:ext cx="762000" cy="19050"/>
          </a:xfrm>
          <a:prstGeom prst="rect">
            <a:avLst/>
          </a:prstGeom>
          <a:solidFill>
            <a:srgbClr val="FAF8ED"/>
          </a:solidFill>
          <a:ln/>
        </p:spPr>
      </p:sp>
      <p:sp>
        <p:nvSpPr>
          <p:cNvPr id="5" name="Shape 3"/>
          <p:cNvSpPr/>
          <p:nvPr/>
        </p:nvSpPr>
        <p:spPr>
          <a:xfrm>
            <a:off x="571500" y="3248918"/>
            <a:ext cx="8305800" cy="5810250"/>
          </a:xfrm>
          <a:prstGeom prst="roundRect">
            <a:avLst>
              <a:gd name="adj" fmla="val 2295"/>
            </a:avLst>
          </a:prstGeom>
          <a:solidFill>
            <a:srgbClr val="FAF8ED"/>
          </a:solidFill>
          <a:ln w="9525">
            <a:solidFill>
              <a:srgbClr val="7D4C3D">
                <a:alpha val="18000"/>
              </a:srgbClr>
            </a:solidFill>
            <a:prstDash val="solid"/>
          </a:ln>
          <a:effectLst>
            <a:outerShdw sx="100000" sy="100000" kx="0" ky="0" algn="bl" rotWithShape="0" blurRad="228600" dist="76200" dir="5400000">
              <a:srgbClr val="7D4C3D">
                <a:alpha val="8000"/>
              </a:srgbClr>
            </a:outerShdw>
          </a:effectLst>
        </p:spPr>
      </p:sp>
      <p:pic>
        <p:nvPicPr>
          <p:cNvPr id="6" name="Image 0" descr="preencoded.png">    </p:cNvPr>
          <p:cNvPicPr>
            <a:picLocks noChangeAspect="1"/>
          </p:cNvPicPr>
          <p:nvPr/>
        </p:nvPicPr>
        <p:blipFill>
          <a:blip r:embed="rId1"/>
          <a:srcRect l="0" r="0" t="0" b="0"/>
          <a:stretch/>
        </p:blipFill>
        <p:spPr>
          <a:xfrm>
            <a:off x="809625" y="3487043"/>
            <a:ext cx="7829550" cy="5334000"/>
          </a:xfrm>
          <a:prstGeom prst="rect">
            <a:avLst/>
          </a:prstGeom>
        </p:spPr>
      </p:pic>
      <p:sp>
        <p:nvSpPr>
          <p:cNvPr id="7" name="Shape 4"/>
          <p:cNvSpPr/>
          <p:nvPr/>
        </p:nvSpPr>
        <p:spPr>
          <a:xfrm>
            <a:off x="9410700" y="3248918"/>
            <a:ext cx="4048125" cy="2030611"/>
          </a:xfrm>
          <a:prstGeom prst="roundRect">
            <a:avLst>
              <a:gd name="adj" fmla="val 6567"/>
            </a:avLst>
          </a:prstGeom>
          <a:solidFill>
            <a:srgbClr val="FAF8ED">
              <a:alpha val="10000"/>
            </a:srgbClr>
          </a:solidFill>
          <a:ln w="9525">
            <a:solidFill>
              <a:srgbClr val="FAF8ED">
                <a:alpha val="25000"/>
              </a:srgbClr>
            </a:solidFill>
            <a:prstDash val="solid"/>
          </a:ln>
        </p:spPr>
      </p:sp>
      <p:sp>
        <p:nvSpPr>
          <p:cNvPr id="8" name="Text 5"/>
          <p:cNvSpPr/>
          <p:nvPr/>
        </p:nvSpPr>
        <p:spPr>
          <a:xfrm>
            <a:off x="9763125" y="3563243"/>
            <a:ext cx="34435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FAF8ED"/>
                </a:solidFill>
                <a:latin typeface="Arial" pitchFamily="34" charset="0"/>
                <a:ea typeface="Arial" pitchFamily="34" charset="-122"/>
                <a:cs typeface="Arial" pitchFamily="34" charset="-120"/>
              </a:rPr>
              <a:t>5.11%</a:t>
            </a:r>
            <a:endParaRPr lang="en-US" sz="4800" dirty="0"/>
          </a:p>
        </p:txBody>
      </p:sp>
      <p:sp>
        <p:nvSpPr>
          <p:cNvPr id="9" name="Text 6"/>
          <p:cNvSpPr/>
          <p:nvPr/>
        </p:nvSpPr>
        <p:spPr>
          <a:xfrm>
            <a:off x="9763125" y="4325243"/>
            <a:ext cx="344357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E8DCCB"/>
                </a:solidFill>
                <a:latin typeface="Arial" pitchFamily="34" charset="0"/>
                <a:ea typeface="Arial" pitchFamily="34" charset="-122"/>
                <a:cs typeface="Arial" pitchFamily="34" charset="-120"/>
              </a:rPr>
              <a:t>P(spend &gt; $25) </a:t>
            </a:r>
            <a:pPr algn="l" indent="0" marL="0">
              <a:lnSpc>
                <a:spcPct val="140000"/>
              </a:lnSpc>
              <a:buNone/>
            </a:pPr>
            <a:r>
              <a:rPr lang="en-US" sz="1800" i="1" spc="36" kern="0" dirty="0">
                <a:solidFill>
                  <a:srgbClr val="E8DCCB"/>
                </a:solidFill>
                <a:latin typeface="Arial" pitchFamily="34" charset="0"/>
                <a:ea typeface="Arial" pitchFamily="34" charset="-122"/>
                <a:cs typeface="Arial" pitchFamily="34" charset="-120"/>
              </a:rPr>
              <a:t>empirical</a:t>
            </a:r>
            <a:endParaRPr lang="en-US" sz="1800" dirty="0"/>
          </a:p>
        </p:txBody>
      </p:sp>
      <p:sp>
        <p:nvSpPr>
          <p:cNvPr id="10" name="Shape 7"/>
          <p:cNvSpPr/>
          <p:nvPr/>
        </p:nvSpPr>
        <p:spPr>
          <a:xfrm>
            <a:off x="13668375" y="3248918"/>
            <a:ext cx="4048125" cy="2030611"/>
          </a:xfrm>
          <a:prstGeom prst="roundRect">
            <a:avLst>
              <a:gd name="adj" fmla="val 6567"/>
            </a:avLst>
          </a:prstGeom>
          <a:solidFill>
            <a:srgbClr val="FAF8ED">
              <a:alpha val="6000"/>
            </a:srgbClr>
          </a:solidFill>
          <a:ln w="9525">
            <a:solidFill>
              <a:srgbClr val="FAF8ED">
                <a:alpha val="18000"/>
              </a:srgbClr>
            </a:solidFill>
            <a:prstDash val="solid"/>
          </a:ln>
        </p:spPr>
      </p:sp>
      <p:sp>
        <p:nvSpPr>
          <p:cNvPr id="11" name="Text 8"/>
          <p:cNvSpPr/>
          <p:nvPr/>
        </p:nvSpPr>
        <p:spPr>
          <a:xfrm>
            <a:off x="14020800" y="3563243"/>
            <a:ext cx="34435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E8DCCB"/>
                </a:solidFill>
                <a:latin typeface="Arial" pitchFamily="34" charset="0"/>
                <a:ea typeface="Arial" pitchFamily="34" charset="-122"/>
                <a:cs typeface="Arial" pitchFamily="34" charset="-120"/>
              </a:rPr>
              <a:t>3.29%</a:t>
            </a:r>
            <a:endParaRPr lang="en-US" sz="4800" dirty="0"/>
          </a:p>
        </p:txBody>
      </p:sp>
      <p:sp>
        <p:nvSpPr>
          <p:cNvPr id="12" name="Text 9"/>
          <p:cNvSpPr/>
          <p:nvPr/>
        </p:nvSpPr>
        <p:spPr>
          <a:xfrm>
            <a:off x="14020800" y="4325243"/>
            <a:ext cx="344357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E8DCCB"/>
                </a:solidFill>
                <a:latin typeface="Arial" pitchFamily="34" charset="0"/>
                <a:ea typeface="Arial" pitchFamily="34" charset="-122"/>
                <a:cs typeface="Arial" pitchFamily="34" charset="-120"/>
              </a:rPr>
              <a:t>Normal approximation (underestimates tail)</a:t>
            </a:r>
            <a:endParaRPr lang="en-US" sz="1800" dirty="0"/>
          </a:p>
        </p:txBody>
      </p:sp>
      <p:sp>
        <p:nvSpPr>
          <p:cNvPr id="13" name="Shape 10"/>
          <p:cNvSpPr/>
          <p:nvPr/>
        </p:nvSpPr>
        <p:spPr>
          <a:xfrm>
            <a:off x="9410700" y="5489079"/>
            <a:ext cx="4048125" cy="1710630"/>
          </a:xfrm>
          <a:prstGeom prst="roundRect">
            <a:avLst>
              <a:gd name="adj" fmla="val 7795"/>
            </a:avLst>
          </a:prstGeom>
          <a:solidFill>
            <a:srgbClr val="FAF8ED">
              <a:alpha val="10000"/>
            </a:srgbClr>
          </a:solidFill>
          <a:ln w="9525">
            <a:solidFill>
              <a:srgbClr val="FAF8ED">
                <a:alpha val="25000"/>
              </a:srgbClr>
            </a:solidFill>
            <a:prstDash val="solid"/>
          </a:ln>
        </p:spPr>
      </p:sp>
      <p:sp>
        <p:nvSpPr>
          <p:cNvPr id="14" name="Text 11"/>
          <p:cNvSpPr/>
          <p:nvPr/>
        </p:nvSpPr>
        <p:spPr>
          <a:xfrm>
            <a:off x="9763125" y="5803404"/>
            <a:ext cx="34435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FAF8ED"/>
                </a:solidFill>
                <a:latin typeface="Arial" pitchFamily="34" charset="0"/>
                <a:ea typeface="Arial" pitchFamily="34" charset="-122"/>
                <a:cs typeface="Arial" pitchFamily="34" charset="-120"/>
              </a:rPr>
              <a:t>11.27%</a:t>
            </a:r>
            <a:endParaRPr lang="en-US" sz="4800" dirty="0"/>
          </a:p>
        </p:txBody>
      </p:sp>
      <p:sp>
        <p:nvSpPr>
          <p:cNvPr id="15" name="Text 12"/>
          <p:cNvSpPr/>
          <p:nvPr/>
        </p:nvSpPr>
        <p:spPr>
          <a:xfrm>
            <a:off x="9763125" y="6565404"/>
            <a:ext cx="344357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E8DCCB"/>
                </a:solidFill>
                <a:latin typeface="Arial" pitchFamily="34" charset="0"/>
                <a:ea typeface="Arial" pitchFamily="34" charset="-122"/>
                <a:cs typeface="Arial" pitchFamily="34" charset="-120"/>
              </a:rPr>
              <a:t>P(spend &gt; $25 | Mobile)</a:t>
            </a:r>
            <a:endParaRPr lang="en-US" sz="1800" dirty="0"/>
          </a:p>
        </p:txBody>
      </p:sp>
      <p:sp>
        <p:nvSpPr>
          <p:cNvPr id="16" name="Shape 13"/>
          <p:cNvSpPr/>
          <p:nvPr/>
        </p:nvSpPr>
        <p:spPr>
          <a:xfrm>
            <a:off x="13668375" y="5489079"/>
            <a:ext cx="4048125" cy="1710630"/>
          </a:xfrm>
          <a:prstGeom prst="roundRect">
            <a:avLst>
              <a:gd name="adj" fmla="val 7795"/>
            </a:avLst>
          </a:prstGeom>
          <a:solidFill>
            <a:srgbClr val="FAF8ED">
              <a:alpha val="10000"/>
            </a:srgbClr>
          </a:solidFill>
          <a:ln w="9525">
            <a:solidFill>
              <a:srgbClr val="FAF8ED">
                <a:alpha val="25000"/>
              </a:srgbClr>
            </a:solidFill>
            <a:prstDash val="solid"/>
          </a:ln>
        </p:spPr>
      </p:sp>
      <p:sp>
        <p:nvSpPr>
          <p:cNvPr id="17" name="Text 14"/>
          <p:cNvSpPr/>
          <p:nvPr/>
        </p:nvSpPr>
        <p:spPr>
          <a:xfrm>
            <a:off x="14020800" y="5803404"/>
            <a:ext cx="344357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FAF8ED"/>
                </a:solidFill>
                <a:latin typeface="Arial" pitchFamily="34" charset="0"/>
                <a:ea typeface="Arial" pitchFamily="34" charset="-122"/>
                <a:cs typeface="Arial" pitchFamily="34" charset="-120"/>
              </a:rPr>
              <a:t>93.85%</a:t>
            </a:r>
            <a:endParaRPr lang="en-US" sz="4800" dirty="0"/>
          </a:p>
        </p:txBody>
      </p:sp>
      <p:sp>
        <p:nvSpPr>
          <p:cNvPr id="18" name="Text 15"/>
          <p:cNvSpPr/>
          <p:nvPr/>
        </p:nvSpPr>
        <p:spPr>
          <a:xfrm>
            <a:off x="14020800" y="6565404"/>
            <a:ext cx="344357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E8DCCB"/>
                </a:solidFill>
                <a:latin typeface="Arial" pitchFamily="34" charset="0"/>
                <a:ea typeface="Arial" pitchFamily="34" charset="-122"/>
                <a:cs typeface="Arial" pitchFamily="34" charset="-120"/>
              </a:rPr>
              <a:t>P(Mobile | spend &gt; $25) </a:t>
            </a:r>
            <a:pPr algn="l" indent="0" marL="0">
              <a:lnSpc>
                <a:spcPct val="140000"/>
              </a:lnSpc>
              <a:buNone/>
            </a:pPr>
            <a:r>
              <a:rPr lang="en-US" sz="1800" i="1" spc="36" kern="0" dirty="0">
                <a:solidFill>
                  <a:srgbClr val="E8DCCB"/>
                </a:solidFill>
                <a:latin typeface="Arial" pitchFamily="34" charset="0"/>
                <a:ea typeface="Arial" pitchFamily="34" charset="-122"/>
                <a:cs typeface="Arial" pitchFamily="34" charset="-120"/>
              </a:rPr>
              <a:t>Bayes</a:t>
            </a:r>
            <a:endParaRPr lang="en-US" sz="1800" dirty="0"/>
          </a:p>
        </p:txBody>
      </p:sp>
      <p:sp>
        <p:nvSpPr>
          <p:cNvPr id="19" name="Shape 16"/>
          <p:cNvSpPr/>
          <p:nvPr/>
        </p:nvSpPr>
        <p:spPr>
          <a:xfrm>
            <a:off x="9410700" y="7409259"/>
            <a:ext cx="28575" cy="1110555"/>
          </a:xfrm>
          <a:prstGeom prst="rect">
            <a:avLst/>
          </a:prstGeom>
          <a:solidFill>
            <a:srgbClr val="FAF8ED"/>
          </a:solidFill>
          <a:ln/>
        </p:spPr>
      </p:sp>
      <p:sp>
        <p:nvSpPr>
          <p:cNvPr id="20" name="Text 17"/>
          <p:cNvSpPr/>
          <p:nvPr/>
        </p:nvSpPr>
        <p:spPr>
          <a:xfrm>
            <a:off x="9686925" y="7599759"/>
            <a:ext cx="8031099" cy="767655"/>
          </a:xfrm>
          <a:prstGeom prst="rect">
            <a:avLst/>
          </a:prstGeom>
          <a:noFill/>
          <a:ln/>
        </p:spPr>
        <p:txBody>
          <a:bodyPr wrap="square" lIns="25400" tIns="25400" rIns="25400" bIns="25400" rtlCol="0" anchor="t">
            <a:normAutofit/>
          </a:bodyPr>
          <a:lstStyle/>
          <a:p>
            <a:pPr algn="l" indent="0" marL="0">
              <a:lnSpc>
                <a:spcPct val="135000"/>
              </a:lnSpc>
              <a:buNone/>
            </a:pPr>
            <a:r>
              <a:rPr lang="en-US" sz="2100" i="1" dirty="0">
                <a:solidFill>
                  <a:srgbClr val="FAF8ED"/>
                </a:solidFill>
                <a:latin typeface="Arial" pitchFamily="34" charset="0"/>
                <a:ea typeface="Arial" pitchFamily="34" charset="-122"/>
                <a:cs typeface="Arial" pitchFamily="34" charset="-120"/>
              </a:rPr>
              <a:t>And P(Rewards | spend &gt; $25) = </a:t>
            </a:r>
            <a:pPr algn="l" indent="0" marL="0">
              <a:lnSpc>
                <a:spcPct val="135000"/>
              </a:lnSpc>
              <a:buNone/>
            </a:pPr>
            <a:r>
              <a:rPr lang="en-US" sz="2100" b="1" dirty="0">
                <a:solidFill>
                  <a:srgbClr val="FAF8ED"/>
                </a:solidFill>
                <a:latin typeface="Arial" pitchFamily="34" charset="0"/>
                <a:ea typeface="Arial" pitchFamily="34" charset="-122"/>
                <a:cs typeface="Arial" pitchFamily="34" charset="-120"/>
              </a:rPr>
              <a:t>62.74% </a:t>
            </a:r>
            <a:pPr algn="l" indent="0" marL="0">
              <a:lnSpc>
                <a:spcPct val="135000"/>
              </a:lnSpc>
              <a:buNone/>
            </a:pPr>
            <a:r>
              <a:rPr lang="en-US" sz="2100" i="1" dirty="0">
                <a:solidFill>
                  <a:srgbClr val="FAF8ED"/>
                </a:solidFill>
                <a:latin typeface="Arial" pitchFamily="34" charset="0"/>
                <a:ea typeface="Arial" pitchFamily="34" charset="-122"/>
                <a:cs typeface="Arial" pitchFamily="34" charset="-120"/>
              </a:rPr>
              <a:t>— high spenders are disproportionately Mobile, Rewards customers.</a:t>
            </a:r>
            <a:endParaRPr lang="en-US" sz="2100" dirty="0"/>
          </a:p>
        </p:txBody>
      </p:sp>
      <p:sp>
        <p:nvSpPr>
          <p:cNvPr id="21" name="Text 18"/>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FAF8ED">
                    <a:alpha val="70000"/>
                  </a:srgbClr>
                </a:solidFill>
                <a:latin typeface="Arial" pitchFamily="34" charset="0"/>
                <a:ea typeface="Arial" pitchFamily="34" charset="-122"/>
                <a:cs typeface="Arial" pitchFamily="34" charset="-120"/>
              </a:rPr>
              <a:t>Starbucks</a:t>
            </a:r>
            <a:endParaRPr lang="en-US" sz="1950" dirty="0"/>
          </a:p>
        </p:txBody>
      </p:sp>
      <p:sp>
        <p:nvSpPr>
          <p:cNvPr id="22" name="Text 19"/>
          <p:cNvSpPr/>
          <p:nvPr/>
        </p:nvSpPr>
        <p:spPr>
          <a:xfrm>
            <a:off x="571500" y="9591675"/>
            <a:ext cx="1101030"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FAF8ED">
                    <a:alpha val="50000"/>
                  </a:srgbClr>
                </a:solidFill>
                <a:latin typeface="Arial" pitchFamily="34" charset="0"/>
                <a:ea typeface="Arial" pitchFamily="34" charset="-122"/>
                <a:cs typeface="Arial" pitchFamily="34" charset="-120"/>
              </a:rPr>
              <a:t>09 / 16</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8497336"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NINE · A DISCRETE RANDOM VARIABLE</a:t>
            </a:r>
            <a:endParaRPr lang="en-US" sz="1800" dirty="0"/>
          </a:p>
        </p:txBody>
      </p:sp>
      <p:sp>
        <p:nvSpPr>
          <p:cNvPr id="3" name="Text 1"/>
          <p:cNvSpPr/>
          <p:nvPr/>
        </p:nvSpPr>
        <p:spPr>
          <a:xfrm>
            <a:off x="571500" y="1524000"/>
            <a:ext cx="14716125"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Cart size, formally.</a:t>
            </a:r>
            <a:endParaRPr lang="en-US" sz="4800" dirty="0"/>
          </a:p>
        </p:txBody>
      </p:sp>
      <p:sp>
        <p:nvSpPr>
          <p:cNvPr id="4" name="Shape 2"/>
          <p:cNvSpPr/>
          <p:nvPr/>
        </p:nvSpPr>
        <p:spPr>
          <a:xfrm>
            <a:off x="571500" y="2310259"/>
            <a:ext cx="762000" cy="19050"/>
          </a:xfrm>
          <a:prstGeom prst="rect">
            <a:avLst/>
          </a:prstGeom>
          <a:solidFill>
            <a:srgbClr val="7D4C3D"/>
          </a:solidFill>
          <a:ln/>
        </p:spPr>
      </p:sp>
      <p:sp>
        <p:nvSpPr>
          <p:cNvPr id="5" name="Text 3"/>
          <p:cNvSpPr/>
          <p:nvPr/>
        </p:nvSpPr>
        <p:spPr>
          <a:xfrm>
            <a:off x="571500" y="2596009"/>
            <a:ext cx="12753975" cy="390525"/>
          </a:xfrm>
          <a:prstGeom prst="rect">
            <a:avLst/>
          </a:prstGeom>
          <a:noFill/>
          <a:ln/>
        </p:spPr>
        <p:txBody>
          <a:bodyPr wrap="square" lIns="25400" tIns="25400" rIns="25400" bIns="25400" rtlCol="0" anchor="t">
            <a:normAutofit/>
          </a:bodyPr>
          <a:lstStyle/>
          <a:p>
            <a:pPr algn="l" indent="0" marL="0">
              <a:buNone/>
            </a:pPr>
            <a:r>
              <a:rPr lang="en-US" sz="2250" i="1" dirty="0">
                <a:solidFill>
                  <a:srgbClr val="7D4C3D"/>
                </a:solidFill>
                <a:latin typeface="Arial" pitchFamily="34" charset="0"/>
                <a:ea typeface="Arial" pitchFamily="34" charset="-122"/>
                <a:cs typeface="Arial" pitchFamily="34" charset="-120"/>
              </a:rPr>
              <a:t>A discrete RV over {1, 2, … 10} — the unit of work behind every dollar of spend.</a:t>
            </a:r>
            <a:endParaRPr lang="en-US" sz="2250" dirty="0"/>
          </a:p>
        </p:txBody>
      </p:sp>
      <p:sp>
        <p:nvSpPr>
          <p:cNvPr id="6" name="Shape 4"/>
          <p:cNvSpPr/>
          <p:nvPr/>
        </p:nvSpPr>
        <p:spPr>
          <a:xfrm>
            <a:off x="571500" y="3481834"/>
            <a:ext cx="10012561" cy="5619750"/>
          </a:xfrm>
          <a:prstGeom prst="roundRect">
            <a:avLst>
              <a:gd name="adj" fmla="val 2373"/>
            </a:avLst>
          </a:prstGeom>
          <a:solidFill>
            <a:srgbClr val="FFFFFF"/>
          </a:solidFill>
          <a:ln w="9525">
            <a:solidFill>
              <a:srgbClr val="7D4C3D">
                <a:alpha val="18000"/>
              </a:srgbClr>
            </a:solidFill>
            <a:prstDash val="solid"/>
          </a:ln>
          <a:effectLst>
            <a:outerShdw sx="100000" sy="100000" kx="0" ky="0" algn="bl" rotWithShape="0" blurRad="228600" dist="76200" dir="5400000">
              <a:srgbClr val="7D4C3D">
                <a:alpha val="8000"/>
              </a:srgbClr>
            </a:outerShdw>
          </a:effectLst>
        </p:spPr>
      </p:sp>
      <p:pic>
        <p:nvPicPr>
          <p:cNvPr id="7" name="Image 0" descr="preencoded.png">    </p:cNvPr>
          <p:cNvPicPr>
            <a:picLocks noChangeAspect="1"/>
          </p:cNvPicPr>
          <p:nvPr/>
        </p:nvPicPr>
        <p:blipFill>
          <a:blip r:embed="rId1"/>
          <a:srcRect l="0" r="0" t="0" b="0"/>
          <a:stretch/>
        </p:blipFill>
        <p:spPr>
          <a:xfrm>
            <a:off x="809625" y="3719959"/>
            <a:ext cx="9536311" cy="5143500"/>
          </a:xfrm>
          <a:prstGeom prst="rect">
            <a:avLst/>
          </a:prstGeom>
        </p:spPr>
      </p:pic>
      <p:sp>
        <p:nvSpPr>
          <p:cNvPr id="8" name="Shape 5"/>
          <p:cNvSpPr/>
          <p:nvPr/>
        </p:nvSpPr>
        <p:spPr>
          <a:xfrm>
            <a:off x="11041261" y="3643313"/>
            <a:ext cx="6675090" cy="1710630"/>
          </a:xfrm>
          <a:prstGeom prst="roundRect">
            <a:avLst>
              <a:gd name="adj" fmla="val 7795"/>
            </a:avLst>
          </a:prstGeom>
          <a:solidFill>
            <a:srgbClr val="E8DCCB"/>
          </a:solidFill>
          <a:ln w="9525">
            <a:solidFill>
              <a:srgbClr val="7D4C3D">
                <a:alpha val="18000"/>
              </a:srgbClr>
            </a:solidFill>
            <a:prstDash val="solid"/>
          </a:ln>
        </p:spPr>
      </p:sp>
      <p:sp>
        <p:nvSpPr>
          <p:cNvPr id="9" name="Text 6"/>
          <p:cNvSpPr/>
          <p:nvPr/>
        </p:nvSpPr>
        <p:spPr>
          <a:xfrm>
            <a:off x="11393686" y="3957638"/>
            <a:ext cx="614934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3.7415</a:t>
            </a:r>
            <a:endParaRPr lang="en-US" sz="4800" dirty="0"/>
          </a:p>
        </p:txBody>
      </p:sp>
      <p:sp>
        <p:nvSpPr>
          <p:cNvPr id="10" name="Text 7"/>
          <p:cNvSpPr/>
          <p:nvPr/>
        </p:nvSpPr>
        <p:spPr>
          <a:xfrm>
            <a:off x="11393686" y="4719638"/>
            <a:ext cx="614934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E[cart_size] · expected items per order</a:t>
            </a:r>
            <a:endParaRPr lang="en-US" sz="1800" dirty="0"/>
          </a:p>
        </p:txBody>
      </p:sp>
      <p:sp>
        <p:nvSpPr>
          <p:cNvPr id="11" name="Shape 8"/>
          <p:cNvSpPr/>
          <p:nvPr/>
        </p:nvSpPr>
        <p:spPr>
          <a:xfrm>
            <a:off x="11041261" y="5582543"/>
            <a:ext cx="6675090" cy="1710630"/>
          </a:xfrm>
          <a:prstGeom prst="roundRect">
            <a:avLst>
              <a:gd name="adj" fmla="val 7795"/>
            </a:avLst>
          </a:prstGeom>
          <a:solidFill>
            <a:srgbClr val="E8DCCB"/>
          </a:solidFill>
          <a:ln w="9525">
            <a:solidFill>
              <a:srgbClr val="7D4C3D">
                <a:alpha val="18000"/>
              </a:srgbClr>
            </a:solidFill>
            <a:prstDash val="solid"/>
          </a:ln>
        </p:spPr>
      </p:sp>
      <p:sp>
        <p:nvSpPr>
          <p:cNvPr id="12" name="Text 9"/>
          <p:cNvSpPr/>
          <p:nvPr/>
        </p:nvSpPr>
        <p:spPr>
          <a:xfrm>
            <a:off x="11393686" y="5896868"/>
            <a:ext cx="6149347"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5D3527"/>
                </a:solidFill>
                <a:latin typeface="Arial" pitchFamily="34" charset="0"/>
                <a:ea typeface="Arial" pitchFamily="34" charset="-122"/>
                <a:cs typeface="Arial" pitchFamily="34" charset="-120"/>
              </a:rPr>
              <a:t>2.8826</a:t>
            </a:r>
            <a:endParaRPr lang="en-US" sz="4800" dirty="0"/>
          </a:p>
        </p:txBody>
      </p:sp>
      <p:sp>
        <p:nvSpPr>
          <p:cNvPr id="13" name="Text 10"/>
          <p:cNvSpPr/>
          <p:nvPr/>
        </p:nvSpPr>
        <p:spPr>
          <a:xfrm>
            <a:off x="11393686" y="6658868"/>
            <a:ext cx="614934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7D4C3D"/>
                </a:solidFill>
                <a:latin typeface="Arial" pitchFamily="34" charset="0"/>
                <a:ea typeface="Arial" pitchFamily="34" charset="-122"/>
                <a:cs typeface="Arial" pitchFamily="34" charset="-120"/>
              </a:rPr>
              <a:t>Var(cart_size)</a:t>
            </a:r>
            <a:endParaRPr lang="en-US" sz="1800" dirty="0"/>
          </a:p>
        </p:txBody>
      </p:sp>
      <p:sp>
        <p:nvSpPr>
          <p:cNvPr id="14" name="Text 11"/>
          <p:cNvSpPr/>
          <p:nvPr/>
        </p:nvSpPr>
        <p:spPr>
          <a:xfrm>
            <a:off x="11041261" y="7540823"/>
            <a:ext cx="6875343" cy="118958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Mode at 3 items, right-skewed tail to 10. Treating cart size as an RV ties the descriptive picture directly to the linear model on the next slide.</a:t>
            </a:r>
            <a:endParaRPr lang="en-US" sz="1950" dirty="0"/>
          </a:p>
        </p:txBody>
      </p:sp>
      <p:sp>
        <p:nvSpPr>
          <p:cNvPr id="15" name="Text 12"/>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16" name="Text 13"/>
          <p:cNvSpPr/>
          <p:nvPr/>
        </p:nvSpPr>
        <p:spPr>
          <a:xfrm>
            <a:off x="571500" y="9591675"/>
            <a:ext cx="1051917"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10 / 16</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BCBBB"/>
        </a:solidFill>
      </p:bgPr>
    </p:bg>
    <p:spTree>
      <p:nvGrpSpPr>
        <p:cNvPr id="1" name=""/>
        <p:cNvGrpSpPr/>
        <p:nvPr/>
      </p:nvGrpSpPr>
      <p:grpSpPr>
        <a:xfrm>
          <a:off x="0" y="0"/>
          <a:ext cx="0" cy="0"/>
          <a:chOff x="0" y="0"/>
          <a:chExt cx="0" cy="0"/>
        </a:xfrm>
      </p:grpSpPr>
      <p:sp>
        <p:nvSpPr>
          <p:cNvPr id="2" name="Text 0"/>
          <p:cNvSpPr/>
          <p:nvPr/>
        </p:nvSpPr>
        <p:spPr>
          <a:xfrm>
            <a:off x="1143000" y="1143000"/>
            <a:ext cx="8781694"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5D3527">
                    <a:alpha val="70000"/>
                  </a:srgbClr>
                </a:solidFill>
                <a:latin typeface="Arial" pitchFamily="34" charset="0"/>
                <a:ea typeface="Arial" pitchFamily="34" charset="-122"/>
                <a:cs typeface="Arial" pitchFamily="34" charset="-120"/>
              </a:rPr>
              <a:t>CHAPTER TEN · LINEAR ALGEBRA &amp; OPTIMIZATION</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A 3-feature model that explains 95% of spend.</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Text 3"/>
          <p:cNvSpPr/>
          <p:nvPr/>
        </p:nvSpPr>
        <p:spPr>
          <a:xfrm>
            <a:off x="571500" y="3229868"/>
            <a:ext cx="8962273" cy="333375"/>
          </a:xfrm>
          <a:prstGeom prst="rect">
            <a:avLst/>
          </a:prstGeom>
          <a:noFill/>
          <a:ln/>
        </p:spPr>
        <p:txBody>
          <a:bodyPr wrap="square" lIns="25400" tIns="25400" rIns="25400" bIns="25400" rtlCol="0" anchor="t">
            <a:normAutofit/>
          </a:bodyPr>
          <a:lstStyle/>
          <a:p>
            <a:pPr algn="l" indent="0" marL="0">
              <a:buNone/>
            </a:pPr>
            <a:r>
              <a:rPr lang="en-US" sz="1950" i="1" dirty="0">
                <a:solidFill>
                  <a:srgbClr val="7D4C3D"/>
                </a:solidFill>
                <a:latin typeface="Arial" pitchFamily="34" charset="0"/>
                <a:ea typeface="Arial" pitchFamily="34" charset="-122"/>
                <a:cs typeface="Arial" pitchFamily="34" charset="-120"/>
              </a:rPr>
              <a:t>ŷ = β₀ + β₁·cart_size + β₂·customizations + β₃·mobile_app</a:t>
            </a:r>
            <a:endParaRPr lang="en-US" sz="1950" dirty="0"/>
          </a:p>
        </p:txBody>
      </p:sp>
      <p:sp>
        <p:nvSpPr>
          <p:cNvPr id="6" name="Shape 4"/>
          <p:cNvSpPr/>
          <p:nvPr/>
        </p:nvSpPr>
        <p:spPr>
          <a:xfrm>
            <a:off x="571500" y="3658493"/>
            <a:ext cx="8701236" cy="676275"/>
          </a:xfrm>
          <a:prstGeom prst="roundRect">
            <a:avLst>
              <a:gd name="adj" fmla="val 14085"/>
            </a:avLst>
          </a:prstGeom>
          <a:solidFill>
            <a:srgbClr val="FFFDF7">
              <a:alpha val="70000"/>
            </a:srgbClr>
          </a:solidFill>
          <a:ln/>
        </p:spPr>
      </p:sp>
      <p:sp>
        <p:nvSpPr>
          <p:cNvPr id="7" name="Text 5"/>
          <p:cNvSpPr/>
          <p:nvPr/>
        </p:nvSpPr>
        <p:spPr>
          <a:xfrm>
            <a:off x="838200" y="3848993"/>
            <a:ext cx="147116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intercept (β₀)</a:t>
            </a:r>
            <a:endParaRPr lang="en-US" sz="1950" dirty="0"/>
          </a:p>
        </p:txBody>
      </p:sp>
      <p:sp>
        <p:nvSpPr>
          <p:cNvPr id="8" name="Shape 6"/>
          <p:cNvSpPr/>
          <p:nvPr/>
        </p:nvSpPr>
        <p:spPr>
          <a:xfrm>
            <a:off x="2461766" y="3929955"/>
            <a:ext cx="1608832" cy="133350"/>
          </a:xfrm>
          <a:prstGeom prst="roundRect">
            <a:avLst>
              <a:gd name="adj" fmla="val 50000"/>
            </a:avLst>
          </a:prstGeom>
          <a:solidFill>
            <a:srgbClr val="A48C7E">
              <a:alpha val="85000"/>
            </a:srgbClr>
          </a:solidFill>
          <a:ln/>
        </p:spPr>
      </p:sp>
      <p:sp>
        <p:nvSpPr>
          <p:cNvPr id="9" name="Text 7"/>
          <p:cNvSpPr/>
          <p:nvPr/>
        </p:nvSpPr>
        <p:spPr>
          <a:xfrm>
            <a:off x="7977336" y="3858518"/>
            <a:ext cx="1028700"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+ 2.16</a:t>
            </a:r>
            <a:endParaRPr lang="en-US" sz="1800" dirty="0"/>
          </a:p>
        </p:txBody>
      </p:sp>
      <p:sp>
        <p:nvSpPr>
          <p:cNvPr id="10" name="Shape 8"/>
          <p:cNvSpPr/>
          <p:nvPr/>
        </p:nvSpPr>
        <p:spPr>
          <a:xfrm>
            <a:off x="571500" y="4468118"/>
            <a:ext cx="8701236" cy="676275"/>
          </a:xfrm>
          <a:prstGeom prst="roundRect">
            <a:avLst>
              <a:gd name="adj" fmla="val 14085"/>
            </a:avLst>
          </a:prstGeom>
          <a:solidFill>
            <a:srgbClr val="FFFDF7">
              <a:alpha val="70000"/>
            </a:srgbClr>
          </a:solidFill>
          <a:ln/>
        </p:spPr>
      </p:sp>
      <p:sp>
        <p:nvSpPr>
          <p:cNvPr id="11" name="Text 9"/>
          <p:cNvSpPr/>
          <p:nvPr/>
        </p:nvSpPr>
        <p:spPr>
          <a:xfrm>
            <a:off x="838200" y="4658618"/>
            <a:ext cx="106724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cart_size</a:t>
            </a:r>
            <a:endParaRPr lang="en-US" sz="1950" dirty="0"/>
          </a:p>
        </p:txBody>
      </p:sp>
      <p:sp>
        <p:nvSpPr>
          <p:cNvPr id="12" name="Shape 10"/>
          <p:cNvSpPr/>
          <p:nvPr/>
        </p:nvSpPr>
        <p:spPr>
          <a:xfrm>
            <a:off x="2057846" y="4739580"/>
            <a:ext cx="4784675" cy="133350"/>
          </a:xfrm>
          <a:prstGeom prst="roundRect">
            <a:avLst>
              <a:gd name="adj" fmla="val 50000"/>
            </a:avLst>
          </a:prstGeom>
          <a:solidFill>
            <a:srgbClr val="5D3527">
              <a:alpha val="85000"/>
            </a:srgbClr>
          </a:solidFill>
          <a:ln/>
        </p:spPr>
      </p:sp>
      <p:sp>
        <p:nvSpPr>
          <p:cNvPr id="13" name="Text 11"/>
          <p:cNvSpPr/>
          <p:nvPr/>
        </p:nvSpPr>
        <p:spPr>
          <a:xfrm>
            <a:off x="7526685" y="4668143"/>
            <a:ext cx="1479352"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+ 2.69 / item</a:t>
            </a:r>
            <a:endParaRPr lang="en-US" sz="1800" dirty="0"/>
          </a:p>
        </p:txBody>
      </p:sp>
      <p:sp>
        <p:nvSpPr>
          <p:cNvPr id="14" name="Shape 12"/>
          <p:cNvSpPr/>
          <p:nvPr/>
        </p:nvSpPr>
        <p:spPr>
          <a:xfrm>
            <a:off x="571500" y="5277743"/>
            <a:ext cx="8701236" cy="676275"/>
          </a:xfrm>
          <a:prstGeom prst="roundRect">
            <a:avLst>
              <a:gd name="adj" fmla="val 14085"/>
            </a:avLst>
          </a:prstGeom>
          <a:solidFill>
            <a:srgbClr val="FFFDF7">
              <a:alpha val="70000"/>
            </a:srgbClr>
          </a:solidFill>
          <a:ln/>
        </p:spPr>
      </p:sp>
      <p:sp>
        <p:nvSpPr>
          <p:cNvPr id="15" name="Text 13"/>
          <p:cNvSpPr/>
          <p:nvPr/>
        </p:nvSpPr>
        <p:spPr>
          <a:xfrm>
            <a:off x="838200" y="5468243"/>
            <a:ext cx="2333625"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num_customizations</a:t>
            </a:r>
            <a:endParaRPr lang="en-US" sz="1950" dirty="0"/>
          </a:p>
        </p:txBody>
      </p:sp>
      <p:sp>
        <p:nvSpPr>
          <p:cNvPr id="16" name="Shape 14"/>
          <p:cNvSpPr/>
          <p:nvPr/>
        </p:nvSpPr>
        <p:spPr>
          <a:xfrm>
            <a:off x="3324225" y="5549205"/>
            <a:ext cx="1414463" cy="133350"/>
          </a:xfrm>
          <a:prstGeom prst="roundRect">
            <a:avLst>
              <a:gd name="adj" fmla="val 50000"/>
            </a:avLst>
          </a:prstGeom>
          <a:solidFill>
            <a:srgbClr val="7D4C3D">
              <a:alpha val="85000"/>
            </a:srgbClr>
          </a:solidFill>
          <a:ln/>
        </p:spPr>
      </p:sp>
      <p:sp>
        <p:nvSpPr>
          <p:cNvPr id="17" name="Text 15"/>
          <p:cNvSpPr/>
          <p:nvPr/>
        </p:nvSpPr>
        <p:spPr>
          <a:xfrm>
            <a:off x="7518202" y="5477768"/>
            <a:ext cx="1487835"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+ 0.92 / mod</a:t>
            </a:r>
            <a:endParaRPr lang="en-US" sz="1800" dirty="0"/>
          </a:p>
        </p:txBody>
      </p:sp>
      <p:sp>
        <p:nvSpPr>
          <p:cNvPr id="18" name="Shape 16"/>
          <p:cNvSpPr/>
          <p:nvPr/>
        </p:nvSpPr>
        <p:spPr>
          <a:xfrm>
            <a:off x="571500" y="6087368"/>
            <a:ext cx="8701236" cy="676275"/>
          </a:xfrm>
          <a:prstGeom prst="roundRect">
            <a:avLst>
              <a:gd name="adj" fmla="val 14085"/>
            </a:avLst>
          </a:prstGeom>
          <a:solidFill>
            <a:srgbClr val="FFFDF7">
              <a:alpha val="70000"/>
            </a:srgbClr>
          </a:solidFill>
          <a:ln/>
        </p:spPr>
      </p:sp>
      <p:sp>
        <p:nvSpPr>
          <p:cNvPr id="19" name="Text 17"/>
          <p:cNvSpPr/>
          <p:nvPr/>
        </p:nvSpPr>
        <p:spPr>
          <a:xfrm>
            <a:off x="838200" y="6277868"/>
            <a:ext cx="1356717"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3527"/>
                </a:solidFill>
                <a:latin typeface="Arial" pitchFamily="34" charset="0"/>
                <a:ea typeface="Arial" pitchFamily="34" charset="-122"/>
                <a:cs typeface="Arial" pitchFamily="34" charset="-120"/>
              </a:rPr>
              <a:t>mobile_app</a:t>
            </a:r>
            <a:endParaRPr lang="en-US" sz="1950" dirty="0"/>
          </a:p>
        </p:txBody>
      </p:sp>
      <p:sp>
        <p:nvSpPr>
          <p:cNvPr id="20" name="Shape 18"/>
          <p:cNvSpPr/>
          <p:nvPr/>
        </p:nvSpPr>
        <p:spPr>
          <a:xfrm>
            <a:off x="2347317" y="6358830"/>
            <a:ext cx="4272409" cy="133350"/>
          </a:xfrm>
          <a:prstGeom prst="roundRect">
            <a:avLst>
              <a:gd name="adj" fmla="val 50000"/>
            </a:avLst>
          </a:prstGeom>
          <a:solidFill>
            <a:srgbClr val="1E5631">
              <a:alpha val="85000"/>
            </a:srgbClr>
          </a:solidFill>
          <a:ln/>
        </p:spPr>
      </p:sp>
      <p:sp>
        <p:nvSpPr>
          <p:cNvPr id="21" name="Text 19"/>
          <p:cNvSpPr/>
          <p:nvPr/>
        </p:nvSpPr>
        <p:spPr>
          <a:xfrm>
            <a:off x="7977336" y="6287393"/>
            <a:ext cx="1028700" cy="314325"/>
          </a:xfrm>
          <a:prstGeom prst="rect">
            <a:avLst/>
          </a:prstGeom>
          <a:noFill/>
          <a:ln/>
        </p:spPr>
        <p:txBody>
          <a:bodyPr wrap="square" lIns="25400" tIns="25400" rIns="25400" bIns="25400" rtlCol="0" anchor="t">
            <a:normAutofit/>
          </a:bodyPr>
          <a:lstStyle/>
          <a:p>
            <a:pPr algn="r" indent="0" marL="0">
              <a:buNone/>
            </a:pPr>
            <a:r>
              <a:rPr lang="en-US" sz="1800" b="1" dirty="0">
                <a:solidFill>
                  <a:srgbClr val="5D3527"/>
                </a:solidFill>
                <a:latin typeface="Arial" pitchFamily="34" charset="0"/>
                <a:ea typeface="Arial" pitchFamily="34" charset="-122"/>
                <a:cs typeface="Arial" pitchFamily="34" charset="-120"/>
              </a:rPr>
              <a:t>+ 2.33</a:t>
            </a:r>
            <a:endParaRPr lang="en-US" sz="1800" dirty="0"/>
          </a:p>
        </p:txBody>
      </p:sp>
      <p:sp>
        <p:nvSpPr>
          <p:cNvPr id="22" name="Shape 20"/>
          <p:cNvSpPr/>
          <p:nvPr/>
        </p:nvSpPr>
        <p:spPr>
          <a:xfrm>
            <a:off x="571500" y="6973193"/>
            <a:ext cx="8701236" cy="1710630"/>
          </a:xfrm>
          <a:prstGeom prst="roundRect">
            <a:avLst>
              <a:gd name="adj" fmla="val 7795"/>
            </a:avLst>
          </a:prstGeom>
          <a:solidFill>
            <a:srgbClr val="5D3527"/>
          </a:solidFill>
          <a:ln/>
        </p:spPr>
      </p:sp>
      <p:sp>
        <p:nvSpPr>
          <p:cNvPr id="23" name="Text 21"/>
          <p:cNvSpPr/>
          <p:nvPr/>
        </p:nvSpPr>
        <p:spPr>
          <a:xfrm>
            <a:off x="923925" y="7287518"/>
            <a:ext cx="823627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48" kern="0" dirty="0">
                <a:solidFill>
                  <a:srgbClr val="FAF8ED"/>
                </a:solidFill>
                <a:latin typeface="Arial" pitchFamily="34" charset="0"/>
                <a:ea typeface="Arial" pitchFamily="34" charset="-122"/>
                <a:cs typeface="Arial" pitchFamily="34" charset="-120"/>
              </a:rPr>
              <a:t>R² = 0.9505</a:t>
            </a:r>
            <a:endParaRPr lang="en-US" sz="4800" dirty="0"/>
          </a:p>
        </p:txBody>
      </p:sp>
      <p:sp>
        <p:nvSpPr>
          <p:cNvPr id="24" name="Text 22"/>
          <p:cNvSpPr/>
          <p:nvPr/>
        </p:nvSpPr>
        <p:spPr>
          <a:xfrm>
            <a:off x="923925" y="8049518"/>
            <a:ext cx="823627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6" kern="0" dirty="0">
                <a:solidFill>
                  <a:srgbClr val="E8DCCB"/>
                </a:solidFill>
                <a:latin typeface="Arial" pitchFamily="34" charset="0"/>
                <a:ea typeface="Arial" pitchFamily="34" charset="-122"/>
                <a:cs typeface="Arial" pitchFamily="34" charset="-120"/>
              </a:rPr>
              <a:t>95% of variance in total_spend explained</a:t>
            </a:r>
            <a:endParaRPr lang="en-US" sz="1800" dirty="0"/>
          </a:p>
        </p:txBody>
      </p:sp>
      <p:sp>
        <p:nvSpPr>
          <p:cNvPr id="25" name="Shape 23"/>
          <p:cNvSpPr/>
          <p:nvPr/>
        </p:nvSpPr>
        <p:spPr>
          <a:xfrm>
            <a:off x="9806136" y="3229868"/>
            <a:ext cx="7910364" cy="5810250"/>
          </a:xfrm>
          <a:prstGeom prst="roundRect">
            <a:avLst>
              <a:gd name="adj" fmla="val 2295"/>
            </a:avLst>
          </a:prstGeom>
          <a:solidFill>
            <a:srgbClr val="FAF8ED"/>
          </a:solidFill>
          <a:ln w="9525">
            <a:solidFill>
              <a:srgbClr val="7D4C3D">
                <a:alpha val="18000"/>
              </a:srgbClr>
            </a:solidFill>
            <a:prstDash val="solid"/>
          </a:ln>
          <a:effectLst>
            <a:outerShdw sx="100000" sy="100000" kx="0" ky="0" algn="bl" rotWithShape="0" blurRad="228600" dist="76200" dir="5400000">
              <a:srgbClr val="7D4C3D">
                <a:alpha val="8000"/>
              </a:srgbClr>
            </a:outerShdw>
          </a:effectLst>
        </p:spPr>
      </p:sp>
      <p:pic>
        <p:nvPicPr>
          <p:cNvPr id="26" name="Image 0" descr="preencoded.png">    </p:cNvPr>
          <p:cNvPicPr>
            <a:picLocks noChangeAspect="1"/>
          </p:cNvPicPr>
          <p:nvPr/>
        </p:nvPicPr>
        <p:blipFill>
          <a:blip r:embed="rId1"/>
          <a:srcRect l="0" r="0" t="0" b="0"/>
          <a:stretch/>
        </p:blipFill>
        <p:spPr>
          <a:xfrm>
            <a:off x="10044261" y="3467993"/>
            <a:ext cx="7434114" cy="5334000"/>
          </a:xfrm>
          <a:prstGeom prst="rect">
            <a:avLst/>
          </a:prstGeom>
        </p:spPr>
      </p:pic>
      <p:sp>
        <p:nvSpPr>
          <p:cNvPr id="27" name="Text 24"/>
          <p:cNvSpPr/>
          <p:nvPr/>
        </p:nvSpPr>
        <p:spPr>
          <a:xfrm>
            <a:off x="1143000" y="8582025"/>
            <a:ext cx="16482060" cy="314325"/>
          </a:xfrm>
          <a:prstGeom prst="rect">
            <a:avLst/>
          </a:prstGeom>
          <a:noFill/>
          <a:ln/>
        </p:spPr>
        <p:txBody>
          <a:bodyPr wrap="square" lIns="25400" tIns="25400" rIns="25400" bIns="25400" rtlCol="0" anchor="t">
            <a:normAutofit/>
          </a:bodyPr>
          <a:lstStyle/>
          <a:p>
            <a:pPr algn="l" indent="0" marL="0">
              <a:buNone/>
            </a:pPr>
            <a:r>
              <a:rPr lang="en-US" sz="1800" i="1" dirty="0">
                <a:solidFill>
                  <a:srgbClr val="7D4C3D"/>
                </a:solidFill>
                <a:latin typeface="Arial" pitchFamily="34" charset="0"/>
                <a:ea typeface="Arial" pitchFamily="34" charset="-122"/>
                <a:cs typeface="Arial" pitchFamily="34" charset="-120"/>
              </a:rPr>
              <a:t>Solved two ways — closed-form via the normal equations, iteratively via gradient descent. Both converge to the same coefficients.</a:t>
            </a:r>
            <a:endParaRPr lang="en-US" sz="1800" dirty="0"/>
          </a:p>
        </p:txBody>
      </p:sp>
      <p:sp>
        <p:nvSpPr>
          <p:cNvPr id="28" name="Text 25"/>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5D3527">
                    <a:alpha val="85000"/>
                  </a:srgbClr>
                </a:solidFill>
                <a:latin typeface="Arial" pitchFamily="34" charset="0"/>
                <a:ea typeface="Arial" pitchFamily="34" charset="-122"/>
                <a:cs typeface="Arial" pitchFamily="34" charset="-120"/>
              </a:rPr>
              <a:t>Starbucks</a:t>
            </a:r>
            <a:endParaRPr lang="en-US" sz="1950" dirty="0"/>
          </a:p>
        </p:txBody>
      </p:sp>
      <p:sp>
        <p:nvSpPr>
          <p:cNvPr id="29" name="Text 26"/>
          <p:cNvSpPr/>
          <p:nvPr/>
        </p:nvSpPr>
        <p:spPr>
          <a:xfrm>
            <a:off x="571500" y="9591675"/>
            <a:ext cx="999232"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11 / 16</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8314611"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ELEVEN · BUSINESS INTERPRETATION</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From coefficients to revenue levers.</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Shape 3"/>
          <p:cNvSpPr/>
          <p:nvPr/>
        </p:nvSpPr>
        <p:spPr>
          <a:xfrm>
            <a:off x="571500" y="3306068"/>
            <a:ext cx="8382000" cy="2786955"/>
          </a:xfrm>
          <a:prstGeom prst="roundRect">
            <a:avLst>
              <a:gd name="adj" fmla="val 4785"/>
            </a:avLst>
          </a:prstGeom>
          <a:solidFill>
            <a:srgbClr val="5D3527"/>
          </a:solidFill>
          <a:ln/>
        </p:spPr>
      </p:sp>
      <p:sp>
        <p:nvSpPr>
          <p:cNvPr id="6" name="Text 4"/>
          <p:cNvSpPr/>
          <p:nvPr/>
        </p:nvSpPr>
        <p:spPr>
          <a:xfrm>
            <a:off x="962025" y="3696593"/>
            <a:ext cx="7828979" cy="958155"/>
          </a:xfrm>
          <a:prstGeom prst="rect">
            <a:avLst/>
          </a:prstGeom>
          <a:noFill/>
          <a:ln/>
        </p:spPr>
        <p:txBody>
          <a:bodyPr wrap="square" lIns="25400" tIns="25400" rIns="25400" bIns="25400" rtlCol="0" anchor="t">
            <a:normAutofit/>
          </a:bodyPr>
          <a:lstStyle/>
          <a:p>
            <a:pPr algn="l" indent="0" marL="0">
              <a:lnSpc>
                <a:spcPct val="105000"/>
              </a:lnSpc>
              <a:buNone/>
            </a:pPr>
            <a:r>
              <a:rPr lang="en-US" sz="3450" dirty="0">
                <a:solidFill>
                  <a:srgbClr val="FAF8ED"/>
                </a:solidFill>
                <a:latin typeface="Arial" pitchFamily="34" charset="0"/>
                <a:ea typeface="Arial" pitchFamily="34" charset="-122"/>
                <a:cs typeface="Arial" pitchFamily="34" charset="-120"/>
              </a:rPr>
              <a:t>Mobile App is the largest lever.</a:t>
            </a:r>
            <a:endParaRPr lang="en-US" sz="3450" dirty="0"/>
          </a:p>
        </p:txBody>
      </p:sp>
      <p:sp>
        <p:nvSpPr>
          <p:cNvPr id="7" name="Text 5"/>
          <p:cNvSpPr/>
          <p:nvPr/>
        </p:nvSpPr>
        <p:spPr>
          <a:xfrm>
            <a:off x="962025" y="4788098"/>
            <a:ext cx="782897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DCCB"/>
                </a:solidFill>
                <a:latin typeface="Arial" pitchFamily="34" charset="0"/>
                <a:ea typeface="Arial" pitchFamily="34" charset="-122"/>
                <a:cs typeface="Arial" pitchFamily="34" charset="-120"/>
              </a:rPr>
              <a:t>+$5.58 vs every other channel. 93.85% of high-spender orders come through Mobile.</a:t>
            </a:r>
            <a:endParaRPr lang="en-US" sz="1800" dirty="0"/>
          </a:p>
        </p:txBody>
      </p:sp>
      <p:sp>
        <p:nvSpPr>
          <p:cNvPr id="8" name="Shape 6"/>
          <p:cNvSpPr/>
          <p:nvPr/>
        </p:nvSpPr>
        <p:spPr>
          <a:xfrm>
            <a:off x="9334500" y="3306068"/>
            <a:ext cx="8382000" cy="2786955"/>
          </a:xfrm>
          <a:prstGeom prst="roundRect">
            <a:avLst>
              <a:gd name="adj" fmla="val 4785"/>
            </a:avLst>
          </a:prstGeom>
          <a:solidFill>
            <a:srgbClr val="1E5631"/>
          </a:solidFill>
          <a:ln/>
        </p:spPr>
      </p:sp>
      <p:sp>
        <p:nvSpPr>
          <p:cNvPr id="9" name="Text 7"/>
          <p:cNvSpPr/>
          <p:nvPr/>
        </p:nvSpPr>
        <p:spPr>
          <a:xfrm>
            <a:off x="9725025" y="3696593"/>
            <a:ext cx="7828979" cy="958155"/>
          </a:xfrm>
          <a:prstGeom prst="rect">
            <a:avLst/>
          </a:prstGeom>
          <a:noFill/>
          <a:ln/>
        </p:spPr>
        <p:txBody>
          <a:bodyPr wrap="square" lIns="25400" tIns="25400" rIns="25400" bIns="25400" rtlCol="0" anchor="t">
            <a:normAutofit/>
          </a:bodyPr>
          <a:lstStyle/>
          <a:p>
            <a:pPr algn="l" indent="0" marL="0">
              <a:lnSpc>
                <a:spcPct val="105000"/>
              </a:lnSpc>
              <a:buNone/>
            </a:pPr>
            <a:r>
              <a:rPr lang="en-US" sz="3450" dirty="0">
                <a:solidFill>
                  <a:srgbClr val="FAF8ED"/>
                </a:solidFill>
                <a:latin typeface="Arial" pitchFamily="34" charset="0"/>
                <a:ea typeface="Arial" pitchFamily="34" charset="-122"/>
                <a:cs typeface="Arial" pitchFamily="34" charset="-120"/>
              </a:rPr>
              <a:t>Cart size is the strongest predictor.</a:t>
            </a:r>
            <a:endParaRPr lang="en-US" sz="3450" dirty="0"/>
          </a:p>
        </p:txBody>
      </p:sp>
      <p:sp>
        <p:nvSpPr>
          <p:cNvPr id="10" name="Text 8"/>
          <p:cNvSpPr/>
          <p:nvPr/>
        </p:nvSpPr>
        <p:spPr>
          <a:xfrm>
            <a:off x="9725025" y="4788098"/>
            <a:ext cx="7828979"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AF8ED">
                    <a:alpha val="85000"/>
                  </a:srgbClr>
                </a:solidFill>
                <a:latin typeface="Arial" pitchFamily="34" charset="0"/>
                <a:ea typeface="Arial" pitchFamily="34" charset="-122"/>
                <a:cs typeface="Arial" pitchFamily="34" charset="-120"/>
              </a:rPr>
              <a:t>r = 0.900 with spend. Each extra item adds $2.69 in the linear model.</a:t>
            </a:r>
            <a:endParaRPr lang="en-US" sz="1800" dirty="0"/>
          </a:p>
        </p:txBody>
      </p:sp>
      <p:sp>
        <p:nvSpPr>
          <p:cNvPr id="11" name="Shape 9"/>
          <p:cNvSpPr/>
          <p:nvPr/>
        </p:nvSpPr>
        <p:spPr>
          <a:xfrm>
            <a:off x="571500" y="6474023"/>
            <a:ext cx="8382000" cy="2786955"/>
          </a:xfrm>
          <a:prstGeom prst="roundRect">
            <a:avLst>
              <a:gd name="adj" fmla="val 4785"/>
            </a:avLst>
          </a:prstGeom>
          <a:solidFill>
            <a:srgbClr val="E8DCCB"/>
          </a:solidFill>
          <a:ln w="9525">
            <a:solidFill>
              <a:srgbClr val="7D4C3D">
                <a:alpha val="18000"/>
              </a:srgbClr>
            </a:solidFill>
            <a:prstDash val="solid"/>
          </a:ln>
        </p:spPr>
      </p:sp>
      <p:sp>
        <p:nvSpPr>
          <p:cNvPr id="12" name="Text 10"/>
          <p:cNvSpPr/>
          <p:nvPr/>
        </p:nvSpPr>
        <p:spPr>
          <a:xfrm>
            <a:off x="962025" y="6864548"/>
            <a:ext cx="7828979" cy="958155"/>
          </a:xfrm>
          <a:prstGeom prst="rect">
            <a:avLst/>
          </a:prstGeom>
          <a:noFill/>
          <a:ln/>
        </p:spPr>
        <p:txBody>
          <a:bodyPr wrap="square" lIns="25400" tIns="25400" rIns="25400" bIns="25400" rtlCol="0" anchor="t">
            <a:normAutofit/>
          </a:bodyPr>
          <a:lstStyle/>
          <a:p>
            <a:pPr algn="l" indent="0" marL="0">
              <a:lnSpc>
                <a:spcPct val="105000"/>
              </a:lnSpc>
              <a:buNone/>
            </a:pPr>
            <a:r>
              <a:rPr lang="en-US" sz="3450" dirty="0">
                <a:solidFill>
                  <a:srgbClr val="5D3527"/>
                </a:solidFill>
                <a:latin typeface="Arial" pitchFamily="34" charset="0"/>
                <a:ea typeface="Arial" pitchFamily="34" charset="-122"/>
                <a:cs typeface="Arial" pitchFamily="34" charset="-120"/>
              </a:rPr>
              <a:t>Rewards is smaller but real.</a:t>
            </a:r>
            <a:endParaRPr lang="en-US" sz="3450" dirty="0"/>
          </a:p>
        </p:txBody>
      </p:sp>
      <p:sp>
        <p:nvSpPr>
          <p:cNvPr id="13" name="Text 11"/>
          <p:cNvSpPr/>
          <p:nvPr/>
        </p:nvSpPr>
        <p:spPr>
          <a:xfrm>
            <a:off x="962025" y="7956054"/>
            <a:ext cx="782897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7D4C3D"/>
                </a:solidFill>
                <a:latin typeface="Arial" pitchFamily="34" charset="0"/>
                <a:ea typeface="Arial" pitchFamily="34" charset="-122"/>
                <a:cs typeface="Arial" pitchFamily="34" charset="-120"/>
              </a:rPr>
              <a:t>+$1.63 per order, statistically significant. Rewards members are 62.74% of high spenders.</a:t>
            </a:r>
            <a:endParaRPr lang="en-US" sz="1800" dirty="0"/>
          </a:p>
        </p:txBody>
      </p:sp>
      <p:sp>
        <p:nvSpPr>
          <p:cNvPr id="14" name="Shape 12"/>
          <p:cNvSpPr/>
          <p:nvPr/>
        </p:nvSpPr>
        <p:spPr>
          <a:xfrm>
            <a:off x="9334500" y="6474023"/>
            <a:ext cx="8382000" cy="2786955"/>
          </a:xfrm>
          <a:prstGeom prst="roundRect">
            <a:avLst>
              <a:gd name="adj" fmla="val 4785"/>
            </a:avLst>
          </a:prstGeom>
          <a:solidFill>
            <a:srgbClr val="E8DCCB"/>
          </a:solidFill>
          <a:ln w="9525">
            <a:solidFill>
              <a:srgbClr val="7D4C3D">
                <a:alpha val="18000"/>
              </a:srgbClr>
            </a:solidFill>
            <a:prstDash val="solid"/>
          </a:ln>
        </p:spPr>
      </p:sp>
      <p:sp>
        <p:nvSpPr>
          <p:cNvPr id="15" name="Text 13"/>
          <p:cNvSpPr/>
          <p:nvPr/>
        </p:nvSpPr>
        <p:spPr>
          <a:xfrm>
            <a:off x="9725025" y="6864548"/>
            <a:ext cx="7828979" cy="958155"/>
          </a:xfrm>
          <a:prstGeom prst="rect">
            <a:avLst/>
          </a:prstGeom>
          <a:noFill/>
          <a:ln/>
        </p:spPr>
        <p:txBody>
          <a:bodyPr wrap="square" lIns="25400" tIns="25400" rIns="25400" bIns="25400" rtlCol="0" anchor="t">
            <a:normAutofit/>
          </a:bodyPr>
          <a:lstStyle/>
          <a:p>
            <a:pPr algn="l" indent="0" marL="0">
              <a:lnSpc>
                <a:spcPct val="105000"/>
              </a:lnSpc>
              <a:buNone/>
            </a:pPr>
            <a:r>
              <a:rPr lang="en-US" sz="3450" dirty="0">
                <a:solidFill>
                  <a:srgbClr val="5D3527"/>
                </a:solidFill>
                <a:latin typeface="Arial" pitchFamily="34" charset="0"/>
                <a:ea typeface="Arial" pitchFamily="34" charset="-122"/>
                <a:cs typeface="Arial" pitchFamily="34" charset="-120"/>
              </a:rPr>
              <a:t>High spenders are a Mobile phenomenon.</a:t>
            </a:r>
            <a:endParaRPr lang="en-US" sz="3450" dirty="0"/>
          </a:p>
        </p:txBody>
      </p:sp>
      <p:sp>
        <p:nvSpPr>
          <p:cNvPr id="16" name="Text 14"/>
          <p:cNvSpPr/>
          <p:nvPr/>
        </p:nvSpPr>
        <p:spPr>
          <a:xfrm>
            <a:off x="9725025" y="7956054"/>
            <a:ext cx="7828979"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7D4C3D"/>
                </a:solidFill>
                <a:latin typeface="Arial" pitchFamily="34" charset="0"/>
                <a:ea typeface="Arial" pitchFamily="34" charset="-122"/>
                <a:cs typeface="Arial" pitchFamily="34" charset="-120"/>
              </a:rPr>
              <a:t>Channel mix — not just menu — is what unlocks above-$25 orders.</a:t>
            </a:r>
            <a:endParaRPr lang="en-US" sz="1800" dirty="0"/>
          </a:p>
        </p:txBody>
      </p:sp>
      <p:sp>
        <p:nvSpPr>
          <p:cNvPr id="17" name="Text 15"/>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18" name="Text 16"/>
          <p:cNvSpPr/>
          <p:nvPr/>
        </p:nvSpPr>
        <p:spPr>
          <a:xfrm>
            <a:off x="571500" y="9591675"/>
            <a:ext cx="1045220"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12 / 16</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6083278"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TWELVE · DEPLOYMENT</a:t>
            </a:r>
            <a:endParaRPr lang="en-US" sz="1800" dirty="0"/>
          </a:p>
        </p:txBody>
      </p:sp>
      <p:sp>
        <p:nvSpPr>
          <p:cNvPr id="3" name="Text 1"/>
          <p:cNvSpPr/>
          <p:nvPr/>
        </p:nvSpPr>
        <p:spPr>
          <a:xfrm>
            <a:off x="571500" y="1524000"/>
            <a:ext cx="14716125"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From notebook to production.</a:t>
            </a:r>
            <a:endParaRPr lang="en-US" sz="4800" dirty="0"/>
          </a:p>
        </p:txBody>
      </p:sp>
      <p:sp>
        <p:nvSpPr>
          <p:cNvPr id="4" name="Shape 2"/>
          <p:cNvSpPr/>
          <p:nvPr/>
        </p:nvSpPr>
        <p:spPr>
          <a:xfrm>
            <a:off x="571500" y="2310259"/>
            <a:ext cx="762000" cy="19050"/>
          </a:xfrm>
          <a:prstGeom prst="rect">
            <a:avLst/>
          </a:prstGeom>
          <a:solidFill>
            <a:srgbClr val="7D4C3D"/>
          </a:solidFill>
          <a:ln/>
        </p:spPr>
      </p:sp>
      <p:sp>
        <p:nvSpPr>
          <p:cNvPr id="5" name="Shape 3"/>
          <p:cNvSpPr/>
          <p:nvPr/>
        </p:nvSpPr>
        <p:spPr>
          <a:xfrm>
            <a:off x="571500" y="2786509"/>
            <a:ext cx="4086225" cy="2699296"/>
          </a:xfrm>
          <a:prstGeom prst="roundRect">
            <a:avLst>
              <a:gd name="adj" fmla="val 4940"/>
            </a:avLst>
          </a:prstGeom>
          <a:solidFill>
            <a:srgbClr val="E8DCCB"/>
          </a:solidFill>
          <a:ln w="9525">
            <a:solidFill>
              <a:srgbClr val="7D4C3D">
                <a:alpha val="18000"/>
              </a:srgbClr>
            </a:solidFill>
            <a:prstDash val="solid"/>
          </a:ln>
        </p:spPr>
      </p:sp>
      <p:sp>
        <p:nvSpPr>
          <p:cNvPr id="6" name="Text 4"/>
          <p:cNvSpPr/>
          <p:nvPr/>
        </p:nvSpPr>
        <p:spPr>
          <a:xfrm>
            <a:off x="885825" y="3100834"/>
            <a:ext cx="3561302" cy="390525"/>
          </a:xfrm>
          <a:prstGeom prst="rect">
            <a:avLst/>
          </a:prstGeom>
          <a:noFill/>
          <a:ln/>
        </p:spPr>
        <p:txBody>
          <a:bodyPr wrap="square" lIns="25400" tIns="25400" rIns="25400" bIns="25400" rtlCol="0" anchor="t">
            <a:normAutofit/>
          </a:bodyPr>
          <a:lstStyle/>
          <a:p>
            <a:pPr algn="l" indent="0" marL="0">
              <a:buNone/>
            </a:pPr>
            <a:r>
              <a:rPr lang="en-US" sz="2400" dirty="0">
                <a:solidFill>
                  <a:srgbClr val="5D3527"/>
                </a:solidFill>
                <a:latin typeface="Arial" pitchFamily="34" charset="0"/>
                <a:ea typeface="Arial" pitchFamily="34" charset="-122"/>
                <a:cs typeface="Arial" pitchFamily="34" charset="-120"/>
              </a:rPr>
              <a:t>01</a:t>
            </a:r>
            <a:endParaRPr lang="en-US" sz="2400" dirty="0"/>
          </a:p>
        </p:txBody>
      </p:sp>
      <p:sp>
        <p:nvSpPr>
          <p:cNvPr id="7" name="Text 5"/>
          <p:cNvSpPr/>
          <p:nvPr/>
        </p:nvSpPr>
        <p:spPr>
          <a:xfrm>
            <a:off x="885825" y="3510409"/>
            <a:ext cx="3561302" cy="342900"/>
          </a:xfrm>
          <a:prstGeom prst="rect">
            <a:avLst/>
          </a:prstGeom>
          <a:noFill/>
          <a:ln/>
        </p:spPr>
        <p:txBody>
          <a:bodyPr wrap="square" lIns="25400" tIns="25400" rIns="25400" bIns="25400" rtlCol="0" anchor="t">
            <a:normAutofit/>
          </a:bodyPr>
          <a:lstStyle/>
          <a:p>
            <a:pPr algn="l" indent="0" marL="0">
              <a:buNone/>
            </a:pPr>
            <a:r>
              <a:rPr lang="en-US" sz="2100" dirty="0">
                <a:solidFill>
                  <a:srgbClr val="5D3527"/>
                </a:solidFill>
                <a:latin typeface="Arial" pitchFamily="34" charset="0"/>
                <a:ea typeface="Arial" pitchFamily="34" charset="-122"/>
                <a:cs typeface="Arial" pitchFamily="34" charset="-120"/>
              </a:rPr>
              <a:t>Batch refresh</a:t>
            </a:r>
            <a:endParaRPr lang="en-US" sz="2100" dirty="0"/>
          </a:p>
        </p:txBody>
      </p:sp>
      <p:sp>
        <p:nvSpPr>
          <p:cNvPr id="8" name="Text 6"/>
          <p:cNvSpPr/>
          <p:nvPr/>
        </p:nvSpPr>
        <p:spPr>
          <a:xfrm>
            <a:off x="885825" y="3948559"/>
            <a:ext cx="3561302" cy="103242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7D4C3D"/>
                </a:solidFill>
                <a:latin typeface="Arial" pitchFamily="34" charset="0"/>
                <a:ea typeface="Arial" pitchFamily="34" charset="-122"/>
                <a:cs typeface="Arial" pitchFamily="34" charset="-120"/>
              </a:rPr>
              <a:t>Recompute descriptive stats and refit the model on a regular cadence.</a:t>
            </a:r>
            <a:endParaRPr lang="en-US" sz="1800" dirty="0"/>
          </a:p>
        </p:txBody>
      </p:sp>
      <p:sp>
        <p:nvSpPr>
          <p:cNvPr id="9" name="Shape 7"/>
          <p:cNvSpPr/>
          <p:nvPr/>
        </p:nvSpPr>
        <p:spPr>
          <a:xfrm>
            <a:off x="4924425" y="2786509"/>
            <a:ext cx="4086225" cy="2699296"/>
          </a:xfrm>
          <a:prstGeom prst="roundRect">
            <a:avLst>
              <a:gd name="adj" fmla="val 4940"/>
            </a:avLst>
          </a:prstGeom>
          <a:solidFill>
            <a:srgbClr val="E8DCCB"/>
          </a:solidFill>
          <a:ln w="9525">
            <a:solidFill>
              <a:srgbClr val="7D4C3D">
                <a:alpha val="18000"/>
              </a:srgbClr>
            </a:solidFill>
            <a:prstDash val="solid"/>
          </a:ln>
        </p:spPr>
      </p:sp>
      <p:sp>
        <p:nvSpPr>
          <p:cNvPr id="10" name="Text 8"/>
          <p:cNvSpPr/>
          <p:nvPr/>
        </p:nvSpPr>
        <p:spPr>
          <a:xfrm>
            <a:off x="5238750" y="3100834"/>
            <a:ext cx="3561302" cy="390525"/>
          </a:xfrm>
          <a:prstGeom prst="rect">
            <a:avLst/>
          </a:prstGeom>
          <a:noFill/>
          <a:ln/>
        </p:spPr>
        <p:txBody>
          <a:bodyPr wrap="square" lIns="25400" tIns="25400" rIns="25400" bIns="25400" rtlCol="0" anchor="t">
            <a:normAutofit/>
          </a:bodyPr>
          <a:lstStyle/>
          <a:p>
            <a:pPr algn="l" indent="0" marL="0">
              <a:buNone/>
            </a:pPr>
            <a:r>
              <a:rPr lang="en-US" sz="2400" dirty="0">
                <a:solidFill>
                  <a:srgbClr val="5D3527"/>
                </a:solidFill>
                <a:latin typeface="Arial" pitchFamily="34" charset="0"/>
                <a:ea typeface="Arial" pitchFamily="34" charset="-122"/>
                <a:cs typeface="Arial" pitchFamily="34" charset="-120"/>
              </a:rPr>
              <a:t>02</a:t>
            </a:r>
            <a:endParaRPr lang="en-US" sz="2400" dirty="0"/>
          </a:p>
        </p:txBody>
      </p:sp>
      <p:sp>
        <p:nvSpPr>
          <p:cNvPr id="11" name="Text 9"/>
          <p:cNvSpPr/>
          <p:nvPr/>
        </p:nvSpPr>
        <p:spPr>
          <a:xfrm>
            <a:off x="5238750" y="3510409"/>
            <a:ext cx="3561302" cy="342900"/>
          </a:xfrm>
          <a:prstGeom prst="rect">
            <a:avLst/>
          </a:prstGeom>
          <a:noFill/>
          <a:ln/>
        </p:spPr>
        <p:txBody>
          <a:bodyPr wrap="square" lIns="25400" tIns="25400" rIns="25400" bIns="25400" rtlCol="0" anchor="t">
            <a:normAutofit/>
          </a:bodyPr>
          <a:lstStyle/>
          <a:p>
            <a:pPr algn="l" indent="0" marL="0">
              <a:buNone/>
            </a:pPr>
            <a:r>
              <a:rPr lang="en-US" sz="2100" dirty="0">
                <a:solidFill>
                  <a:srgbClr val="5D3527"/>
                </a:solidFill>
                <a:latin typeface="Arial" pitchFamily="34" charset="0"/>
                <a:ea typeface="Arial" pitchFamily="34" charset="-122"/>
                <a:cs typeface="Arial" pitchFamily="34" charset="-120"/>
              </a:rPr>
              <a:t>Online scoring</a:t>
            </a:r>
            <a:endParaRPr lang="en-US" sz="2100" dirty="0"/>
          </a:p>
        </p:txBody>
      </p:sp>
      <p:sp>
        <p:nvSpPr>
          <p:cNvPr id="12" name="Text 10"/>
          <p:cNvSpPr/>
          <p:nvPr/>
        </p:nvSpPr>
        <p:spPr>
          <a:xfrm>
            <a:off x="5238750" y="3948559"/>
            <a:ext cx="3561302"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7D4C3D"/>
                </a:solidFill>
                <a:latin typeface="Arial" pitchFamily="34" charset="0"/>
                <a:ea typeface="Arial" pitchFamily="34" charset="-122"/>
                <a:cs typeface="Arial" pitchFamily="34" charset="-120"/>
              </a:rPr>
              <a:t>Predict expected spend at order time to drive personalized upsells.</a:t>
            </a:r>
            <a:endParaRPr lang="en-US" sz="1800" dirty="0"/>
          </a:p>
        </p:txBody>
      </p:sp>
      <p:sp>
        <p:nvSpPr>
          <p:cNvPr id="13" name="Shape 11"/>
          <p:cNvSpPr/>
          <p:nvPr/>
        </p:nvSpPr>
        <p:spPr>
          <a:xfrm>
            <a:off x="9277350" y="2786509"/>
            <a:ext cx="4086225" cy="2699296"/>
          </a:xfrm>
          <a:prstGeom prst="roundRect">
            <a:avLst>
              <a:gd name="adj" fmla="val 4940"/>
            </a:avLst>
          </a:prstGeom>
          <a:solidFill>
            <a:srgbClr val="E8DCCB"/>
          </a:solidFill>
          <a:ln w="9525">
            <a:solidFill>
              <a:srgbClr val="7D4C3D">
                <a:alpha val="18000"/>
              </a:srgbClr>
            </a:solidFill>
            <a:prstDash val="solid"/>
          </a:ln>
        </p:spPr>
      </p:sp>
      <p:sp>
        <p:nvSpPr>
          <p:cNvPr id="14" name="Text 12"/>
          <p:cNvSpPr/>
          <p:nvPr/>
        </p:nvSpPr>
        <p:spPr>
          <a:xfrm>
            <a:off x="9591675" y="3100834"/>
            <a:ext cx="3561302" cy="390525"/>
          </a:xfrm>
          <a:prstGeom prst="rect">
            <a:avLst/>
          </a:prstGeom>
          <a:noFill/>
          <a:ln/>
        </p:spPr>
        <p:txBody>
          <a:bodyPr wrap="square" lIns="25400" tIns="25400" rIns="25400" bIns="25400" rtlCol="0" anchor="t">
            <a:normAutofit/>
          </a:bodyPr>
          <a:lstStyle/>
          <a:p>
            <a:pPr algn="l" indent="0" marL="0">
              <a:buNone/>
            </a:pPr>
            <a:r>
              <a:rPr lang="en-US" sz="2400" dirty="0">
                <a:solidFill>
                  <a:srgbClr val="5D3527"/>
                </a:solidFill>
                <a:latin typeface="Arial" pitchFamily="34" charset="0"/>
                <a:ea typeface="Arial" pitchFamily="34" charset="-122"/>
                <a:cs typeface="Arial" pitchFamily="34" charset="-120"/>
              </a:rPr>
              <a:t>03</a:t>
            </a:r>
            <a:endParaRPr lang="en-US" sz="2400" dirty="0"/>
          </a:p>
        </p:txBody>
      </p:sp>
      <p:sp>
        <p:nvSpPr>
          <p:cNvPr id="15" name="Text 13"/>
          <p:cNvSpPr/>
          <p:nvPr/>
        </p:nvSpPr>
        <p:spPr>
          <a:xfrm>
            <a:off x="9591675" y="3510409"/>
            <a:ext cx="3561302" cy="342900"/>
          </a:xfrm>
          <a:prstGeom prst="rect">
            <a:avLst/>
          </a:prstGeom>
          <a:noFill/>
          <a:ln/>
        </p:spPr>
        <p:txBody>
          <a:bodyPr wrap="square" lIns="25400" tIns="25400" rIns="25400" bIns="25400" rtlCol="0" anchor="t">
            <a:normAutofit/>
          </a:bodyPr>
          <a:lstStyle/>
          <a:p>
            <a:pPr algn="l" indent="0" marL="0">
              <a:buNone/>
            </a:pPr>
            <a:r>
              <a:rPr lang="en-US" sz="2100" dirty="0">
                <a:solidFill>
                  <a:srgbClr val="5D3527"/>
                </a:solidFill>
                <a:latin typeface="Arial" pitchFamily="34" charset="0"/>
                <a:ea typeface="Arial" pitchFamily="34" charset="-122"/>
                <a:cs typeface="Arial" pitchFamily="34" charset="-120"/>
              </a:rPr>
              <a:t>Drift monitoring</a:t>
            </a:r>
            <a:endParaRPr lang="en-US" sz="2100" dirty="0"/>
          </a:p>
        </p:txBody>
      </p:sp>
      <p:sp>
        <p:nvSpPr>
          <p:cNvPr id="16" name="Text 14"/>
          <p:cNvSpPr/>
          <p:nvPr/>
        </p:nvSpPr>
        <p:spPr>
          <a:xfrm>
            <a:off x="9591675" y="3948559"/>
            <a:ext cx="3561302" cy="103242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7D4C3D"/>
                </a:solidFill>
                <a:latin typeface="Arial" pitchFamily="34" charset="0"/>
                <a:ea typeface="Arial" pitchFamily="34" charset="-122"/>
                <a:cs typeface="Arial" pitchFamily="34" charset="-120"/>
              </a:rPr>
              <a:t>Track Mobile share, Rewards effect, and high-spender probability over time.</a:t>
            </a:r>
            <a:endParaRPr lang="en-US" sz="1800" dirty="0"/>
          </a:p>
        </p:txBody>
      </p:sp>
      <p:sp>
        <p:nvSpPr>
          <p:cNvPr id="17" name="Shape 15"/>
          <p:cNvSpPr/>
          <p:nvPr/>
        </p:nvSpPr>
        <p:spPr>
          <a:xfrm>
            <a:off x="13630275" y="2786509"/>
            <a:ext cx="4086225" cy="2699296"/>
          </a:xfrm>
          <a:prstGeom prst="roundRect">
            <a:avLst>
              <a:gd name="adj" fmla="val 4940"/>
            </a:avLst>
          </a:prstGeom>
          <a:solidFill>
            <a:srgbClr val="E8DCCB"/>
          </a:solidFill>
          <a:ln w="9525">
            <a:solidFill>
              <a:srgbClr val="7D4C3D">
                <a:alpha val="18000"/>
              </a:srgbClr>
            </a:solidFill>
            <a:prstDash val="solid"/>
          </a:ln>
        </p:spPr>
      </p:sp>
      <p:sp>
        <p:nvSpPr>
          <p:cNvPr id="18" name="Text 16"/>
          <p:cNvSpPr/>
          <p:nvPr/>
        </p:nvSpPr>
        <p:spPr>
          <a:xfrm>
            <a:off x="13944600" y="3100834"/>
            <a:ext cx="3561302" cy="390525"/>
          </a:xfrm>
          <a:prstGeom prst="rect">
            <a:avLst/>
          </a:prstGeom>
          <a:noFill/>
          <a:ln/>
        </p:spPr>
        <p:txBody>
          <a:bodyPr wrap="square" lIns="25400" tIns="25400" rIns="25400" bIns="25400" rtlCol="0" anchor="t">
            <a:normAutofit/>
          </a:bodyPr>
          <a:lstStyle/>
          <a:p>
            <a:pPr algn="l" indent="0" marL="0">
              <a:buNone/>
            </a:pPr>
            <a:r>
              <a:rPr lang="en-US" sz="2400" dirty="0">
                <a:solidFill>
                  <a:srgbClr val="5D3527"/>
                </a:solidFill>
                <a:latin typeface="Arial" pitchFamily="34" charset="0"/>
                <a:ea typeface="Arial" pitchFamily="34" charset="-122"/>
                <a:cs typeface="Arial" pitchFamily="34" charset="-120"/>
              </a:rPr>
              <a:t>04</a:t>
            </a:r>
            <a:endParaRPr lang="en-US" sz="2400" dirty="0"/>
          </a:p>
        </p:txBody>
      </p:sp>
      <p:sp>
        <p:nvSpPr>
          <p:cNvPr id="19" name="Text 17"/>
          <p:cNvSpPr/>
          <p:nvPr/>
        </p:nvSpPr>
        <p:spPr>
          <a:xfrm>
            <a:off x="13944600" y="3510409"/>
            <a:ext cx="3561302" cy="342900"/>
          </a:xfrm>
          <a:prstGeom prst="rect">
            <a:avLst/>
          </a:prstGeom>
          <a:noFill/>
          <a:ln/>
        </p:spPr>
        <p:txBody>
          <a:bodyPr wrap="square" lIns="25400" tIns="25400" rIns="25400" bIns="25400" rtlCol="0" anchor="t">
            <a:normAutofit/>
          </a:bodyPr>
          <a:lstStyle/>
          <a:p>
            <a:pPr algn="l" indent="0" marL="0">
              <a:buNone/>
            </a:pPr>
            <a:r>
              <a:rPr lang="en-US" sz="2100" dirty="0">
                <a:solidFill>
                  <a:srgbClr val="5D3527"/>
                </a:solidFill>
                <a:latin typeface="Arial" pitchFamily="34" charset="0"/>
                <a:ea typeface="Arial" pitchFamily="34" charset="-122"/>
                <a:cs typeface="Arial" pitchFamily="34" charset="-120"/>
              </a:rPr>
              <a:t>Scale</a:t>
            </a:r>
            <a:endParaRPr lang="en-US" sz="2100" dirty="0"/>
          </a:p>
        </p:txBody>
      </p:sp>
      <p:sp>
        <p:nvSpPr>
          <p:cNvPr id="20" name="Text 18"/>
          <p:cNvSpPr/>
          <p:nvPr/>
        </p:nvSpPr>
        <p:spPr>
          <a:xfrm>
            <a:off x="13944600" y="3948559"/>
            <a:ext cx="3561302"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7D4C3D"/>
                </a:solidFill>
                <a:latin typeface="Arial" pitchFamily="34" charset="0"/>
                <a:ea typeface="Arial" pitchFamily="34" charset="-122"/>
                <a:cs typeface="Arial" pitchFamily="34" charset="-120"/>
              </a:rPr>
              <a:t>Re-fit by store or region; same recipe, finer granularity.</a:t>
            </a:r>
            <a:endParaRPr lang="en-US" sz="1800" dirty="0"/>
          </a:p>
        </p:txBody>
      </p:sp>
      <p:sp>
        <p:nvSpPr>
          <p:cNvPr id="21" name="Shape 19"/>
          <p:cNvSpPr/>
          <p:nvPr/>
        </p:nvSpPr>
        <p:spPr>
          <a:xfrm>
            <a:off x="571500" y="6057305"/>
            <a:ext cx="17145000" cy="920055"/>
          </a:xfrm>
          <a:prstGeom prst="roundRect">
            <a:avLst>
              <a:gd name="adj" fmla="val 14494"/>
            </a:avLst>
          </a:prstGeom>
          <a:solidFill>
            <a:srgbClr val="E8DCCB"/>
          </a:solidFill>
          <a:ln/>
        </p:spPr>
      </p:sp>
      <p:sp>
        <p:nvSpPr>
          <p:cNvPr id="22" name="Text 20"/>
          <p:cNvSpPr/>
          <p:nvPr/>
        </p:nvSpPr>
        <p:spPr>
          <a:xfrm>
            <a:off x="914400" y="6324005"/>
            <a:ext cx="16973550"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i="1" dirty="0">
                <a:solidFill>
                  <a:srgbClr val="5D3527"/>
                </a:solidFill>
                <a:latin typeface="Arial" pitchFamily="34" charset="0"/>
                <a:ea typeface="Arial" pitchFamily="34" charset="-122"/>
                <a:cs typeface="Arial" pitchFamily="34" charset="-120"/>
              </a:rPr>
              <a:t>The same three coefficients that explained 95% of variance in our notebook can power live recommendations in the Starbucks app.</a:t>
            </a:r>
            <a:endParaRPr lang="en-US" sz="2100" dirty="0"/>
          </a:p>
        </p:txBody>
      </p:sp>
      <p:sp>
        <p:nvSpPr>
          <p:cNvPr id="23" name="Text 21"/>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24" name="Text 22"/>
          <p:cNvSpPr/>
          <p:nvPr/>
        </p:nvSpPr>
        <p:spPr>
          <a:xfrm>
            <a:off x="571500" y="9591675"/>
            <a:ext cx="1047601"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13 / 16</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BCBBB"/>
        </a:solidFill>
      </p:bgPr>
    </p:bg>
    <p:spTree>
      <p:nvGrpSpPr>
        <p:cNvPr id="1" name=""/>
        <p:cNvGrpSpPr/>
        <p:nvPr/>
      </p:nvGrpSpPr>
      <p:grpSpPr>
        <a:xfrm>
          <a:off x="0" y="0"/>
          <a:ext cx="0" cy="0"/>
          <a:chOff x="0" y="0"/>
          <a:chExt cx="0" cy="0"/>
        </a:xfrm>
      </p:grpSpPr>
      <p:sp>
        <p:nvSpPr>
          <p:cNvPr id="2" name="Text 0"/>
          <p:cNvSpPr/>
          <p:nvPr/>
        </p:nvSpPr>
        <p:spPr>
          <a:xfrm>
            <a:off x="1143000" y="1143000"/>
            <a:ext cx="6313984"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5D3527">
                    <a:alpha val="70000"/>
                  </a:srgbClr>
                </a:solidFill>
                <a:latin typeface="Arial" pitchFamily="34" charset="0"/>
                <a:ea typeface="Arial" pitchFamily="34" charset="-122"/>
                <a:cs typeface="Arial" pitchFamily="34" charset="-120"/>
              </a:rPr>
              <a:t>CHAPTER THIRTEEN · LIMITATIONS</a:t>
            </a:r>
            <a:endParaRPr lang="en-US" sz="1800" dirty="0"/>
          </a:p>
        </p:txBody>
      </p:sp>
      <p:sp>
        <p:nvSpPr>
          <p:cNvPr id="3" name="Text 1"/>
          <p:cNvSpPr/>
          <p:nvPr/>
        </p:nvSpPr>
        <p:spPr>
          <a:xfrm>
            <a:off x="571500" y="1524000"/>
            <a:ext cx="14716125" cy="671959"/>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Honest about what we can't claim.</a:t>
            </a:r>
            <a:endParaRPr lang="en-US" sz="4800" dirty="0"/>
          </a:p>
        </p:txBody>
      </p:sp>
      <p:sp>
        <p:nvSpPr>
          <p:cNvPr id="4" name="Shape 2"/>
          <p:cNvSpPr/>
          <p:nvPr/>
        </p:nvSpPr>
        <p:spPr>
          <a:xfrm>
            <a:off x="571500" y="2310259"/>
            <a:ext cx="762000" cy="19050"/>
          </a:xfrm>
          <a:prstGeom prst="rect">
            <a:avLst/>
          </a:prstGeom>
          <a:solidFill>
            <a:srgbClr val="7D4C3D"/>
          </a:solidFill>
          <a:ln/>
        </p:spPr>
      </p:sp>
      <p:sp>
        <p:nvSpPr>
          <p:cNvPr id="5" name="Text 3"/>
          <p:cNvSpPr/>
          <p:nvPr/>
        </p:nvSpPr>
        <p:spPr>
          <a:xfrm>
            <a:off x="914400" y="2615059"/>
            <a:ext cx="8094345"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5D3527"/>
                </a:solidFill>
                <a:latin typeface="Arial" pitchFamily="34" charset="0"/>
                <a:ea typeface="Arial" pitchFamily="34" charset="-122"/>
                <a:cs typeface="Arial" pitchFamily="34" charset="-120"/>
              </a:rPr>
              <a:t>Sample representativeness.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Kaggle data may not cover every real Starbucks store or geography.</a:t>
            </a:r>
            <a:endParaRPr lang="en-US" sz="1950" dirty="0"/>
          </a:p>
        </p:txBody>
      </p:sp>
      <p:sp>
        <p:nvSpPr>
          <p:cNvPr id="6" name="Text 4"/>
          <p:cNvSpPr/>
          <p:nvPr/>
        </p:nvSpPr>
        <p:spPr>
          <a:xfrm>
            <a:off x="914400" y="3592264"/>
            <a:ext cx="8094345"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5D3527"/>
                </a:solidFill>
                <a:latin typeface="Arial" pitchFamily="34" charset="0"/>
                <a:ea typeface="Arial" pitchFamily="34" charset="-122"/>
                <a:cs typeface="Arial" pitchFamily="34" charset="-120"/>
              </a:rPr>
              <a:t>Independence.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Repeat customers weaken strict independence assumptions in t-tests.</a:t>
            </a:r>
            <a:endParaRPr lang="en-US" sz="1950" dirty="0"/>
          </a:p>
        </p:txBody>
      </p:sp>
      <p:sp>
        <p:nvSpPr>
          <p:cNvPr id="7" name="Text 5"/>
          <p:cNvSpPr/>
          <p:nvPr/>
        </p:nvSpPr>
        <p:spPr>
          <a:xfrm>
            <a:off x="914400" y="4569470"/>
            <a:ext cx="8094345"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5D3527"/>
                </a:solidFill>
                <a:latin typeface="Arial" pitchFamily="34" charset="0"/>
                <a:ea typeface="Arial" pitchFamily="34" charset="-122"/>
                <a:cs typeface="Arial" pitchFamily="34" charset="-120"/>
              </a:rPr>
              <a:t>Normality testing.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Shapiro–Wilk uses a 5,000-row subsample because of its sample-size cap.</a:t>
            </a:r>
            <a:endParaRPr lang="en-US" sz="1950" dirty="0"/>
          </a:p>
        </p:txBody>
      </p:sp>
      <p:sp>
        <p:nvSpPr>
          <p:cNvPr id="8" name="Text 6"/>
          <p:cNvSpPr/>
          <p:nvPr/>
        </p:nvSpPr>
        <p:spPr>
          <a:xfrm>
            <a:off x="9867900" y="2615059"/>
            <a:ext cx="8094345"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5D3527"/>
                </a:solidFill>
                <a:latin typeface="Arial" pitchFamily="34" charset="0"/>
                <a:ea typeface="Arial" pitchFamily="34" charset="-122"/>
                <a:cs typeface="Arial" pitchFamily="34" charset="-120"/>
              </a:rPr>
              <a:t>Tail estimation.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The Normal approximation underestimates the right tail of spend.</a:t>
            </a:r>
            <a:endParaRPr lang="en-US" sz="1950" dirty="0"/>
          </a:p>
        </p:txBody>
      </p:sp>
      <p:sp>
        <p:nvSpPr>
          <p:cNvPr id="9" name="Text 7"/>
          <p:cNvSpPr/>
          <p:nvPr/>
        </p:nvSpPr>
        <p:spPr>
          <a:xfrm>
            <a:off x="9867900" y="3592264"/>
            <a:ext cx="8094345"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5D3527"/>
                </a:solidFill>
                <a:latin typeface="Arial" pitchFamily="34" charset="0"/>
                <a:ea typeface="Arial" pitchFamily="34" charset="-122"/>
                <a:cs typeface="Arial" pitchFamily="34" charset="-120"/>
              </a:rPr>
              <a:t>Paired test.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Compares first vs latest order, ignoring unequal time gaps between them.</a:t>
            </a:r>
            <a:endParaRPr lang="en-US" sz="1950" dirty="0"/>
          </a:p>
        </p:txBody>
      </p:sp>
      <p:sp>
        <p:nvSpPr>
          <p:cNvPr id="10" name="Text 8"/>
          <p:cNvSpPr/>
          <p:nvPr/>
        </p:nvSpPr>
        <p:spPr>
          <a:xfrm>
            <a:off x="9867900" y="4569470"/>
            <a:ext cx="8094345" cy="805755"/>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5D3527"/>
                </a:solidFill>
                <a:latin typeface="Arial" pitchFamily="34" charset="0"/>
                <a:ea typeface="Arial" pitchFamily="34" charset="-122"/>
                <a:cs typeface="Arial" pitchFamily="34" charset="-120"/>
              </a:rPr>
              <a:t>Model simplicity. </a:t>
            </a:r>
            <a:pPr algn="l" indent="0" marL="0">
              <a:lnSpc>
                <a:spcPct val="155000"/>
              </a:lnSpc>
              <a:buNone/>
            </a:pPr>
            <a:r>
              <a:rPr lang="en-US" sz="1950" dirty="0">
                <a:solidFill>
                  <a:srgbClr val="3A2A22"/>
                </a:solidFill>
                <a:latin typeface="Arial" pitchFamily="34" charset="0"/>
                <a:ea typeface="Arial" pitchFamily="34" charset="-122"/>
                <a:cs typeface="Arial" pitchFamily="34" charset="-120"/>
              </a:rPr>
              <a:t>Three predictors only — intentionally course-aligned, not state of the art.</a:t>
            </a:r>
            <a:endParaRPr lang="en-US" sz="1950" dirty="0"/>
          </a:p>
        </p:txBody>
      </p:sp>
      <p:sp>
        <p:nvSpPr>
          <p:cNvPr id="11" name="Text 9"/>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5D3527">
                    <a:alpha val="85000"/>
                  </a:srgbClr>
                </a:solidFill>
                <a:latin typeface="Arial" pitchFamily="34" charset="0"/>
                <a:ea typeface="Arial" pitchFamily="34" charset="-122"/>
                <a:cs typeface="Arial" pitchFamily="34" charset="-120"/>
              </a:rPr>
              <a:t>Starbucks</a:t>
            </a:r>
            <a:endParaRPr lang="en-US" sz="1950" dirty="0"/>
          </a:p>
        </p:txBody>
      </p:sp>
      <p:sp>
        <p:nvSpPr>
          <p:cNvPr id="12" name="Text 10"/>
          <p:cNvSpPr/>
          <p:nvPr/>
        </p:nvSpPr>
        <p:spPr>
          <a:xfrm>
            <a:off x="571500" y="9591675"/>
            <a:ext cx="1054298"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14 / 16</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ED"/>
        </a:solidFill>
      </p:bgPr>
    </p:bg>
    <p:spTree>
      <p:nvGrpSpPr>
        <p:cNvPr id="1" name=""/>
        <p:cNvGrpSpPr/>
        <p:nvPr/>
      </p:nvGrpSpPr>
      <p:grpSpPr>
        <a:xfrm>
          <a:off x="0" y="0"/>
          <a:ext cx="0" cy="0"/>
          <a:chOff x="0" y="0"/>
          <a:chExt cx="0" cy="0"/>
        </a:xfrm>
      </p:grpSpPr>
      <p:sp>
        <p:nvSpPr>
          <p:cNvPr id="2" name="Text 0"/>
          <p:cNvSpPr/>
          <p:nvPr/>
        </p:nvSpPr>
        <p:spPr>
          <a:xfrm>
            <a:off x="1143000" y="1143000"/>
            <a:ext cx="6463751" cy="31432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7D4C3D">
                    <a:alpha val="70000"/>
                  </a:srgbClr>
                </a:solidFill>
                <a:latin typeface="Arial" pitchFamily="34" charset="0"/>
                <a:ea typeface="Arial" pitchFamily="34" charset="-122"/>
                <a:cs typeface="Arial" pitchFamily="34" charset="-120"/>
              </a:rPr>
              <a:t>CHAPTER FOURTEEN · CONCLUSION</a:t>
            </a:r>
            <a:endParaRPr lang="en-US" sz="1800" dirty="0"/>
          </a:p>
        </p:txBody>
      </p:sp>
      <p:sp>
        <p:nvSpPr>
          <p:cNvPr id="3" name="Text 1"/>
          <p:cNvSpPr/>
          <p:nvPr/>
        </p:nvSpPr>
        <p:spPr>
          <a:xfrm>
            <a:off x="571500" y="1524000"/>
            <a:ext cx="14716125"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24" kern="0" dirty="0">
                <a:solidFill>
                  <a:srgbClr val="5D3527"/>
                </a:solidFill>
                <a:latin typeface="Arial" pitchFamily="34" charset="0"/>
                <a:ea typeface="Arial" pitchFamily="34" charset="-122"/>
                <a:cs typeface="Arial" pitchFamily="34" charset="-120"/>
              </a:rPr>
              <a:t>Mobile App and cart size drive spend.</a:t>
            </a:r>
            <a:endParaRPr lang="en-US" sz="4800" dirty="0"/>
          </a:p>
        </p:txBody>
      </p:sp>
      <p:sp>
        <p:nvSpPr>
          <p:cNvPr id="4" name="Shape 2"/>
          <p:cNvSpPr/>
          <p:nvPr/>
        </p:nvSpPr>
        <p:spPr>
          <a:xfrm>
            <a:off x="571500" y="2944118"/>
            <a:ext cx="762000" cy="19050"/>
          </a:xfrm>
          <a:prstGeom prst="rect">
            <a:avLst/>
          </a:prstGeom>
          <a:solidFill>
            <a:srgbClr val="7D4C3D"/>
          </a:solidFill>
          <a:ln/>
        </p:spPr>
      </p:sp>
      <p:sp>
        <p:nvSpPr>
          <p:cNvPr id="5" name="Text 3"/>
          <p:cNvSpPr/>
          <p:nvPr/>
        </p:nvSpPr>
        <p:spPr>
          <a:xfrm>
            <a:off x="571500" y="3229868"/>
            <a:ext cx="12753975" cy="390525"/>
          </a:xfrm>
          <a:prstGeom prst="rect">
            <a:avLst/>
          </a:prstGeom>
          <a:noFill/>
          <a:ln/>
        </p:spPr>
        <p:txBody>
          <a:bodyPr wrap="square" lIns="25400" tIns="25400" rIns="25400" bIns="25400" rtlCol="0" anchor="t">
            <a:normAutofit/>
          </a:bodyPr>
          <a:lstStyle/>
          <a:p>
            <a:pPr algn="l" indent="0" marL="0">
              <a:buNone/>
            </a:pPr>
            <a:r>
              <a:rPr lang="en-US" sz="2250" i="1" dirty="0">
                <a:solidFill>
                  <a:srgbClr val="7D4C3D"/>
                </a:solidFill>
                <a:latin typeface="Arial" pitchFamily="34" charset="0"/>
                <a:ea typeface="Arial" pitchFamily="34" charset="-122"/>
                <a:cs typeface="Arial" pitchFamily="34" charset="-120"/>
              </a:rPr>
              <a:t>Four findings that hold across every method we ran.</a:t>
            </a:r>
            <a:endParaRPr lang="en-US" sz="2250" dirty="0"/>
          </a:p>
        </p:txBody>
      </p:sp>
      <p:sp>
        <p:nvSpPr>
          <p:cNvPr id="6" name="Text 4"/>
          <p:cNvSpPr/>
          <p:nvPr/>
        </p:nvSpPr>
        <p:spPr>
          <a:xfrm>
            <a:off x="1276350" y="4115693"/>
            <a:ext cx="77112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Mobile App and cart size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are the dominant drivers of spend per order.</a:t>
            </a:r>
            <a:endParaRPr lang="en-US" sz="1800" dirty="0"/>
          </a:p>
        </p:txBody>
      </p:sp>
      <p:sp>
        <p:nvSpPr>
          <p:cNvPr id="7" name="Text 5"/>
          <p:cNvSpPr/>
          <p:nvPr/>
        </p:nvSpPr>
        <p:spPr>
          <a:xfrm>
            <a:off x="10229850" y="4115693"/>
            <a:ext cx="77112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Rewards membership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is a smaller but statistically significant lift.</a:t>
            </a:r>
            <a:endParaRPr lang="en-US" sz="1800" dirty="0"/>
          </a:p>
        </p:txBody>
      </p:sp>
      <p:sp>
        <p:nvSpPr>
          <p:cNvPr id="8" name="Text 6"/>
          <p:cNvSpPr/>
          <p:nvPr/>
        </p:nvSpPr>
        <p:spPr>
          <a:xfrm>
            <a:off x="1276350" y="5011043"/>
            <a:ext cx="77112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Empirical tail probabilities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are more honest than the normal approximation for high spenders.</a:t>
            </a:r>
            <a:endParaRPr lang="en-US" sz="1800" dirty="0"/>
          </a:p>
        </p:txBody>
      </p:sp>
      <p:sp>
        <p:nvSpPr>
          <p:cNvPr id="9" name="Text 7"/>
          <p:cNvSpPr/>
          <p:nvPr/>
        </p:nvSpPr>
        <p:spPr>
          <a:xfrm>
            <a:off x="10229850" y="5011043"/>
            <a:ext cx="771125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5D3527"/>
                </a:solidFill>
                <a:latin typeface="Arial" pitchFamily="34" charset="0"/>
                <a:ea typeface="Arial" pitchFamily="34" charset="-122"/>
                <a:cs typeface="Arial" pitchFamily="34" charset="-120"/>
              </a:rPr>
              <a:t>Methods align with DATA 202 </a:t>
            </a:r>
            <a:pPr algn="l" indent="0" marL="0">
              <a:lnSpc>
                <a:spcPct val="150000"/>
              </a:lnSpc>
              <a:buNone/>
            </a:pPr>
            <a:r>
              <a:rPr lang="en-US" sz="1800" dirty="0">
                <a:solidFill>
                  <a:srgbClr val="3A2A22"/>
                </a:solidFill>
                <a:latin typeface="Arial" pitchFamily="34" charset="0"/>
                <a:ea typeface="Arial" pitchFamily="34" charset="-122"/>
                <a:cs typeface="Arial" pitchFamily="34" charset="-120"/>
              </a:rPr>
              <a:t>— descriptives, correlation, hypothesis tests, Bayes, RVs, linear algebra, gradient descent.</a:t>
            </a:r>
            <a:endParaRPr lang="en-US" sz="1800" dirty="0"/>
          </a:p>
        </p:txBody>
      </p:sp>
      <p:sp>
        <p:nvSpPr>
          <p:cNvPr id="10" name="Shape 8"/>
          <p:cNvSpPr/>
          <p:nvPr/>
        </p:nvSpPr>
        <p:spPr>
          <a:xfrm>
            <a:off x="1143000" y="7448550"/>
            <a:ext cx="16002000" cy="933450"/>
          </a:xfrm>
          <a:prstGeom prst="roundRect">
            <a:avLst>
              <a:gd name="adj" fmla="val 14286"/>
            </a:avLst>
          </a:prstGeom>
          <a:solidFill>
            <a:srgbClr val="5D3527"/>
          </a:solidFill>
          <a:ln/>
        </p:spPr>
      </p:sp>
      <p:sp>
        <p:nvSpPr>
          <p:cNvPr id="11" name="Text 9"/>
          <p:cNvSpPr/>
          <p:nvPr/>
        </p:nvSpPr>
        <p:spPr>
          <a:xfrm>
            <a:off x="1485900" y="7715250"/>
            <a:ext cx="1579626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i="1" dirty="0">
                <a:solidFill>
                  <a:srgbClr val="FAF8ED"/>
                </a:solidFill>
                <a:latin typeface="Arial" pitchFamily="34" charset="0"/>
                <a:ea typeface="Arial" pitchFamily="34" charset="-122"/>
                <a:cs typeface="Arial" pitchFamily="34" charset="-120"/>
              </a:rPr>
              <a:t>Same conclusion from five different lenses — that's what makes the result trustworthy.</a:t>
            </a:r>
            <a:endParaRPr lang="en-US" sz="2250" dirty="0"/>
          </a:p>
        </p:txBody>
      </p:sp>
      <p:sp>
        <p:nvSpPr>
          <p:cNvPr id="12" name="Text 10"/>
          <p:cNvSpPr/>
          <p:nvPr/>
        </p:nvSpPr>
        <p:spPr>
          <a:xfrm>
            <a:off x="16570672" y="9572625"/>
            <a:ext cx="1222028" cy="333375"/>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7D4C3D">
                    <a:alpha val="85000"/>
                  </a:srgbClr>
                </a:solidFill>
                <a:latin typeface="Arial" pitchFamily="34" charset="0"/>
                <a:ea typeface="Arial" pitchFamily="34" charset="-122"/>
                <a:cs typeface="Arial" pitchFamily="34" charset="-120"/>
              </a:rPr>
              <a:t>Starbucks</a:t>
            </a:r>
            <a:endParaRPr lang="en-US" sz="1950" dirty="0"/>
          </a:p>
        </p:txBody>
      </p:sp>
      <p:sp>
        <p:nvSpPr>
          <p:cNvPr id="13" name="Text 11"/>
          <p:cNvSpPr/>
          <p:nvPr/>
        </p:nvSpPr>
        <p:spPr>
          <a:xfrm>
            <a:off x="571500" y="9591675"/>
            <a:ext cx="1042095" cy="31432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7D4C3D">
                    <a:alpha val="55000"/>
                  </a:srgbClr>
                </a:solidFill>
                <a:latin typeface="Arial" pitchFamily="34" charset="0"/>
                <a:ea typeface="Arial" pitchFamily="34" charset="-122"/>
                <a:cs typeface="Arial" pitchFamily="34" charset="-120"/>
              </a:rPr>
              <a:t>15 / 16</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E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DBCBBB">
              <a:alpha val="55000"/>
            </a:srgbClr>
          </a:solidFill>
          <a:ln/>
        </p:spPr>
      </p:sp>
      <p:sp>
        <p:nvSpPr>
          <p:cNvPr id="3" name="Text 1"/>
          <p:cNvSpPr/>
          <p:nvPr/>
        </p:nvSpPr>
        <p:spPr>
          <a:xfrm>
            <a:off x="497426" y="571500"/>
            <a:ext cx="5086414" cy="304800"/>
          </a:xfrm>
          <a:prstGeom prst="rect">
            <a:avLst/>
          </a:prstGeom>
          <a:noFill/>
          <a:ln/>
        </p:spPr>
        <p:txBody>
          <a:bodyPr wrap="square" lIns="25400" tIns="25400" rIns="25400" bIns="25400" rtlCol="0" anchor="t">
            <a:normAutofit/>
          </a:bodyPr>
          <a:lstStyle/>
          <a:p>
            <a:pPr algn="ctr" indent="0" marL="0">
              <a:buNone/>
            </a:pPr>
            <a:r>
              <a:rPr lang="en-US" sz="1800" spc="576" kern="0" dirty="0">
                <a:solidFill>
                  <a:srgbClr val="7D4C3D">
                    <a:alpha val="70000"/>
                  </a:srgbClr>
                </a:solidFill>
                <a:latin typeface="Arial" pitchFamily="34" charset="0"/>
                <a:ea typeface="Arial" pitchFamily="34" charset="-122"/>
                <a:cs typeface="Arial" pitchFamily="34" charset="-120"/>
              </a:rPr>
              <a:t>— END OF PRESENTATION —</a:t>
            </a:r>
            <a:endParaRPr lang="en-US" sz="1800" dirty="0"/>
          </a:p>
        </p:txBody>
      </p:sp>
      <p:pic>
        <p:nvPicPr>
          <p:cNvPr id="4" name="Image 0" descr="preencoded.png">    </p:cNvPr>
          <p:cNvPicPr>
            <a:picLocks noChangeAspect="1"/>
          </p:cNvPicPr>
          <p:nvPr/>
        </p:nvPicPr>
        <p:blipFill>
          <a:blip r:embed="rId1"/>
          <a:stretch>
            <a:fillRect/>
          </a:stretch>
        </p:blipFill>
        <p:spPr>
          <a:xfrm>
            <a:off x="3966865" y="3429000"/>
            <a:ext cx="4631234" cy="3429000"/>
          </a:xfrm>
          <a:prstGeom prst="rect">
            <a:avLst/>
          </a:prstGeom>
        </p:spPr>
      </p:pic>
      <p:sp>
        <p:nvSpPr>
          <p:cNvPr id="5" name="Text 2"/>
          <p:cNvSpPr/>
          <p:nvPr/>
        </p:nvSpPr>
        <p:spPr>
          <a:xfrm>
            <a:off x="9169598" y="3200400"/>
            <a:ext cx="5306083" cy="3286125"/>
          </a:xfrm>
          <a:prstGeom prst="rect">
            <a:avLst/>
          </a:prstGeom>
          <a:noFill/>
          <a:ln/>
        </p:spPr>
        <p:txBody>
          <a:bodyPr wrap="square" lIns="25400" tIns="25400" rIns="25400" bIns="25400" rtlCol="0" anchor="t">
            <a:normAutofit/>
          </a:bodyPr>
          <a:lstStyle/>
          <a:p>
            <a:pPr algn="l" indent="0" marL="0">
              <a:lnSpc>
                <a:spcPct val="100000"/>
              </a:lnSpc>
              <a:buNone/>
            </a:pPr>
            <a:r>
              <a:rPr lang="en-US" sz="12600" spc="-126" kern="0" dirty="0">
                <a:solidFill>
                  <a:srgbClr val="5D3527"/>
                </a:solidFill>
                <a:latin typeface="Arial" pitchFamily="34" charset="0"/>
                <a:ea typeface="Arial" pitchFamily="34" charset="-122"/>
                <a:cs typeface="Arial" pitchFamily="34" charset="-120"/>
              </a:rPr>
              <a:t>Thanks </a:t>
            </a:r>
            <a:pPr algn="l" indent="0" marL="0">
              <a:lnSpc>
                <a:spcPct val="100000"/>
              </a:lnSpc>
              <a:buNone/>
            </a:pPr>
            <a:r>
              <a:rPr lang="en-US" sz="12600" i="1" spc="-126" kern="0" dirty="0">
                <a:solidFill>
                  <a:srgbClr val="7D4C3D"/>
                </a:solidFill>
                <a:latin typeface="Arial" pitchFamily="34" charset="0"/>
                <a:ea typeface="Arial" pitchFamily="34" charset="-122"/>
                <a:cs typeface="Arial" pitchFamily="34" charset="-120"/>
              </a:rPr>
              <a:t>a</a:t>
            </a:r>
            <a:pPr algn="l" indent="0" marL="0">
              <a:lnSpc>
                <a:spcPct val="100000"/>
              </a:lnSpc>
              <a:buNone/>
            </a:pPr>
            <a:r>
              <a:rPr lang="en-US" sz="12600" spc="-126" kern="0" dirty="0">
                <a:solidFill>
                  <a:srgbClr val="5D3527"/>
                </a:solidFill>
                <a:latin typeface="Arial" pitchFamily="34" charset="0"/>
                <a:ea typeface="Arial" pitchFamily="34" charset="-122"/>
                <a:cs typeface="Arial" pitchFamily="34" charset="-120"/>
              </a:rPr>
              <a:t>latte.</a:t>
            </a:r>
            <a:endParaRPr lang="en-US" sz="12600" dirty="0"/>
          </a:p>
        </p:txBody>
      </p:sp>
      <p:sp>
        <p:nvSpPr>
          <p:cNvPr id="6" name="Text 3"/>
          <p:cNvSpPr/>
          <p:nvPr/>
        </p:nvSpPr>
        <p:spPr>
          <a:xfrm>
            <a:off x="9169598" y="6791325"/>
            <a:ext cx="5306083" cy="333375"/>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7D4C3D">
                    <a:alpha val="85000"/>
                  </a:srgbClr>
                </a:solidFill>
                <a:latin typeface="Arial" pitchFamily="34" charset="0"/>
                <a:ea typeface="Arial" pitchFamily="34" charset="-122"/>
                <a:cs typeface="Arial" pitchFamily="34" charset="-120"/>
              </a:rPr>
              <a:t>QUESTIONS · DISCUSSION</a:t>
            </a:r>
            <a:endParaRPr lang="en-US" sz="1950" dirty="0"/>
          </a:p>
        </p:txBody>
      </p:sp>
      <p:sp>
        <p:nvSpPr>
          <p:cNvPr id="7" name="Text 4"/>
          <p:cNvSpPr/>
          <p:nvPr/>
        </p:nvSpPr>
        <p:spPr>
          <a:xfrm>
            <a:off x="514388" y="9448800"/>
            <a:ext cx="3921694"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7D4C3D"/>
                </a:solidFill>
                <a:latin typeface="Arial" pitchFamily="34" charset="0"/>
                <a:ea typeface="Arial" pitchFamily="34" charset="-122"/>
                <a:cs typeface="Arial" pitchFamily="34" charset="-120"/>
              </a:rPr>
              <a:t>Naman · Priya · Sanjana · Varuna</a:t>
            </a:r>
            <a:endParaRPr lang="en-US" sz="1800" dirty="0"/>
          </a:p>
        </p:txBody>
      </p:sp>
      <p:sp>
        <p:nvSpPr>
          <p:cNvPr id="8" name="Text 5"/>
          <p:cNvSpPr/>
          <p:nvPr/>
        </p:nvSpPr>
        <p:spPr>
          <a:xfrm>
            <a:off x="13237253" y="9448800"/>
            <a:ext cx="4545443"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7D4C3D"/>
                </a:solidFill>
                <a:latin typeface="Arial" pitchFamily="34" charset="0"/>
                <a:ea typeface="Arial" pitchFamily="34" charset="-122"/>
                <a:cs typeface="Arial" pitchFamily="34" charset="-120"/>
              </a:rPr>
              <a:t>DATA 202 · Final Submission · May 2026</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San Jose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Starbucks Final Presentation</dc:title>
  <dc:subject>Statistical analysis of Starbucks customer spending</dc:subject>
  <dc:creator>Naman Sudan, Priya Venugopal Nair, Sanjana Vivek Phalke, Varuna Vyomessh</dc:creator>
  <cp:lastModifiedBy>Naman Sudan</cp:lastModifiedBy>
  <cp:revision>2</cp:revision>
  <dcterms:created xsi:type="dcterms:W3CDTF">2026-05-02T23:26:00Z</dcterms:created>
  <dcterms:modified xsi:type="dcterms:W3CDTF">2026-05-02T23:35:00Z</dcterms:modified>
</cp:coreProperties>
</file>