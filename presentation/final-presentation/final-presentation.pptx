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g"/>
  <Default Extension="png" ContentType="image/png"/>
  <Default Extension="bmp" ContentType="image/bmp"/>
  <Default Extension="gif" ContentType="image/gif"/>
  <Default Extension="tif" ContentType="image/tif"/>
  <Default Extension="pdf" ContentType="application/pdf"/>
  <Default Extension="mov" ContentType="application/movie"/>
  <Default Extension="vml" ContentType="application/vnd.openxmlformats-officedocument.vmlDrawing"/>
  <Default Extension="xlsx" ContentType="application/vnd.openxmlformats-officedocument.spreadsheetml.sheet"/>
  <Override PartName="/docProps/core.xml" ContentType="application/vnd.openxmlformats-package.core-properties+xml"/>
  <Override PartName="/docProps/app.xml" ContentType="application/vnd.openxmlformats-officedocument.extended-properties+xml"/>
  <Override PartName="/ppt/presentation.xml" ContentType="application/vnd.openxmlformats-officedocument.presentationml.presentation.main+xml"/>
  <Override PartName="/ppt/presProps.xml" ContentType="application/vnd.openxmlformats-officedocument.presentationml.presProps+xml"/>
  <Override PartName="/ppt/viewProps.xml" ContentType="application/vnd.openxmlformats-officedocument.presentationml.viewProps+xml"/>
  <Override PartName="/ppt/commentAuthors.xml" ContentType="application/vnd.openxmlformats-officedocument.presentationml.commentAuthors+xml"/>
  <Override PartName="/ppt/tableStyles.xml" ContentType="application/vnd.openxmlformats-officedocument.presentationml.tableStyles+xml"/>
  <Override PartName="/ppt/slideMasters/slideMaster1.xml" ContentType="application/vnd.openxmlformats-officedocument.presentationml.slideMaster+xml"/>
  <Override PartName="/ppt/theme/theme1.xml" ContentType="application/vnd.openxmlformats-officedocument.theme+xml"/>
  <Override PartName="/ppt/notesMasters/notesMaster1.xml" ContentType="application/vnd.openxmlformats-officedocument.presentationml.notes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ldMasterIdLst>
    <p:sldMasterId id="2147483648" r:id="rId5"/>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8288000" cy="10287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lvl1pPr>
    <a:lvl2pPr marL="0" marR="0" indent="4572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lvl2pPr>
    <a:lvl3pPr marL="0" marR="0" indent="9144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lvl3pPr>
    <a:lvl4pPr marL="0" marR="0" indent="13716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lvl4pPr>
    <a:lvl5pPr marL="0" marR="0" indent="18288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lvl5pPr>
    <a:lvl6pPr marL="0" marR="0" indent="22860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lvl6pPr>
    <a:lvl7pPr marL="0" marR="0" indent="27432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lvl7pPr>
    <a:lvl8pPr marL="0" marR="0" indent="32004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lvl8pPr>
    <a:lvl9pPr marL="0" marR="0" indent="36576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file>

<file path=ppt/presProps.xml><?xml version="1.0" encoding="utf-8"?>
<p:presentation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howPr loop="0"/>
</p:presentationPr>
</file>

<file path=ppt/tableStyles.xml><?xml version="1.0" encoding="utf-8"?>
<a:tblStyleLst xmlns:a="http://schemas.openxmlformats.org/drawingml/2006/main" xmlns:r="http://schemas.openxmlformats.org/officeDocument/2006/relationships" def="{5940675A-B579-460E-94D1-54222C63F5DA}">
  <a:tblStyle styleId="{4C3C2611-4C71-4FC5-86AE-919BDF0F9419}" styleName="">
    <a:tblBg/>
    <a:wholeTbl>
      <a:tcTxStyle b="off" i="off">
        <a:fontRef idx="maj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DD4EA"/>
          </a:solidFill>
        </a:fill>
      </a:tcStyle>
    </a:wholeTbl>
    <a:band2H>
      <a:tcTxStyle b="def" i="def"/>
      <a:tcStyle>
        <a:tcBdr/>
        <a:fill>
          <a:solidFill>
            <a:srgbClr val="E8EBF5"/>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Row>
  </a:tblStyle>
  <a:tblStyle styleId="{C7B018BB-80A7-4F77-B60F-C8B233D01FF8}" styleName="">
    <a:tblBg/>
    <a:wholeTbl>
      <a:tcTxStyle b="off" i="off">
        <a:fontRef idx="maj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E0E0E0"/>
          </a:solidFill>
        </a:fill>
      </a:tcStyle>
    </a:wholeTbl>
    <a:band2H>
      <a:tcTxStyle b="def" i="def"/>
      <a:tcStyle>
        <a:tcBdr/>
        <a:fill>
          <a:solidFill>
            <a:srgbClr val="F0F0F0"/>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Row>
  </a:tblStyle>
  <a:tblStyle styleId="{EEE7283C-3CF3-47DC-8721-378D4A62B228}" styleName="">
    <a:tblBg/>
    <a:wholeTbl>
      <a:tcTxStyle b="off" i="off">
        <a:fontRef idx="maj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D4E2CE"/>
          </a:solidFill>
        </a:fill>
      </a:tcStyle>
    </a:wholeTbl>
    <a:band2H>
      <a:tcTxStyle b="def" i="def"/>
      <a:tcStyle>
        <a:tcBdr/>
        <a:fill>
          <a:solidFill>
            <a:srgbClr val="EBF1E8"/>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Row>
  </a:tblStyle>
  <a:tblStyle styleId="{CF821DB8-F4EB-4A41-A1BA-3FCAFE7338EE}" styleName="">
    <a:tblBg/>
    <a:wholeTbl>
      <a:tcTxStyle b="off" i="off">
        <a:fontRef idx="major">
          <a:srgbClr val="000000"/>
        </a:fontRef>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6E6E6"/>
          </a:solidFill>
        </a:fill>
      </a:tcStyle>
    </a:wholeTbl>
    <a:band2H>
      <a:tcTxStyle b="def" i="def"/>
      <a:tcStyle>
        <a:tcBdr/>
        <a:fill>
          <a:solidFill>
            <a:srgbClr val="FFFFFF"/>
          </a:solidFill>
        </a:fill>
      </a:tcStyle>
    </a:band2H>
    <a:firstCol>
      <a:tcTxStyle b="on" i="off">
        <a:fontRef idx="major">
          <a:srgbClr val="FFFFFF"/>
        </a:fontRef>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Col>
    <a:lastRow>
      <a:tcTxStyle b="on" i="off">
        <a:fontRef idx="major">
          <a:srgbClr val="000000"/>
        </a:fontRef>
        <a:srgbClr val="000000"/>
      </a:tcTxStyle>
      <a:tcStyle>
        <a:tcBdr>
          <a:left>
            <a:ln w="12700" cap="flat">
              <a:noFill/>
              <a:miter lim="400000"/>
            </a:ln>
          </a:left>
          <a:right>
            <a:ln w="12700" cap="flat">
              <a:noFill/>
              <a:miter lim="400000"/>
            </a:ln>
          </a:right>
          <a:top>
            <a:ln w="508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rgbClr val="FFFFFF"/>
          </a:solidFill>
        </a:fill>
      </a:tcStyle>
    </a:lastRow>
    <a:firstRow>
      <a:tcTxStyle b="on" i="off">
        <a:fontRef idx="major">
          <a:srgbClr val="FFFFFF"/>
        </a:fontRef>
        <a:srgbClr val="FFFFFF"/>
      </a:tcTxStyle>
      <a:tcStyle>
        <a:tcBdr>
          <a:left>
            <a:ln w="12700" cap="flat">
              <a:noFill/>
              <a:miter lim="400000"/>
            </a:ln>
          </a:left>
          <a:right>
            <a:ln w="12700" cap="flat">
              <a:noFill/>
              <a:miter lim="400000"/>
            </a:ln>
          </a:right>
          <a:top>
            <a:ln w="254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chemeClr val="accent1"/>
          </a:solidFill>
        </a:fill>
      </a:tcStyle>
    </a:firstRow>
  </a:tblStyle>
  <a:tblStyle styleId="{33BA23B1-9221-436E-865A-0063620EA4FD}" styleName="">
    <a:tblBg/>
    <a:wholeTbl>
      <a:tcTxStyle b="off" i="off">
        <a:fontRef idx="maj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ACACA"/>
          </a:solidFill>
        </a:fill>
      </a:tcStyle>
    </a:wholeTbl>
    <a:band2H>
      <a:tcTxStyle b="def" i="def"/>
      <a:tcStyle>
        <a:tcBdr/>
        <a:fill>
          <a:solidFill>
            <a:srgbClr val="E6E6E6"/>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Row>
  </a:tblStyle>
  <a:tblStyle styleId="{2708684C-4D16-4618-839F-0558EEFCDFE6}" styleName="">
    <a:tblBg/>
    <a:wholeTbl>
      <a:tcTxStyle b="off" i="off">
        <a:fontRef idx="maj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wholeTbl>
    <a:band2H>
      <a:tcTxStyle b="def" i="def"/>
      <a:tcStyle>
        <a:tcBdr/>
        <a:fill>
          <a:solidFill>
            <a:srgbClr val="FFFFFF"/>
          </a:solidFill>
        </a:fill>
      </a:tcStyle>
    </a:band2H>
    <a:firstCol>
      <a:tcTxStyle b="on" i="off">
        <a:fontRef idx="maj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firstCol>
    <a:lastRow>
      <a:tcTxStyle b="on" i="off">
        <a:fontRef idx="maj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508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lastRow>
    <a:firstRow>
      <a:tcTxStyle b="on" i="off">
        <a:fontRef idx="maj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254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Comments="1"/>
</file>

<file path=ppt/_rels/presentation.xml.rels><?xml version="1.0" encoding="UTF-8"?>
<Relationships xmlns="http://schemas.openxmlformats.org/package/2006/relationships"><Relationship Id="rId1" Type="http://schemas.openxmlformats.org/officeDocument/2006/relationships/presProps" Target="presProps.xml"/><Relationship Id="rId2" Type="http://schemas.openxmlformats.org/officeDocument/2006/relationships/viewProps" Target="viewProps.xml"/><Relationship Id="rId3" Type="http://schemas.openxmlformats.org/officeDocument/2006/relationships/commentAuthors" Target="commentAuthor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theme" Target="theme/theme1.xml"/><Relationship Id="rId7" Type="http://schemas.openxmlformats.org/officeDocument/2006/relationships/notesMaster" Target="notesMasters/notes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spTree>
      <p:nvGrpSpPr>
        <p:cNvPr id="1" name=""/>
        <p:cNvGrpSpPr/>
        <p:nvPr/>
      </p:nvGrpSpPr>
      <p:grpSpPr>
        <a:xfrm>
          <a:off x="0" y="0"/>
          <a:ext cx="0" cy="0"/>
          <a:chOff x="0" y="0"/>
          <a:chExt cx="0" cy="0"/>
        </a:xfrm>
      </p:grpSpPr>
      <p:sp>
        <p:nvSpPr>
          <p:cNvPr id="17" name="Shape 17"/>
          <p:cNvSpPr/>
          <p:nvPr>
            <p:ph type="sldImg"/>
          </p:nvPr>
        </p:nvSpPr>
        <p:spPr>
          <a:xfrm>
            <a:off x="1143000" y="685800"/>
            <a:ext cx="4572000" cy="3429000"/>
          </a:xfrm>
          <a:prstGeom prst="rect">
            <a:avLst/>
          </a:prstGeom>
        </p:spPr>
        <p:txBody>
          <a:bodyPr/>
          <a:lstStyle/>
          <a:p>
            <a:pPr/>
          </a:p>
        </p:txBody>
      </p:sp>
      <p:sp>
        <p:nvSpPr>
          <p:cNvPr id="18" name="Shape 18"/>
          <p:cNvSpPr/>
          <p:nvPr>
            <p:ph type="body" sz="quarter" idx="1"/>
          </p:nvPr>
        </p:nvSpPr>
        <p:spPr>
          <a:xfrm>
            <a:off x="914400" y="4343400"/>
            <a:ext cx="5029200" cy="4114800"/>
          </a:xfrm>
          <a:prstGeom prst="rect">
            <a:avLst/>
          </a:prstGeom>
        </p:spPr>
        <p:txBody>
          <a:bodyPr/>
          <a:lstStyle/>
          <a:p>
            <a:pPr/>
          </a:p>
        </p:txBody>
      </p:sp>
    </p:spTree>
  </p:cSld>
  <p:clrMap bg1="lt1" tx1="dk1" bg2="lt2" tx2="dk2" accent1="accent1" accent2="accent2" accent3="accent3" accent4="accent4" accent5="accent5" accent6="accent6" hlink="hlink" folHlink="folHlink"/>
  <p:notesStyle>
    <a:lvl1pPr latinLnBrk="0">
      <a:defRPr sz="1200">
        <a:latin typeface="+mj-lt"/>
        <a:ea typeface="+mj-ea"/>
        <a:cs typeface="+mj-cs"/>
        <a:sym typeface="Calibri"/>
      </a:defRPr>
    </a:lvl1pPr>
    <a:lvl2pPr indent="228600" latinLnBrk="0">
      <a:defRPr sz="1200">
        <a:latin typeface="+mj-lt"/>
        <a:ea typeface="+mj-ea"/>
        <a:cs typeface="+mj-cs"/>
        <a:sym typeface="Calibri"/>
      </a:defRPr>
    </a:lvl2pPr>
    <a:lvl3pPr indent="457200" latinLnBrk="0">
      <a:defRPr sz="1200">
        <a:latin typeface="+mj-lt"/>
        <a:ea typeface="+mj-ea"/>
        <a:cs typeface="+mj-cs"/>
        <a:sym typeface="Calibri"/>
      </a:defRPr>
    </a:lvl3pPr>
    <a:lvl4pPr indent="685800" latinLnBrk="0">
      <a:defRPr sz="1200">
        <a:latin typeface="+mj-lt"/>
        <a:ea typeface="+mj-ea"/>
        <a:cs typeface="+mj-cs"/>
        <a:sym typeface="Calibri"/>
      </a:defRPr>
    </a:lvl4pPr>
    <a:lvl5pPr indent="914400" latinLnBrk="0">
      <a:defRPr sz="1200">
        <a:latin typeface="+mj-lt"/>
        <a:ea typeface="+mj-ea"/>
        <a:cs typeface="+mj-cs"/>
        <a:sym typeface="Calibri"/>
      </a:defRPr>
    </a:lvl5pPr>
    <a:lvl6pPr indent="1143000" latinLnBrk="0">
      <a:defRPr sz="1200">
        <a:latin typeface="+mj-lt"/>
        <a:ea typeface="+mj-ea"/>
        <a:cs typeface="+mj-cs"/>
        <a:sym typeface="Calibri"/>
      </a:defRPr>
    </a:lvl6pPr>
    <a:lvl7pPr indent="1371600" latinLnBrk="0">
      <a:defRPr sz="1200">
        <a:latin typeface="+mj-lt"/>
        <a:ea typeface="+mj-ea"/>
        <a:cs typeface="+mj-cs"/>
        <a:sym typeface="Calibri"/>
      </a:defRPr>
    </a:lvl7pPr>
    <a:lvl8pPr indent="1600200" latinLnBrk="0">
      <a:defRPr sz="1200">
        <a:latin typeface="+mj-lt"/>
        <a:ea typeface="+mj-ea"/>
        <a:cs typeface="+mj-cs"/>
        <a:sym typeface="Calibri"/>
      </a:defRPr>
    </a:lvl8pPr>
    <a:lvl9pPr indent="1828800" latinLnBrk="0">
      <a:defRPr sz="1200">
        <a:latin typeface="+mj-lt"/>
        <a:ea typeface="+mj-ea"/>
        <a:cs typeface="+mj-cs"/>
        <a:sym typeface="Calibri"/>
      </a:defRPr>
    </a:lvl9pPr>
  </p:notesStyle>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2" name="Shape 32"/>
          <p:cNvSpPr/>
          <p:nvPr>
            <p:ph type="sldImg"/>
          </p:nvPr>
        </p:nvSpPr>
        <p:spPr>
          <a:prstGeom prst="rect">
            <a:avLst/>
          </a:prstGeom>
        </p:spPr>
        <p:txBody>
          <a:bodyPr/>
          <a:lstStyle/>
          <a:p>
            <a:pPr/>
          </a:p>
        </p:txBody>
      </p:sp>
      <p:sp>
        <p:nvSpPr>
          <p:cNvPr id="33" name="Shape 33"/>
          <p:cNvSpPr/>
          <p:nvPr>
            <p:ph type="body" sz="quarter" idx="1"/>
          </p:nvPr>
        </p:nvSpPr>
        <p:spPr>
          <a:prstGeom prst="rect">
            <a:avLst/>
          </a:prstGeom>
        </p:spPr>
        <p:txBody>
          <a:bodyPr/>
          <a:lstStyle/>
          <a:p>
            <a:pPr/>
            <a:r>
              <a:t>Welcome everyone. Today we're presenting our final analysis on what really drives customer spending at Starbucks. We worked with a hundred thousand orders, applied every major statistical concept from DATA 202, and we have some clear answers. Our team is Naman, Priya, Sanjana, and Varuna. Let's dive in.</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61" name="Shape 61"/>
          <p:cNvSpPr/>
          <p:nvPr>
            <p:ph type="sldImg"/>
          </p:nvPr>
        </p:nvSpPr>
        <p:spPr>
          <a:prstGeom prst="rect">
            <a:avLst/>
          </a:prstGeom>
        </p:spPr>
        <p:txBody>
          <a:bodyPr/>
          <a:lstStyle/>
          <a:p>
            <a:pPr/>
          </a:p>
        </p:txBody>
      </p:sp>
      <p:sp>
        <p:nvSpPr>
          <p:cNvPr id="62" name="Shape 62"/>
          <p:cNvSpPr/>
          <p:nvPr>
            <p:ph type="body" sz="quarter" idx="1"/>
          </p:nvPr>
        </p:nvSpPr>
        <p:spPr>
          <a:prstGeom prst="rect">
            <a:avLst/>
          </a:prstGeom>
        </p:spPr>
        <p:txBody>
          <a:bodyPr/>
          <a:lstStyle/>
          <a:p>
            <a:pPr/>
            <a:r>
              <a:t>Our dataset is a Kaggle Starbucks transactional dataset. One hundred thousand orders, just under fifteen thousand unique customers, five hundred stores, and twenty variables per order - channel, cart size, customizations, fulfillment time, satisfaction, rewards membership, age group, and more. Crucially there are zero missing values, so we could focus on analysis instead of cleaning. Customer spend matters because it directly drives revenue, and the channels and behaviors behind it are exactly what Starbucks' loyalty and mobile teams optimize against.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75" name="Shape 75"/>
          <p:cNvSpPr/>
          <p:nvPr>
            <p:ph type="sldImg"/>
          </p:nvPr>
        </p:nvSpPr>
        <p:spPr>
          <a:prstGeom prst="rect">
            <a:avLst/>
          </a:prstGeom>
        </p:spPr>
        <p:txBody>
          <a:bodyPr/>
          <a:lstStyle/>
          <a:p>
            <a:pPr/>
          </a:p>
        </p:txBody>
      </p:sp>
      <p:sp>
        <p:nvSpPr>
          <p:cNvPr id="76" name="Shape 76"/>
          <p:cNvSpPr/>
          <p:nvPr>
            <p:ph type="body" sz="quarter" idx="1"/>
          </p:nvPr>
        </p:nvSpPr>
        <p:spPr>
          <a:prstGeom prst="rect">
            <a:avLst/>
          </a:prstGeom>
        </p:spPr>
        <p:txBody>
          <a:bodyPr/>
          <a:lstStyle/>
          <a:p>
            <a:pPr/>
            <a:r>
              <a:t>Our central research question is simple to state and rich to answer: what factors drive customer spending at Starbucks? We broke it into five sub-questions, each mapped to a DATA 202 concept area. Which segments spend more. How cart size and customizations relate to spend. Whether the Mobile and Rewards differences are statistically real. How likely high-spender orders are and who places them. And finally, can we use linear algebra and gradient descent to actually model spend.</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39" name="Shape 139"/>
          <p:cNvSpPr/>
          <p:nvPr>
            <p:ph type="sldImg"/>
          </p:nvPr>
        </p:nvSpPr>
        <p:spPr>
          <a:prstGeom prst="rect">
            <a:avLst/>
          </a:prstGeom>
        </p:spPr>
        <p:txBody>
          <a:bodyPr/>
          <a:lstStyle/>
          <a:p>
            <a:pPr/>
          </a:p>
        </p:txBody>
      </p:sp>
      <p:sp>
        <p:nvSpPr>
          <p:cNvPr id="140" name="Shape 140"/>
          <p:cNvSpPr/>
          <p:nvPr>
            <p:ph type="body" sz="quarter" idx="1"/>
          </p:nvPr>
        </p:nvSpPr>
        <p:spPr>
          <a:prstGeom prst="rect">
            <a:avLst/>
          </a:prstGeom>
        </p:spPr>
        <p:txBody>
          <a:bodyPr/>
          <a:lstStyle/>
          <a:p>
            <a:pPr/>
            <a:r>
              <a:t>Starting with descriptive statistics. The average order is fourteen dollars and eighty-seven cents, median fourteen-seventeen, standard deviation five-fifty-one. The interquartile range is seven-thirty-four and only one-point-four percent of orders are outliers above twenty-nine dollars. The big finding is the channel gap - Mobile App orders average eighteen-oh-eight, while Drive-Thru, In-Store, and Kiosk all sit right around twelve-fifty. That five-and-a-half dollar gap on Mobile is the single most important pattern in the entire dataset. Rewards members spend about a dollar-sixty-three more than non-members.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66" name="Shape 166"/>
          <p:cNvSpPr/>
          <p:nvPr>
            <p:ph type="sldImg"/>
          </p:nvPr>
        </p:nvSpPr>
        <p:spPr>
          <a:prstGeom prst="rect">
            <a:avLst/>
          </a:prstGeom>
        </p:spPr>
        <p:txBody>
          <a:bodyPr/>
          <a:lstStyle/>
          <a:p>
            <a:pPr/>
          </a:p>
        </p:txBody>
      </p:sp>
      <p:sp>
        <p:nvSpPr>
          <p:cNvPr id="167" name="Shape 167"/>
          <p:cNvSpPr/>
          <p:nvPr>
            <p:ph type="body" sz="quarter" idx="1"/>
          </p:nvPr>
        </p:nvSpPr>
        <p:spPr>
          <a:prstGeom prst="rect">
            <a:avLst/>
          </a:prstGeom>
        </p:spPr>
        <p:txBody>
          <a:bodyPr/>
          <a:lstStyle/>
          <a:p>
            <a:pPr/>
            <a:r>
              <a:t>Moving to correlation. The order-level Pearson correlation tells a clean story. Cart size versus total spend is point-nine-zero-zero - that's the dominant numerical driver, almost a deterministic relationship. Number of customizations is secondary at point-four-zero-nine, still meaningful but much weaker. Fulfillment time and customer satisfaction are essentially uncorrelated with spend. So if you want to predict how much someone will spend, ask how many items are in their cart.</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93" name="Shape 193"/>
          <p:cNvSpPr/>
          <p:nvPr>
            <p:ph type="sldImg"/>
          </p:nvPr>
        </p:nvSpPr>
        <p:spPr>
          <a:prstGeom prst="rect">
            <a:avLst/>
          </a:prstGeom>
        </p:spPr>
        <p:txBody>
          <a:bodyPr/>
          <a:lstStyle/>
          <a:p>
            <a:pPr/>
          </a:p>
        </p:txBody>
      </p:sp>
      <p:sp>
        <p:nvSpPr>
          <p:cNvPr id="194" name="Shape 194"/>
          <p:cNvSpPr/>
          <p:nvPr>
            <p:ph type="body" sz="quarter" idx="1"/>
          </p:nvPr>
        </p:nvSpPr>
        <p:spPr>
          <a:prstGeom prst="rect">
            <a:avLst/>
          </a:prstGeom>
        </p:spPr>
        <p:txBody>
          <a:bodyPr/>
          <a:lstStyle/>
          <a:p>
            <a:pPr/>
            <a:r>
              <a:t>Next, distribution shape and Chebyshev. Total spend is moderately right-skewed - the normal overlay misses the right tail, and the QQ plot bends upward. Empirically, ninety-five-point-eight-three percent of orders fall within two standard deviations of the mean, and ninety-nine-point-three-four percent within three. Chebyshev's inequality only guarantees seventy-five percent within two SDs, so our data is far tighter than the worst case. But because normality isn't perfect, we use empirical probabilities - not the normal approximation - for tail events.</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32" name="Shape 232"/>
          <p:cNvSpPr/>
          <p:nvPr>
            <p:ph type="sldImg"/>
          </p:nvPr>
        </p:nvSpPr>
        <p:spPr>
          <a:prstGeom prst="rect">
            <a:avLst/>
          </a:prstGeom>
        </p:spPr>
        <p:txBody>
          <a:bodyPr/>
          <a:lstStyle/>
          <a:p>
            <a:pPr/>
          </a:p>
        </p:txBody>
      </p:sp>
      <p:sp>
        <p:nvSpPr>
          <p:cNvPr id="233" name="Shape 233"/>
          <p:cNvSpPr/>
          <p:nvPr>
            <p:ph type="body" sz="quarter" idx="1"/>
          </p:nvPr>
        </p:nvSpPr>
        <p:spPr>
          <a:prstGeom prst="rect">
            <a:avLst/>
          </a:prstGeom>
        </p:spPr>
        <p:txBody>
          <a:bodyPr/>
          <a:lstStyle/>
          <a:p>
            <a:pPr/>
            <a:r>
              <a:t>Confidence intervals make these segment differences concrete. The overall mean is between fourteen-eighty-three and fourteen-ninety with ninety-five percent confidence. Mobile App is eighteen-oh-two to eighteen-thirteen - a tight band well above everyone else. Rewards is fifteen-sixty-seven to fifteen-seventy-seven, non-Rewards is fourteen-oh-four to fourteen-thirteen. The intervals don't overlap, which previews what hypothesis testing will confirm.</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17" name="Shape 317"/>
          <p:cNvSpPr/>
          <p:nvPr>
            <p:ph type="sldImg"/>
          </p:nvPr>
        </p:nvSpPr>
        <p:spPr>
          <a:prstGeom prst="rect">
            <a:avLst/>
          </a:prstGeom>
        </p:spPr>
        <p:txBody>
          <a:bodyPr/>
          <a:lstStyle/>
          <a:p>
            <a:pPr/>
          </a:p>
        </p:txBody>
      </p:sp>
      <p:sp>
        <p:nvSpPr>
          <p:cNvPr id="318" name="Shape 318"/>
          <p:cNvSpPr/>
          <p:nvPr>
            <p:ph type="body" sz="quarter" idx="1"/>
          </p:nvPr>
        </p:nvSpPr>
        <p:spPr>
          <a:prstGeom prst="rect">
            <a:avLst/>
          </a:prstGeom>
        </p:spPr>
        <p:txBody>
          <a:bodyPr/>
          <a:lstStyle/>
          <a:p>
            <a:pPr/>
            <a:r>
              <a:t>Hypothesis testing - four tests, all decisive in the same direction. Mobile versus non-Mobile shows a five-dollar-fifty-eight average difference, t equals one-seventy-five-point-nine-one, p essentially zero - reject the null. Rewards versus non-Rewards shows a one-sixty-three difference, t equals forty-seven, p essentially zero - reject. The paired test on each customer's first versus latest order gives p equals point-four-four, so we fail to reject - repeat customers don't systematically drift up or down over time. Finally, a two-proportion z-test on whether an order is a high-spender - defined as more than twenty dollars - gives Rewards members an eight-point-six percentage-point higher rate than non-Rewards, with z equals thirty-five-point-nine-two and p essentially zero - clearly reject. Same direction, same conclusion across every test we ran.</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41" name="Shape 341"/>
          <p:cNvSpPr/>
          <p:nvPr>
            <p:ph type="sldImg"/>
          </p:nvPr>
        </p:nvSpPr>
        <p:spPr>
          <a:prstGeom prst="rect">
            <a:avLst/>
          </a:prstGeom>
        </p:spPr>
        <p:txBody>
          <a:bodyPr/>
          <a:lstStyle/>
          <a:p>
            <a:pPr/>
          </a:p>
        </p:txBody>
      </p:sp>
      <p:sp>
        <p:nvSpPr>
          <p:cNvPr id="342" name="Shape 342"/>
          <p:cNvSpPr/>
          <p:nvPr>
            <p:ph type="body" sz="quarter" idx="1"/>
          </p:nvPr>
        </p:nvSpPr>
        <p:spPr>
          <a:prstGeom prst="rect">
            <a:avLst/>
          </a:prstGeom>
        </p:spPr>
        <p:txBody>
          <a:bodyPr/>
          <a:lstStyle/>
          <a:p>
            <a:pPr/>
            <a:r>
              <a:t>Probability and Bayes. Empirically, about five-point-one percent of all orders exceed twenty-five dollars. The normal approximation says three-point-three percent - it underestimates the right tail because of skew. Conditional on Mobile App, that probability jumps to eleven-point-three percent. And by Bayes' theorem, given an order is over twenty-five dollars, there's a ninety-four percent chance it came through the Mobile App, and a sixty-three percent chance the customer is a Rewards member. High-spender orders are overwhelmingly a Mobile phenomenon.</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59" name="Shape 359"/>
          <p:cNvSpPr/>
          <p:nvPr>
            <p:ph type="sldImg"/>
          </p:nvPr>
        </p:nvSpPr>
        <p:spPr>
          <a:prstGeom prst="rect">
            <a:avLst/>
          </a:prstGeom>
        </p:spPr>
        <p:txBody>
          <a:bodyPr/>
          <a:lstStyle/>
          <a:p>
            <a:pPr/>
          </a:p>
        </p:txBody>
      </p:sp>
      <p:sp>
        <p:nvSpPr>
          <p:cNvPr id="360" name="Shape 360"/>
          <p:cNvSpPr/>
          <p:nvPr>
            <p:ph type="body" sz="quarter" idx="1"/>
          </p:nvPr>
        </p:nvSpPr>
        <p:spPr>
          <a:prstGeom prst="rect">
            <a:avLst/>
          </a:prstGeom>
        </p:spPr>
        <p:txBody>
          <a:bodyPr/>
          <a:lstStyle/>
          <a:p>
            <a:pPr/>
            <a:r>
              <a:t>We also treat cart size as a discrete random variable over the integers one through ten. The probability mass function peaks at three items, with an expected value of three-point-seven-four and a variance of two-point-eight-eight. This connects directly to the linear model coming up next - every additional item in the cart corresponds to a predictable bump in spend.</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90" name="Shape 390"/>
          <p:cNvSpPr/>
          <p:nvPr>
            <p:ph type="sldImg"/>
          </p:nvPr>
        </p:nvSpPr>
        <p:spPr>
          <a:prstGeom prst="rect">
            <a:avLst/>
          </a:prstGeom>
        </p:spPr>
        <p:txBody>
          <a:bodyPr/>
          <a:lstStyle/>
          <a:p>
            <a:pPr/>
          </a:p>
        </p:txBody>
      </p:sp>
      <p:sp>
        <p:nvSpPr>
          <p:cNvPr id="391" name="Shape 391"/>
          <p:cNvSpPr/>
          <p:nvPr>
            <p:ph type="body" sz="quarter" idx="1"/>
          </p:nvPr>
        </p:nvSpPr>
        <p:spPr>
          <a:prstGeom prst="rect">
            <a:avLst/>
          </a:prstGeom>
        </p:spPr>
        <p:txBody>
          <a:bodyPr/>
          <a:lstStyle/>
          <a:p>
            <a:pPr/>
            <a:r>
              <a:t>Linear algebra and optimization. We fit a linear model for total spend on cart size, number of customizations, and a Mobile App indicator. The intercept is two-sixteen, cart size adds two-sixty-nine per item, each customization adds ninety-two cents, and Mobile App membership alone adds two-thirty-three on top. R-squared is point-nine-five-zero-five - the model explains ninety-five percent of variance. We solved this two ways: closed-form via the normal equations, and iteratively via gradient descent. Both converge to the same coefficients, which is exactly the linear-algebra-meets-optimization story DATA 202 builds toward.</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10" name="Shape 410"/>
          <p:cNvSpPr/>
          <p:nvPr>
            <p:ph type="sldImg"/>
          </p:nvPr>
        </p:nvSpPr>
        <p:spPr>
          <a:prstGeom prst="rect">
            <a:avLst/>
          </a:prstGeom>
        </p:spPr>
        <p:txBody>
          <a:bodyPr/>
          <a:lstStyle/>
          <a:p>
            <a:pPr/>
          </a:p>
        </p:txBody>
      </p:sp>
      <p:sp>
        <p:nvSpPr>
          <p:cNvPr id="411" name="Shape 411"/>
          <p:cNvSpPr/>
          <p:nvPr>
            <p:ph type="body" sz="quarter" idx="1"/>
          </p:nvPr>
        </p:nvSpPr>
        <p:spPr>
          <a:prstGeom prst="rect">
            <a:avLst/>
          </a:prstGeom>
        </p:spPr>
        <p:txBody>
          <a:bodyPr/>
          <a:lstStyle/>
          <a:p>
            <a:pPr/>
            <a:r>
              <a:t>Putting business interpretation on top of the math. Mobile App is the largest revenue lever - bigger than rewards, bigger than store type, bigger than age. Cart size is the strongest numerical predictor, so anything that increases items per order matters. Rewards membership has a smaller but statistically significant effect. And high-spender orders - the most valuable segment - are overwhelmingly Mobile App orders.</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36" name="Shape 436"/>
          <p:cNvSpPr/>
          <p:nvPr>
            <p:ph type="sldImg"/>
          </p:nvPr>
        </p:nvSpPr>
        <p:spPr>
          <a:prstGeom prst="rect">
            <a:avLst/>
          </a:prstGeom>
        </p:spPr>
        <p:txBody>
          <a:bodyPr/>
          <a:lstStyle/>
          <a:p>
            <a:pPr/>
          </a:p>
        </p:txBody>
      </p:sp>
      <p:sp>
        <p:nvSpPr>
          <p:cNvPr id="437" name="Shape 437"/>
          <p:cNvSpPr/>
          <p:nvPr>
            <p:ph type="body" sz="quarter" idx="1"/>
          </p:nvPr>
        </p:nvSpPr>
        <p:spPr>
          <a:prstGeom prst="rect">
            <a:avLst/>
          </a:prstGeom>
        </p:spPr>
        <p:txBody>
          <a:bodyPr/>
          <a:lstStyle/>
          <a:p>
            <a:pPr/>
            <a:r>
              <a:t>How would Starbucks actually deploy this? Batch refresh of the descriptive statistics and the model coefficients. Online scoring of expected spend at order time, which lets the app surface targeted upsells. Drift monitoring on the Mobile share, the Rewards effect, and the high-spender probability. And the whole pipeline scales naturally by store or by region.</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50" name="Shape 450"/>
          <p:cNvSpPr/>
          <p:nvPr>
            <p:ph type="sldImg"/>
          </p:nvPr>
        </p:nvSpPr>
        <p:spPr>
          <a:prstGeom prst="rect">
            <a:avLst/>
          </a:prstGeom>
        </p:spPr>
        <p:txBody>
          <a:bodyPr/>
          <a:lstStyle/>
          <a:p>
            <a:pPr/>
          </a:p>
        </p:txBody>
      </p:sp>
      <p:sp>
        <p:nvSpPr>
          <p:cNvPr id="451" name="Shape 451"/>
          <p:cNvSpPr/>
          <p:nvPr>
            <p:ph type="body" sz="quarter" idx="1"/>
          </p:nvPr>
        </p:nvSpPr>
        <p:spPr>
          <a:prstGeom prst="rect">
            <a:avLst/>
          </a:prstGeom>
        </p:spPr>
        <p:txBody>
          <a:bodyPr/>
          <a:lstStyle/>
          <a:p>
            <a:pPr/>
            <a:r>
              <a:t>We're honest about the limitations. The Kaggle dataset may not represent every Starbucks store. Repeat customers weaken strict independence assumptions in the t-tests. The Shapiro-Wilk normality test had to use a five-thousand-row subsample because of its size limit. The normal approximation underestimates the right tail. The paired test ignores unequal time gaps between a customer's first and latest order. And our linear model is intentionally simple - three predictors - to stay aligned with course concepts.</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65" name="Shape 465"/>
          <p:cNvSpPr/>
          <p:nvPr>
            <p:ph type="sldImg"/>
          </p:nvPr>
        </p:nvSpPr>
        <p:spPr>
          <a:prstGeom prst="rect">
            <a:avLst/>
          </a:prstGeom>
        </p:spPr>
        <p:txBody>
          <a:bodyPr/>
          <a:lstStyle/>
          <a:p>
            <a:pPr/>
          </a:p>
        </p:txBody>
      </p:sp>
      <p:sp>
        <p:nvSpPr>
          <p:cNvPr id="466" name="Shape 466"/>
          <p:cNvSpPr/>
          <p:nvPr>
            <p:ph type="body" sz="quarter" idx="1"/>
          </p:nvPr>
        </p:nvSpPr>
        <p:spPr>
          <a:prstGeom prst="rect">
            <a:avLst/>
          </a:prstGeom>
        </p:spPr>
        <p:txBody>
          <a:bodyPr/>
          <a:lstStyle/>
          <a:p>
            <a:pPr/>
            <a:r>
              <a:t>To conclude. Mobile App and cart size drive spend. Rewards is a real but smaller effect. For high spenders, empirical tail probabilities are more honest than the normal approximation. Every method we used - descriptive statistics, correlation, Chebyshev, hypothesis tests, Bayes, PMFs, linear algebra, gradient descent - comes straight out of DATA 202. The story holds together end to end.</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75" name="Shape 475"/>
          <p:cNvSpPr/>
          <p:nvPr>
            <p:ph type="sldImg"/>
          </p:nvPr>
        </p:nvSpPr>
        <p:spPr>
          <a:prstGeom prst="rect">
            <a:avLst/>
          </a:prstGeom>
        </p:spPr>
        <p:txBody>
          <a:bodyPr/>
          <a:lstStyle/>
          <a:p>
            <a:pPr/>
          </a:p>
        </p:txBody>
      </p:sp>
      <p:sp>
        <p:nvSpPr>
          <p:cNvPr id="476" name="Shape 476"/>
          <p:cNvSpPr/>
          <p:nvPr>
            <p:ph type="body" sz="quarter" idx="1"/>
          </p:nvPr>
        </p:nvSpPr>
        <p:spPr>
          <a:prstGeom prst="rect">
            <a:avLst/>
          </a:prstGeom>
        </p:spPr>
        <p:txBody>
          <a:bodyPr/>
          <a:lstStyle/>
          <a:p>
            <a:pPr/>
            <a:r>
              <a:t>Thanks a latte. Happy to take any questions.</a:t>
            </a:r>
          </a:p>
        </p:txBody>
      </p:sp>
    </p:spTree>
  </p:cSld>
  <p:clrMapOvr>
    <a:masterClrMapping/>
  </p:clrMapOvr>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DEFAULT">
    <p:spTree>
      <p:nvGrpSpPr>
        <p:cNvPr id="1" name=""/>
        <p:cNvGrpSpPr/>
        <p:nvPr/>
      </p:nvGrpSpPr>
      <p:grpSpPr>
        <a:xfrm>
          <a:off x="0" y="0"/>
          <a:ext cx="0" cy="0"/>
          <a:chOff x="0" y="0"/>
          <a:chExt cx="0" cy="0"/>
        </a:xfrm>
      </p:grpSpPr>
      <p:sp>
        <p:nvSpPr>
          <p:cNvPr id="11"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bg>
      <p:bgPr>
        <a:solidFill>
          <a:srgbClr val="FFFFFF"/>
        </a:solidFill>
      </p:bgPr>
    </p:bg>
    <p:spTree>
      <p:nvGrpSpPr>
        <p:cNvPr id="1" name=""/>
        <p:cNvGrpSpPr/>
        <p:nvPr/>
      </p:nvGrpSpPr>
      <p:grpSpPr>
        <a:xfrm>
          <a:off x="0" y="0"/>
          <a:ext cx="0" cy="0"/>
          <a:chOff x="0" y="0"/>
          <a:chExt cx="0" cy="0"/>
        </a:xfrm>
      </p:grpSpPr>
      <p:sp>
        <p:nvSpPr>
          <p:cNvPr id="2" name="Title Text"/>
          <p:cNvSpPr txBox="1"/>
          <p:nvPr>
            <p:ph type="title"/>
          </p:nvPr>
        </p:nvSpPr>
        <p:spPr>
          <a:xfrm>
            <a:off x="914400" y="138112"/>
            <a:ext cx="16459200" cy="2262188"/>
          </a:xfrm>
          <a:prstGeom prst="rect">
            <a:avLst/>
          </a:prstGeom>
          <a:ln w="12700">
            <a:miter lim="400000"/>
          </a:ln>
          <a:extLst>
            <a:ext uri="{C572A759-6A51-4108-AA02-DFA0A04FC94B}">
              <ma14:wrappingTextBoxFlag xmlns:ma14="http://schemas.microsoft.com/office/mac/drawingml/2011/main" val="1"/>
            </a:ext>
          </a:extLst>
        </p:spPr>
        <p:txBody>
          <a:bodyPr lIns="45719" rIns="45719" anchor="ctr"/>
          <a:lstStyle/>
          <a:p>
            <a:pPr/>
            <a:r>
              <a:t>Title Text</a:t>
            </a:r>
          </a:p>
        </p:txBody>
      </p:sp>
      <p:sp>
        <p:nvSpPr>
          <p:cNvPr id="3" name="Body Level One…"/>
          <p:cNvSpPr txBox="1"/>
          <p:nvPr>
            <p:ph type="body" idx="1"/>
          </p:nvPr>
        </p:nvSpPr>
        <p:spPr>
          <a:xfrm>
            <a:off x="914400" y="2400300"/>
            <a:ext cx="16459200" cy="7886700"/>
          </a:xfrm>
          <a:prstGeom prst="rect">
            <a:avLst/>
          </a:prstGeom>
          <a:ln w="12700">
            <a:miter lim="400000"/>
          </a:ln>
          <a:extLst>
            <a:ext uri="{C572A759-6A51-4108-AA02-DFA0A04FC94B}">
              <ma14:wrappingTextBoxFlag xmlns:ma14="http://schemas.microsoft.com/office/mac/drawingml/2011/main" val="1"/>
            </a:ext>
          </a:extLst>
        </p:spPr>
        <p:txBody>
          <a:bodyPr lIns="45719" rIns="45719"/>
          <a:lstStyle/>
          <a:p>
            <a:pPr/>
            <a:r>
              <a:t>Body Level One</a:t>
            </a:r>
          </a:p>
          <a:p>
            <a:pPr lvl="1"/>
            <a:r>
              <a:t>Body Level Two</a:t>
            </a:r>
          </a:p>
          <a:p>
            <a:pPr lvl="2"/>
            <a:r>
              <a:t>Body Level Three</a:t>
            </a:r>
          </a:p>
          <a:p>
            <a:pPr lvl="3"/>
            <a:r>
              <a:t>Body Level Four</a:t>
            </a:r>
          </a:p>
          <a:p>
            <a:pPr lvl="4"/>
            <a:r>
              <a:t>Body Level Five</a:t>
            </a:r>
          </a:p>
        </p:txBody>
      </p:sp>
      <p:sp>
        <p:nvSpPr>
          <p:cNvPr id="4" name="Slide Number"/>
          <p:cNvSpPr txBox="1"/>
          <p:nvPr>
            <p:ph type="sldNum" sz="quarter" idx="2"/>
          </p:nvPr>
        </p:nvSpPr>
        <p:spPr>
          <a:xfrm>
            <a:off x="8839200" y="9260681"/>
            <a:ext cx="4267200" cy="547688"/>
          </a:xfrm>
          <a:prstGeom prst="rect">
            <a:avLst/>
          </a:prstGeom>
          <a:ln w="12700">
            <a:miter lim="400000"/>
          </a:ln>
        </p:spPr>
        <p:txBody>
          <a:bodyPr wrap="none" lIns="45719" rIns="45719" anchor="ctr">
            <a:spAutoFit/>
          </a:bodyPr>
          <a:lstStyle>
            <a:lvl1pPr algn="r">
              <a:defRPr sz="1200"/>
            </a:lvl1pPr>
          </a:lstStyle>
          <a:p>
            <a:pPr/>
            <a:fld id="{86CB4B4D-7CA3-9044-876B-883B54F8677D}" type="slidenum"/>
          </a:p>
        </p:txBody>
      </p:sp>
    </p:spTree>
  </p:cSld>
  <p:clrMap bg1="lt1" tx1="dk1" bg2="lt2" tx2="dk2" accent1="accent1" accent2="accent2" accent3="accent3" accent4="accent4" accent5="accent5" accent6="accent6" hlink="hlink" folHlink="folHlink"/>
  <p:sldLayoutIdLst>
    <p:sldLayoutId id="2147483649" r:id="rId2"/>
  </p:sldLayoutIdLst>
  <p:transition xmlns:p14="http://schemas.microsoft.com/office/powerpoint/2010/main" spd="med" advClick="1"/>
  <p:txStyles>
    <p:titleStyle>
      <a:lvl1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1pPr>
      <a:lvl2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2pPr>
      <a:lvl3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3pPr>
      <a:lvl4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4pPr>
      <a:lvl5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5pPr>
      <a:lvl6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6pPr>
      <a:lvl7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7pPr>
      <a:lvl8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8pPr>
      <a:lvl9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9pPr>
    </p:titleStyle>
    <p:bodyStyle>
      <a:lvl1pPr marL="342900" marR="0" indent="-34290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j-lt"/>
          <a:ea typeface="+mj-ea"/>
          <a:cs typeface="+mj-cs"/>
          <a:sym typeface="Calibri"/>
        </a:defRPr>
      </a:lvl1pPr>
      <a:lvl2pPr marL="783771" marR="0" indent="-326571"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j-lt"/>
          <a:ea typeface="+mj-ea"/>
          <a:cs typeface="+mj-cs"/>
          <a:sym typeface="Calibri"/>
        </a:defRPr>
      </a:lvl2pPr>
      <a:lvl3pPr marL="1219200" marR="0" indent="-30480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j-lt"/>
          <a:ea typeface="+mj-ea"/>
          <a:cs typeface="+mj-cs"/>
          <a:sym typeface="Calibri"/>
        </a:defRPr>
      </a:lvl3pPr>
      <a:lvl4pPr marL="1737360" marR="0" indent="-36576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j-lt"/>
          <a:ea typeface="+mj-ea"/>
          <a:cs typeface="+mj-cs"/>
          <a:sym typeface="Calibri"/>
        </a:defRPr>
      </a:lvl4pPr>
      <a:lvl5pPr marL="2194560" marR="0" indent="-36576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j-lt"/>
          <a:ea typeface="+mj-ea"/>
          <a:cs typeface="+mj-cs"/>
          <a:sym typeface="Calibri"/>
        </a:defRPr>
      </a:lvl5pPr>
      <a:lvl6pPr marL="2651760" marR="0" indent="-36576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j-lt"/>
          <a:ea typeface="+mj-ea"/>
          <a:cs typeface="+mj-cs"/>
          <a:sym typeface="Calibri"/>
        </a:defRPr>
      </a:lvl6pPr>
      <a:lvl7pPr marL="3108960" marR="0" indent="-36576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j-lt"/>
          <a:ea typeface="+mj-ea"/>
          <a:cs typeface="+mj-cs"/>
          <a:sym typeface="Calibri"/>
        </a:defRPr>
      </a:lvl7pPr>
      <a:lvl8pPr marL="3566159" marR="0" indent="-365759"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j-lt"/>
          <a:ea typeface="+mj-ea"/>
          <a:cs typeface="+mj-cs"/>
          <a:sym typeface="Calibri"/>
        </a:defRPr>
      </a:lvl8pPr>
      <a:lvl9pPr marL="4023359" marR="0" indent="-365759"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j-lt"/>
          <a:ea typeface="+mj-ea"/>
          <a:cs typeface="+mj-cs"/>
          <a:sym typeface="Calibri"/>
        </a:defRPr>
      </a:lvl9pPr>
    </p:bodyStyle>
    <p:otherStyle>
      <a:lvl1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1pPr>
      <a:lvl2pPr marL="0" marR="0" indent="45720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2pPr>
      <a:lvl3pPr marL="0" marR="0" indent="91440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3pPr>
      <a:lvl4pPr marL="0" marR="0" indent="137160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4pPr>
      <a:lvl5pPr marL="0" marR="0" indent="182880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5pPr>
      <a:lvl6pPr marL="0" marR="0" indent="228600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6pPr>
      <a:lvl7pPr marL="0" marR="0" indent="274320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7pPr>
      <a:lvl8pPr marL="0" marR="0" indent="320040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8pPr>
      <a:lvl9pPr marL="0" marR="0" indent="365760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9pPr>
    </p:otherStyle>
  </p:txStyles>
</p:sldMaster>
</file>

<file path=ppt/slides/_rels/slide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3.png"/></Relationships>

</file>

<file path=ppt/slides/_rels/slide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4.png"/></Relationships>

</file>

<file path=ppt/slides/_rels/slide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5.png"/></Relationships>

</file>

<file path=ppt/slides/_rels/slide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6.png"/></Relationships>

</file>

<file path=ppt/slides/_rels/slide1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7.png"/></Relationships>

</file>

<file path=ppt/slides/_rels/slide1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8.png"/></Relationships>

</file>

<file path=ppt/slides/_rels/slide1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AF8ED"/>
        </a:solidFill>
      </p:bgPr>
    </p:bg>
    <p:spTree>
      <p:nvGrpSpPr>
        <p:cNvPr id="1" name=""/>
        <p:cNvGrpSpPr/>
        <p:nvPr/>
      </p:nvGrpSpPr>
      <p:grpSpPr>
        <a:xfrm>
          <a:off x="0" y="0"/>
          <a:ext cx="0" cy="0"/>
          <a:chOff x="0" y="0"/>
          <a:chExt cx="0" cy="0"/>
        </a:xfrm>
      </p:grpSpPr>
      <p:sp>
        <p:nvSpPr>
          <p:cNvPr id="20" name="Shape 0"/>
          <p:cNvSpPr/>
          <p:nvPr/>
        </p:nvSpPr>
        <p:spPr>
          <a:xfrm>
            <a:off x="0" y="0"/>
            <a:ext cx="18288000" cy="10287000"/>
          </a:xfrm>
          <a:prstGeom prst="rect">
            <a:avLst/>
          </a:prstGeom>
          <a:solidFill>
            <a:srgbClr val="DBCBBB">
              <a:alpha val="55000"/>
            </a:srgbClr>
          </a:solidFill>
          <a:ln w="12700">
            <a:miter lim="400000"/>
          </a:ln>
        </p:spPr>
        <p:txBody>
          <a:bodyPr lIns="45719" rIns="45719"/>
          <a:lstStyle/>
          <a:p>
            <a:pPr/>
          </a:p>
        </p:txBody>
      </p:sp>
      <p:sp>
        <p:nvSpPr>
          <p:cNvPr id="21" name="Text 1"/>
          <p:cNvSpPr txBox="1"/>
          <p:nvPr/>
        </p:nvSpPr>
        <p:spPr>
          <a:xfrm>
            <a:off x="1047750" y="1904553"/>
            <a:ext cx="8600655" cy="314326"/>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pc="500">
                <a:solidFill>
                  <a:srgbClr val="7D4C3D"/>
                </a:solidFill>
                <a:latin typeface="Arial"/>
                <a:ea typeface="Arial"/>
                <a:cs typeface="Arial"/>
                <a:sym typeface="Arial"/>
              </a:defRPr>
            </a:lvl1pPr>
          </a:lstStyle>
          <a:p>
            <a:pPr/>
            <a:r>
              <a:t>DATA 202 · FINAL PRESENTATION</a:t>
            </a:r>
          </a:p>
        </p:txBody>
      </p:sp>
      <p:sp>
        <p:nvSpPr>
          <p:cNvPr id="22" name="Text 2"/>
          <p:cNvSpPr txBox="1"/>
          <p:nvPr/>
        </p:nvSpPr>
        <p:spPr>
          <a:xfrm>
            <a:off x="1047750" y="3021359"/>
            <a:ext cx="8600655" cy="23558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p>
            <a:pPr defTabSz="804672">
              <a:lnSpc>
                <a:spcPct val="104000"/>
              </a:lnSpc>
              <a:defRPr b="1" spc="-88" sz="5104">
                <a:solidFill>
                  <a:srgbClr val="5D3527"/>
                </a:solidFill>
                <a:latin typeface="Arial"/>
                <a:ea typeface="Arial"/>
                <a:cs typeface="Arial"/>
                <a:sym typeface="Arial"/>
              </a:defRPr>
            </a:pPr>
            <a:r>
              <a:t>Statistical Analysis of Customer Spending at </a:t>
            </a:r>
            <a:r>
              <a:rPr>
                <a:solidFill>
                  <a:srgbClr val="7D4C3D"/>
                </a:solidFill>
              </a:rPr>
              <a:t>Starbucks</a:t>
            </a:r>
            <a:r>
              <a:t>.</a:t>
            </a:r>
          </a:p>
        </p:txBody>
      </p:sp>
      <p:sp>
        <p:nvSpPr>
          <p:cNvPr id="23" name="Text 3"/>
          <p:cNvSpPr txBox="1"/>
          <p:nvPr/>
        </p:nvSpPr>
        <p:spPr>
          <a:xfrm>
            <a:off x="1047750" y="6293941"/>
            <a:ext cx="6278880" cy="860823"/>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96111">
              <a:lnSpc>
                <a:spcPct val="135000"/>
              </a:lnSpc>
              <a:defRPr i="1" sz="2352">
                <a:solidFill>
                  <a:srgbClr val="7D4C3D"/>
                </a:solidFill>
                <a:latin typeface="Arial"/>
                <a:ea typeface="Arial"/>
                <a:cs typeface="Arial"/>
                <a:sym typeface="Arial"/>
              </a:defRPr>
            </a:lvl1pPr>
          </a:lstStyle>
          <a:p>
            <a:pPr/>
            <a:r>
              <a:t>"Every great solution starts with a good cup of coffee."</a:t>
            </a:r>
          </a:p>
        </p:txBody>
      </p:sp>
      <p:sp>
        <p:nvSpPr>
          <p:cNvPr id="24" name="Shape 4"/>
          <p:cNvSpPr/>
          <p:nvPr/>
        </p:nvSpPr>
        <p:spPr>
          <a:xfrm>
            <a:off x="1047750" y="7650063"/>
            <a:ext cx="762000" cy="19051"/>
          </a:xfrm>
          <a:prstGeom prst="rect">
            <a:avLst/>
          </a:prstGeom>
          <a:solidFill>
            <a:srgbClr val="7D4C3D"/>
          </a:solidFill>
          <a:ln w="12700">
            <a:miter lim="400000"/>
          </a:ln>
        </p:spPr>
        <p:txBody>
          <a:bodyPr lIns="45719" rIns="45719"/>
          <a:lstStyle/>
          <a:p>
            <a:pPr/>
          </a:p>
        </p:txBody>
      </p:sp>
      <p:sp>
        <p:nvSpPr>
          <p:cNvPr id="25" name="Text 5"/>
          <p:cNvSpPr txBox="1"/>
          <p:nvPr/>
        </p:nvSpPr>
        <p:spPr>
          <a:xfrm>
            <a:off x="1047750" y="7973913"/>
            <a:ext cx="8600655" cy="403772"/>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60000"/>
              </a:lnSpc>
              <a:defRPr spc="500">
                <a:solidFill>
                  <a:srgbClr val="7D4C3D">
                    <a:alpha val="70000"/>
                  </a:srgbClr>
                </a:solidFill>
                <a:latin typeface="Arial"/>
                <a:ea typeface="Arial"/>
                <a:cs typeface="Arial"/>
                <a:sym typeface="Arial"/>
              </a:defRPr>
            </a:lvl1pPr>
          </a:lstStyle>
          <a:p>
            <a:pPr/>
            <a:r>
              <a:t>PRESENTED BY</a:t>
            </a:r>
          </a:p>
        </p:txBody>
      </p:sp>
      <p:sp>
        <p:nvSpPr>
          <p:cNvPr id="26" name="Text 6"/>
          <p:cNvSpPr txBox="1"/>
          <p:nvPr/>
        </p:nvSpPr>
        <p:spPr>
          <a:xfrm>
            <a:off x="1047749" y="8482458"/>
            <a:ext cx="4395525" cy="32385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ct val="160000"/>
              </a:lnSpc>
              <a:defRPr sz="1900">
                <a:solidFill>
                  <a:srgbClr val="5D3527"/>
                </a:solidFill>
                <a:latin typeface="Arial"/>
                <a:ea typeface="Arial"/>
                <a:cs typeface="Arial"/>
                <a:sym typeface="Arial"/>
              </a:defRPr>
            </a:lvl1pPr>
          </a:lstStyle>
          <a:p>
            <a:pPr/>
            <a:r>
              <a:t>Naman Sudan · Priya Venugopal Nair</a:t>
            </a:r>
          </a:p>
        </p:txBody>
      </p:sp>
      <p:sp>
        <p:nvSpPr>
          <p:cNvPr id="27" name="Text 7"/>
          <p:cNvSpPr txBox="1"/>
          <p:nvPr/>
        </p:nvSpPr>
        <p:spPr>
          <a:xfrm>
            <a:off x="1047749" y="8878638"/>
            <a:ext cx="4901238" cy="32385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ct val="160000"/>
              </a:lnSpc>
              <a:defRPr sz="1900">
                <a:solidFill>
                  <a:srgbClr val="5D3527"/>
                </a:solidFill>
                <a:latin typeface="Arial"/>
                <a:ea typeface="Arial"/>
                <a:cs typeface="Arial"/>
                <a:sym typeface="Arial"/>
              </a:defRPr>
            </a:lvl1pPr>
          </a:lstStyle>
          <a:p>
            <a:pPr/>
            <a:r>
              <a:t>Sanjana Vivek Phalke · Varuna Vyomessh</a:t>
            </a:r>
          </a:p>
        </p:txBody>
      </p:sp>
      <p:sp>
        <p:nvSpPr>
          <p:cNvPr id="28" name="Shape 8"/>
          <p:cNvSpPr/>
          <p:nvPr/>
        </p:nvSpPr>
        <p:spPr>
          <a:xfrm>
            <a:off x="10159900" y="-1"/>
            <a:ext cx="8127950" cy="11131899"/>
          </a:xfrm>
          <a:prstGeom prst="rect">
            <a:avLst/>
          </a:prstGeom>
          <a:solidFill>
            <a:srgbClr val="E8DCCB"/>
          </a:solidFill>
          <a:ln w="12700">
            <a:miter lim="400000"/>
          </a:ln>
        </p:spPr>
        <p:txBody>
          <a:bodyPr lIns="45719" rIns="45719"/>
          <a:lstStyle/>
          <a:p>
            <a:pPr/>
          </a:p>
        </p:txBody>
      </p:sp>
      <p:sp>
        <p:nvSpPr>
          <p:cNvPr id="29" name="Text 9"/>
          <p:cNvSpPr txBox="1"/>
          <p:nvPr/>
        </p:nvSpPr>
        <p:spPr>
          <a:xfrm>
            <a:off x="16530488" y="571500"/>
            <a:ext cx="1262064" cy="350050"/>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86968">
              <a:defRPr sz="2037">
                <a:solidFill>
                  <a:srgbClr val="7D4C3D"/>
                </a:solidFill>
                <a:latin typeface="Arial"/>
                <a:ea typeface="Arial"/>
                <a:cs typeface="Arial"/>
                <a:sym typeface="Arial"/>
              </a:defRPr>
            </a:lvl1pPr>
          </a:lstStyle>
          <a:p>
            <a:pPr/>
            <a:r>
              <a:t>Starbucks</a:t>
            </a:r>
          </a:p>
        </p:txBody>
      </p:sp>
      <p:pic>
        <p:nvPicPr>
          <p:cNvPr id="30" name="Image 0" descr="Image 0"/>
          <p:cNvPicPr>
            <a:picLocks noChangeAspect="1"/>
          </p:cNvPicPr>
          <p:nvPr/>
        </p:nvPicPr>
        <p:blipFill>
          <a:blip r:embed="rId3">
            <a:extLst/>
          </a:blip>
          <a:stretch>
            <a:fillRect/>
          </a:stretch>
        </p:blipFill>
        <p:spPr>
          <a:xfrm>
            <a:off x="11371064" y="1224707"/>
            <a:ext cx="5705476" cy="8682485"/>
          </a:xfrm>
          <a:prstGeom prst="rect">
            <a:avLst/>
          </a:prstGeom>
          <a:ln w="12700">
            <a:miter lim="400000"/>
          </a:ln>
        </p:spPr>
      </p:pic>
      <p:sp>
        <p:nvSpPr>
          <p:cNvPr id="31" name="Text 10"/>
          <p:cNvSpPr txBox="1"/>
          <p:nvPr/>
        </p:nvSpPr>
        <p:spPr>
          <a:xfrm>
            <a:off x="12345292" y="9912697"/>
            <a:ext cx="5532192" cy="313197"/>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68680">
              <a:defRPr spc="475" sz="1710">
                <a:solidFill>
                  <a:srgbClr val="5D3527">
                    <a:alpha val="64999"/>
                  </a:srgbClr>
                </a:solidFill>
                <a:latin typeface="Arial"/>
                <a:ea typeface="Arial"/>
                <a:cs typeface="Arial"/>
                <a:sym typeface="Arial"/>
              </a:defRPr>
            </a:lvl1pPr>
          </a:lstStyle>
          <a:p>
            <a:pPr/>
            <a:r>
              <a:t>FINAL SUBMISSION · MAY 2026</a:t>
            </a:r>
          </a:p>
        </p:txBody>
      </p:sp>
    </p:spTree>
  </p:cSld>
  <p:clrMapOvr>
    <a:masterClrMapping/>
  </p:clrMapOvr>
  <p:transition xmlns:p14="http://schemas.microsoft.com/office/powerpoint/2010/main" spd="med" advClick="1"/>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AF8ED"/>
        </a:solidFill>
      </p:bgPr>
    </p:bg>
    <p:spTree>
      <p:nvGrpSpPr>
        <p:cNvPr id="1" name=""/>
        <p:cNvGrpSpPr/>
        <p:nvPr/>
      </p:nvGrpSpPr>
      <p:grpSpPr>
        <a:xfrm>
          <a:off x="0" y="0"/>
          <a:ext cx="0" cy="0"/>
          <a:chOff x="0" y="0"/>
          <a:chExt cx="0" cy="0"/>
        </a:xfrm>
      </p:grpSpPr>
      <p:sp>
        <p:nvSpPr>
          <p:cNvPr id="35" name="Text 0"/>
          <p:cNvSpPr txBox="1"/>
          <p:nvPr/>
        </p:nvSpPr>
        <p:spPr>
          <a:xfrm>
            <a:off x="1142999" y="1143000"/>
            <a:ext cx="5497548" cy="314325"/>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pc="300">
                <a:solidFill>
                  <a:srgbClr val="7D4C3D">
                    <a:alpha val="70000"/>
                  </a:srgbClr>
                </a:solidFill>
                <a:latin typeface="Arial"/>
                <a:ea typeface="Arial"/>
                <a:cs typeface="Arial"/>
                <a:sym typeface="Arial"/>
              </a:defRPr>
            </a:lvl1pPr>
          </a:lstStyle>
          <a:p>
            <a:pPr/>
            <a:r>
              <a:t>CHAPTER ONE · THE DATASET</a:t>
            </a:r>
          </a:p>
        </p:txBody>
      </p:sp>
      <p:sp>
        <p:nvSpPr>
          <p:cNvPr id="36" name="Text 1"/>
          <p:cNvSpPr txBox="1"/>
          <p:nvPr/>
        </p:nvSpPr>
        <p:spPr>
          <a:xfrm>
            <a:off x="571500" y="1523999"/>
            <a:ext cx="14716125" cy="1305820"/>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04000"/>
              </a:lnSpc>
              <a:defRPr b="1" spc="-100" sz="4800">
                <a:solidFill>
                  <a:srgbClr val="5D3527"/>
                </a:solidFill>
                <a:latin typeface="Arial"/>
                <a:ea typeface="Arial"/>
                <a:cs typeface="Arial"/>
                <a:sym typeface="Arial"/>
              </a:defRPr>
            </a:lvl1pPr>
          </a:lstStyle>
          <a:p>
            <a:pPr/>
            <a:r>
              <a:t>A behavioral map of 100,000 Starbucks orders.</a:t>
            </a:r>
          </a:p>
        </p:txBody>
      </p:sp>
      <p:sp>
        <p:nvSpPr>
          <p:cNvPr id="37" name="Shape 2"/>
          <p:cNvSpPr/>
          <p:nvPr/>
        </p:nvSpPr>
        <p:spPr>
          <a:xfrm>
            <a:off x="571500" y="2944117"/>
            <a:ext cx="762000" cy="19051"/>
          </a:xfrm>
          <a:prstGeom prst="rect">
            <a:avLst/>
          </a:prstGeom>
          <a:solidFill>
            <a:srgbClr val="7D4C3D"/>
          </a:solidFill>
          <a:ln w="12700">
            <a:miter lim="400000"/>
          </a:ln>
        </p:spPr>
        <p:txBody>
          <a:bodyPr lIns="45719" rIns="45719"/>
          <a:lstStyle/>
          <a:p>
            <a:pPr/>
          </a:p>
        </p:txBody>
      </p:sp>
      <p:sp>
        <p:nvSpPr>
          <p:cNvPr id="38" name="Text 3"/>
          <p:cNvSpPr txBox="1"/>
          <p:nvPr/>
        </p:nvSpPr>
        <p:spPr>
          <a:xfrm>
            <a:off x="571500" y="3229867"/>
            <a:ext cx="12753975" cy="390526"/>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i="1" sz="2200">
                <a:solidFill>
                  <a:srgbClr val="7D4C3D"/>
                </a:solidFill>
                <a:latin typeface="Arial"/>
                <a:ea typeface="Arial"/>
                <a:cs typeface="Arial"/>
                <a:sym typeface="Arial"/>
              </a:defRPr>
            </a:lvl1pPr>
          </a:lstStyle>
          <a:p>
            <a:pPr/>
            <a:r>
              <a:t>Why customer spend matters - and what we can ask of this data.</a:t>
            </a:r>
          </a:p>
        </p:txBody>
      </p:sp>
      <p:sp>
        <p:nvSpPr>
          <p:cNvPr id="39" name="Shape 4"/>
          <p:cNvSpPr/>
          <p:nvPr/>
        </p:nvSpPr>
        <p:spPr>
          <a:xfrm>
            <a:off x="571500" y="3963292"/>
            <a:ext cx="4711602" cy="2320232"/>
          </a:xfrm>
          <a:prstGeom prst="roundRect">
            <a:avLst>
              <a:gd name="adj" fmla="val 5747"/>
            </a:avLst>
          </a:prstGeom>
          <a:solidFill>
            <a:srgbClr val="E8DCCB"/>
          </a:solidFill>
          <a:ln>
            <a:solidFill>
              <a:srgbClr val="7D4C3D">
                <a:alpha val="18000"/>
              </a:srgbClr>
            </a:solidFill>
          </a:ln>
        </p:spPr>
        <p:txBody>
          <a:bodyPr lIns="45719" rIns="45719"/>
          <a:lstStyle/>
          <a:p>
            <a:pPr/>
          </a:p>
        </p:txBody>
      </p:sp>
      <p:sp>
        <p:nvSpPr>
          <p:cNvPr id="40" name="Text 5"/>
          <p:cNvSpPr txBox="1"/>
          <p:nvPr/>
        </p:nvSpPr>
        <p:spPr>
          <a:xfrm>
            <a:off x="923924" y="4277617"/>
            <a:ext cx="4126955" cy="6477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04672">
              <a:defRPr spc="-88" sz="4224">
                <a:solidFill>
                  <a:srgbClr val="5D3527"/>
                </a:solidFill>
                <a:latin typeface="Arial"/>
                <a:ea typeface="Arial"/>
                <a:cs typeface="Arial"/>
                <a:sym typeface="Arial"/>
              </a:defRPr>
            </a:lvl1pPr>
          </a:lstStyle>
          <a:p>
            <a:pPr/>
            <a:r>
              <a:t>100,000</a:t>
            </a:r>
          </a:p>
        </p:txBody>
      </p:sp>
      <p:sp>
        <p:nvSpPr>
          <p:cNvPr id="41" name="Text 6"/>
          <p:cNvSpPr txBox="1"/>
          <p:nvPr/>
        </p:nvSpPr>
        <p:spPr>
          <a:xfrm>
            <a:off x="923924" y="5039617"/>
            <a:ext cx="4126955" cy="35808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40000"/>
              </a:lnSpc>
              <a:defRPr>
                <a:solidFill>
                  <a:srgbClr val="7D4C3D"/>
                </a:solidFill>
                <a:latin typeface="Arial"/>
                <a:ea typeface="Arial"/>
                <a:cs typeface="Arial"/>
                <a:sym typeface="Arial"/>
              </a:defRPr>
            </a:lvl1pPr>
          </a:lstStyle>
          <a:p>
            <a:pPr/>
            <a:r>
              <a:t>orders</a:t>
            </a:r>
          </a:p>
        </p:txBody>
      </p:sp>
      <p:sp>
        <p:nvSpPr>
          <p:cNvPr id="42" name="Text 7"/>
          <p:cNvSpPr txBox="1"/>
          <p:nvPr/>
        </p:nvSpPr>
        <p:spPr>
          <a:xfrm>
            <a:off x="923924" y="5435798"/>
            <a:ext cx="4126955" cy="579897"/>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68680">
              <a:defRPr sz="1710">
                <a:solidFill>
                  <a:srgbClr val="7D4C3D">
                    <a:alpha val="75000"/>
                  </a:srgbClr>
                </a:solidFill>
                <a:latin typeface="Arial"/>
                <a:ea typeface="Arial"/>
                <a:cs typeface="Arial"/>
                <a:sym typeface="Arial"/>
              </a:defRPr>
            </a:lvl1pPr>
          </a:lstStyle>
          <a:p>
            <a:pPr/>
            <a:r>
              <a:t>Order-level transactions, no missing values</a:t>
            </a:r>
          </a:p>
        </p:txBody>
      </p:sp>
      <p:sp>
        <p:nvSpPr>
          <p:cNvPr id="43" name="Shape 8"/>
          <p:cNvSpPr/>
          <p:nvPr/>
        </p:nvSpPr>
        <p:spPr>
          <a:xfrm>
            <a:off x="5549801" y="3963292"/>
            <a:ext cx="4711751" cy="2320232"/>
          </a:xfrm>
          <a:prstGeom prst="roundRect">
            <a:avLst>
              <a:gd name="adj" fmla="val 5747"/>
            </a:avLst>
          </a:prstGeom>
          <a:solidFill>
            <a:srgbClr val="E8DCCB"/>
          </a:solidFill>
          <a:ln>
            <a:solidFill>
              <a:srgbClr val="7D4C3D">
                <a:alpha val="18000"/>
              </a:srgbClr>
            </a:solidFill>
          </a:ln>
        </p:spPr>
        <p:txBody>
          <a:bodyPr lIns="45719" rIns="45719"/>
          <a:lstStyle/>
          <a:p>
            <a:pPr/>
          </a:p>
        </p:txBody>
      </p:sp>
      <p:sp>
        <p:nvSpPr>
          <p:cNvPr id="44" name="Text 9"/>
          <p:cNvSpPr txBox="1"/>
          <p:nvPr/>
        </p:nvSpPr>
        <p:spPr>
          <a:xfrm>
            <a:off x="5902226" y="4277617"/>
            <a:ext cx="4127108" cy="6477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04672">
              <a:defRPr spc="-88" sz="4224">
                <a:solidFill>
                  <a:srgbClr val="5D3527"/>
                </a:solidFill>
                <a:latin typeface="Arial"/>
                <a:ea typeface="Arial"/>
                <a:cs typeface="Arial"/>
                <a:sym typeface="Arial"/>
              </a:defRPr>
            </a:lvl1pPr>
          </a:lstStyle>
          <a:p>
            <a:pPr/>
            <a:r>
              <a:t>14,988</a:t>
            </a:r>
          </a:p>
        </p:txBody>
      </p:sp>
      <p:sp>
        <p:nvSpPr>
          <p:cNvPr id="45" name="Text 10"/>
          <p:cNvSpPr txBox="1"/>
          <p:nvPr/>
        </p:nvSpPr>
        <p:spPr>
          <a:xfrm>
            <a:off x="5902226" y="5039617"/>
            <a:ext cx="4127108" cy="35808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40000"/>
              </a:lnSpc>
              <a:defRPr>
                <a:solidFill>
                  <a:srgbClr val="7D4C3D"/>
                </a:solidFill>
                <a:latin typeface="Arial"/>
                <a:ea typeface="Arial"/>
                <a:cs typeface="Arial"/>
                <a:sym typeface="Arial"/>
              </a:defRPr>
            </a:lvl1pPr>
          </a:lstStyle>
          <a:p>
            <a:pPr/>
            <a:r>
              <a:t>unique customers</a:t>
            </a:r>
          </a:p>
        </p:txBody>
      </p:sp>
      <p:sp>
        <p:nvSpPr>
          <p:cNvPr id="46" name="Text 11"/>
          <p:cNvSpPr txBox="1"/>
          <p:nvPr/>
        </p:nvSpPr>
        <p:spPr>
          <a:xfrm>
            <a:off x="5902226" y="5435798"/>
            <a:ext cx="4127108" cy="313197"/>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68680">
              <a:defRPr sz="1710">
                <a:solidFill>
                  <a:srgbClr val="7D4C3D">
                    <a:alpha val="75000"/>
                  </a:srgbClr>
                </a:solidFill>
                <a:latin typeface="Arial"/>
                <a:ea typeface="Arial"/>
                <a:cs typeface="Arial"/>
                <a:sym typeface="Arial"/>
              </a:defRPr>
            </a:lvl1pPr>
          </a:lstStyle>
          <a:p>
            <a:pPr/>
            <a:r>
              <a:t>Repeat-purchase history captured</a:t>
            </a:r>
          </a:p>
        </p:txBody>
      </p:sp>
      <p:sp>
        <p:nvSpPr>
          <p:cNvPr id="47" name="Shape 12"/>
          <p:cNvSpPr/>
          <p:nvPr/>
        </p:nvSpPr>
        <p:spPr>
          <a:xfrm>
            <a:off x="571500" y="6550222"/>
            <a:ext cx="4711602" cy="2320231"/>
          </a:xfrm>
          <a:prstGeom prst="roundRect">
            <a:avLst>
              <a:gd name="adj" fmla="val 5747"/>
            </a:avLst>
          </a:prstGeom>
          <a:solidFill>
            <a:srgbClr val="E8DCCB"/>
          </a:solidFill>
          <a:ln>
            <a:solidFill>
              <a:srgbClr val="7D4C3D">
                <a:alpha val="18000"/>
              </a:srgbClr>
            </a:solidFill>
          </a:ln>
        </p:spPr>
        <p:txBody>
          <a:bodyPr lIns="45719" rIns="45719"/>
          <a:lstStyle/>
          <a:p>
            <a:pPr/>
          </a:p>
        </p:txBody>
      </p:sp>
      <p:sp>
        <p:nvSpPr>
          <p:cNvPr id="48" name="Text 13"/>
          <p:cNvSpPr txBox="1"/>
          <p:nvPr/>
        </p:nvSpPr>
        <p:spPr>
          <a:xfrm>
            <a:off x="923924" y="6864547"/>
            <a:ext cx="4126955" cy="6477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04672">
              <a:defRPr spc="-88" sz="4224">
                <a:solidFill>
                  <a:srgbClr val="5D3527"/>
                </a:solidFill>
                <a:latin typeface="Arial"/>
                <a:ea typeface="Arial"/>
                <a:cs typeface="Arial"/>
                <a:sym typeface="Arial"/>
              </a:defRPr>
            </a:lvl1pPr>
          </a:lstStyle>
          <a:p>
            <a:pPr/>
            <a:r>
              <a:t>500</a:t>
            </a:r>
          </a:p>
        </p:txBody>
      </p:sp>
      <p:sp>
        <p:nvSpPr>
          <p:cNvPr id="49" name="Text 14"/>
          <p:cNvSpPr txBox="1"/>
          <p:nvPr/>
        </p:nvSpPr>
        <p:spPr>
          <a:xfrm>
            <a:off x="923924" y="7626547"/>
            <a:ext cx="4126955" cy="35808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40000"/>
              </a:lnSpc>
              <a:defRPr>
                <a:solidFill>
                  <a:srgbClr val="7D4C3D"/>
                </a:solidFill>
                <a:latin typeface="Arial"/>
                <a:ea typeface="Arial"/>
                <a:cs typeface="Arial"/>
                <a:sym typeface="Arial"/>
              </a:defRPr>
            </a:lvl1pPr>
          </a:lstStyle>
          <a:p>
            <a:pPr/>
            <a:r>
              <a:t>stores</a:t>
            </a:r>
          </a:p>
        </p:txBody>
      </p:sp>
      <p:sp>
        <p:nvSpPr>
          <p:cNvPr id="50" name="Text 15"/>
          <p:cNvSpPr txBox="1"/>
          <p:nvPr/>
        </p:nvSpPr>
        <p:spPr>
          <a:xfrm>
            <a:off x="923924" y="8022728"/>
            <a:ext cx="4126955" cy="31319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68680">
              <a:defRPr sz="1710">
                <a:solidFill>
                  <a:srgbClr val="7D4C3D">
                    <a:alpha val="75000"/>
                  </a:srgbClr>
                </a:solidFill>
                <a:latin typeface="Arial"/>
                <a:ea typeface="Arial"/>
                <a:cs typeface="Arial"/>
                <a:sym typeface="Arial"/>
              </a:defRPr>
            </a:lvl1pPr>
          </a:lstStyle>
          <a:p>
            <a:pPr/>
            <a:r>
              <a:t>Urban, suburban &amp; rural locations</a:t>
            </a:r>
          </a:p>
        </p:txBody>
      </p:sp>
      <p:sp>
        <p:nvSpPr>
          <p:cNvPr id="51" name="Shape 16"/>
          <p:cNvSpPr/>
          <p:nvPr/>
        </p:nvSpPr>
        <p:spPr>
          <a:xfrm>
            <a:off x="5549801" y="6550222"/>
            <a:ext cx="4711751" cy="2320231"/>
          </a:xfrm>
          <a:prstGeom prst="roundRect">
            <a:avLst>
              <a:gd name="adj" fmla="val 5747"/>
            </a:avLst>
          </a:prstGeom>
          <a:solidFill>
            <a:srgbClr val="E8DCCB"/>
          </a:solidFill>
          <a:ln>
            <a:solidFill>
              <a:srgbClr val="7D4C3D">
                <a:alpha val="18000"/>
              </a:srgbClr>
            </a:solidFill>
          </a:ln>
        </p:spPr>
        <p:txBody>
          <a:bodyPr lIns="45719" rIns="45719"/>
          <a:lstStyle/>
          <a:p>
            <a:pPr/>
          </a:p>
        </p:txBody>
      </p:sp>
      <p:sp>
        <p:nvSpPr>
          <p:cNvPr id="52" name="Text 17"/>
          <p:cNvSpPr txBox="1"/>
          <p:nvPr/>
        </p:nvSpPr>
        <p:spPr>
          <a:xfrm>
            <a:off x="5902226" y="6864547"/>
            <a:ext cx="4127108" cy="6477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04672">
              <a:defRPr spc="-88" sz="4224">
                <a:solidFill>
                  <a:srgbClr val="5D3527"/>
                </a:solidFill>
                <a:latin typeface="Arial"/>
                <a:ea typeface="Arial"/>
                <a:cs typeface="Arial"/>
                <a:sym typeface="Arial"/>
              </a:defRPr>
            </a:lvl1pPr>
          </a:lstStyle>
          <a:p>
            <a:pPr/>
            <a:r>
              <a:t>20</a:t>
            </a:r>
          </a:p>
        </p:txBody>
      </p:sp>
      <p:sp>
        <p:nvSpPr>
          <p:cNvPr id="53" name="Text 18"/>
          <p:cNvSpPr txBox="1"/>
          <p:nvPr/>
        </p:nvSpPr>
        <p:spPr>
          <a:xfrm>
            <a:off x="5902226" y="7626547"/>
            <a:ext cx="4127108" cy="35808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40000"/>
              </a:lnSpc>
              <a:defRPr>
                <a:solidFill>
                  <a:srgbClr val="7D4C3D"/>
                </a:solidFill>
                <a:latin typeface="Arial"/>
                <a:ea typeface="Arial"/>
                <a:cs typeface="Arial"/>
                <a:sym typeface="Arial"/>
              </a:defRPr>
            </a:lvl1pPr>
          </a:lstStyle>
          <a:p>
            <a:pPr/>
            <a:r>
              <a:t>variables</a:t>
            </a:r>
          </a:p>
        </p:txBody>
      </p:sp>
      <p:sp>
        <p:nvSpPr>
          <p:cNvPr id="54" name="Text 19"/>
          <p:cNvSpPr txBox="1"/>
          <p:nvPr/>
        </p:nvSpPr>
        <p:spPr>
          <a:xfrm>
            <a:off x="5902226" y="8022728"/>
            <a:ext cx="4127108" cy="57989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68680">
              <a:defRPr sz="1710">
                <a:solidFill>
                  <a:srgbClr val="7D4C3D">
                    <a:alpha val="75000"/>
                  </a:srgbClr>
                </a:solidFill>
                <a:latin typeface="Arial"/>
                <a:ea typeface="Arial"/>
                <a:cs typeface="Arial"/>
                <a:sym typeface="Arial"/>
              </a:defRPr>
            </a:lvl1pPr>
          </a:lstStyle>
          <a:p>
            <a:pPr/>
            <a:r>
              <a:t>Channel, cart, customizations, satisfaction…</a:t>
            </a:r>
          </a:p>
        </p:txBody>
      </p:sp>
      <p:sp>
        <p:nvSpPr>
          <p:cNvPr id="55" name="Shape 20"/>
          <p:cNvSpPr/>
          <p:nvPr/>
        </p:nvSpPr>
        <p:spPr>
          <a:xfrm>
            <a:off x="10794949" y="4039492"/>
            <a:ext cx="3054103" cy="390526"/>
          </a:xfrm>
          <a:prstGeom prst="roundRect">
            <a:avLst>
              <a:gd name="adj" fmla="val 50000"/>
            </a:avLst>
          </a:prstGeom>
          <a:solidFill>
            <a:srgbClr val="7D4C3D"/>
          </a:solidFill>
          <a:ln w="12700">
            <a:miter lim="400000"/>
          </a:ln>
        </p:spPr>
        <p:txBody>
          <a:bodyPr lIns="45719" rIns="45719"/>
          <a:lstStyle/>
          <a:p>
            <a:pPr/>
          </a:p>
        </p:txBody>
      </p:sp>
      <p:sp>
        <p:nvSpPr>
          <p:cNvPr id="56" name="Text 21"/>
          <p:cNvSpPr txBox="1"/>
          <p:nvPr/>
        </p:nvSpPr>
        <p:spPr>
          <a:xfrm>
            <a:off x="10947349" y="4096642"/>
            <a:ext cx="2840926" cy="314326"/>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b="1" spc="200">
                <a:solidFill>
                  <a:srgbClr val="FAF8ED"/>
                </a:solidFill>
                <a:latin typeface="Arial"/>
                <a:ea typeface="Arial"/>
                <a:cs typeface="Arial"/>
                <a:sym typeface="Arial"/>
              </a:defRPr>
            </a:lvl1pPr>
          </a:lstStyle>
          <a:p>
            <a:pPr/>
            <a:r>
              <a:t>WHY THIS MATTERS</a:t>
            </a:r>
          </a:p>
        </p:txBody>
      </p:sp>
      <p:sp>
        <p:nvSpPr>
          <p:cNvPr id="57" name="Text 22"/>
          <p:cNvSpPr txBox="1"/>
          <p:nvPr/>
        </p:nvSpPr>
        <p:spPr>
          <a:xfrm>
            <a:off x="10794949" y="4658617"/>
            <a:ext cx="7129044" cy="805756"/>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55000"/>
              </a:lnSpc>
              <a:defRPr sz="1900">
                <a:solidFill>
                  <a:srgbClr val="3A2A22"/>
                </a:solidFill>
                <a:latin typeface="Arial"/>
                <a:ea typeface="Arial"/>
                <a:cs typeface="Arial"/>
                <a:sym typeface="Arial"/>
              </a:defRPr>
            </a:lvl1pPr>
          </a:lstStyle>
          <a:p>
            <a:pPr/>
            <a:r>
              <a:t>Spend per order is the single revenue lever that ties together channel strategy, loyalty design, and the in-store experience.</a:t>
            </a:r>
          </a:p>
        </p:txBody>
      </p:sp>
      <p:sp>
        <p:nvSpPr>
          <p:cNvPr id="58" name="Text 23"/>
          <p:cNvSpPr txBox="1"/>
          <p:nvPr/>
        </p:nvSpPr>
        <p:spPr>
          <a:xfrm>
            <a:off x="10794949" y="5673923"/>
            <a:ext cx="7129044" cy="1199109"/>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p>
            <a:pPr>
              <a:lnSpc>
                <a:spcPct val="155000"/>
              </a:lnSpc>
              <a:defRPr sz="1900">
                <a:solidFill>
                  <a:srgbClr val="3A2A22"/>
                </a:solidFill>
                <a:latin typeface="Arial"/>
                <a:ea typeface="Arial"/>
                <a:cs typeface="Arial"/>
                <a:sym typeface="Arial"/>
              </a:defRPr>
            </a:pPr>
            <a:r>
              <a:t>With zero missing values and twenty rich behavioral variables, this dataset lets us go beyond averages to ask what actually </a:t>
            </a:r>
            <a:r>
              <a:rPr i="1">
                <a:solidFill>
                  <a:srgbClr val="7D4C3D"/>
                </a:solidFill>
              </a:rPr>
              <a:t>drives </a:t>
            </a:r>
            <a:r>
              <a:t>a higher ticket.</a:t>
            </a:r>
          </a:p>
        </p:txBody>
      </p:sp>
      <p:sp>
        <p:nvSpPr>
          <p:cNvPr id="59" name="Text 24"/>
          <p:cNvSpPr txBox="1"/>
          <p:nvPr/>
        </p:nvSpPr>
        <p:spPr>
          <a:xfrm>
            <a:off x="16570672" y="9572625"/>
            <a:ext cx="1222029" cy="333375"/>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z="1900">
                <a:solidFill>
                  <a:srgbClr val="7D4C3D">
                    <a:alpha val="85000"/>
                  </a:srgbClr>
                </a:solidFill>
                <a:latin typeface="Arial"/>
                <a:ea typeface="Arial"/>
                <a:cs typeface="Arial"/>
                <a:sym typeface="Arial"/>
              </a:defRPr>
            </a:lvl1pPr>
          </a:lstStyle>
          <a:p>
            <a:pPr/>
            <a:r>
              <a:t>Starbucks</a:t>
            </a:r>
          </a:p>
        </p:txBody>
      </p:sp>
      <p:sp>
        <p:nvSpPr>
          <p:cNvPr id="60" name="Text 25"/>
          <p:cNvSpPr txBox="1"/>
          <p:nvPr/>
        </p:nvSpPr>
        <p:spPr>
          <a:xfrm>
            <a:off x="571500" y="9591675"/>
            <a:ext cx="1097905" cy="314325"/>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pc="300">
                <a:solidFill>
                  <a:srgbClr val="7D4C3D">
                    <a:alpha val="55000"/>
                  </a:srgbClr>
                </a:solidFill>
                <a:latin typeface="Arial"/>
                <a:ea typeface="Arial"/>
                <a:cs typeface="Arial"/>
                <a:sym typeface="Arial"/>
              </a:defRPr>
            </a:lvl1pPr>
          </a:lstStyle>
          <a:p>
            <a:pPr/>
            <a:r>
              <a:t>02 / 16</a:t>
            </a:r>
          </a:p>
        </p:txBody>
      </p:sp>
    </p:spTree>
  </p:cSld>
  <p:clrMapOvr>
    <a:masterClrMapping/>
  </p:clrMapOvr>
  <p:transition xmlns:p14="http://schemas.microsoft.com/office/powerpoint/2010/main" spd="med" advClick="1"/>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DBCBBB"/>
        </a:solidFill>
      </p:bgPr>
    </p:bg>
    <p:spTree>
      <p:nvGrpSpPr>
        <p:cNvPr id="1" name=""/>
        <p:cNvGrpSpPr/>
        <p:nvPr/>
      </p:nvGrpSpPr>
      <p:grpSpPr>
        <a:xfrm>
          <a:off x="0" y="0"/>
          <a:ext cx="0" cy="0"/>
          <a:chOff x="0" y="0"/>
          <a:chExt cx="0" cy="0"/>
        </a:xfrm>
      </p:grpSpPr>
      <p:sp>
        <p:nvSpPr>
          <p:cNvPr id="64" name="Text 0"/>
          <p:cNvSpPr txBox="1"/>
          <p:nvPr/>
        </p:nvSpPr>
        <p:spPr>
          <a:xfrm>
            <a:off x="1143000" y="1143000"/>
            <a:ext cx="5786810" cy="314325"/>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pc="300">
                <a:solidFill>
                  <a:srgbClr val="5D3527">
                    <a:alpha val="70000"/>
                  </a:srgbClr>
                </a:solidFill>
                <a:latin typeface="Arial"/>
                <a:ea typeface="Arial"/>
                <a:cs typeface="Arial"/>
                <a:sym typeface="Arial"/>
              </a:defRPr>
            </a:lvl1pPr>
          </a:lstStyle>
          <a:p>
            <a:pPr/>
            <a:r>
              <a:t>CHAPTER TWO · THE QUESTION</a:t>
            </a:r>
          </a:p>
        </p:txBody>
      </p:sp>
      <p:sp>
        <p:nvSpPr>
          <p:cNvPr id="65" name="Text 1"/>
          <p:cNvSpPr txBox="1"/>
          <p:nvPr/>
        </p:nvSpPr>
        <p:spPr>
          <a:xfrm>
            <a:off x="571500" y="1523999"/>
            <a:ext cx="14716125" cy="1305820"/>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905255">
              <a:lnSpc>
                <a:spcPct val="104000"/>
              </a:lnSpc>
              <a:defRPr b="1" spc="-99" sz="4752">
                <a:solidFill>
                  <a:srgbClr val="5D3527"/>
                </a:solidFill>
                <a:latin typeface="Arial"/>
                <a:ea typeface="Arial"/>
                <a:cs typeface="Arial"/>
                <a:sym typeface="Arial"/>
              </a:defRPr>
            </a:lvl1pPr>
          </a:lstStyle>
          <a:p>
            <a:pPr/>
            <a:r>
              <a:t>What factors drive customer spending at Starbucks?</a:t>
            </a:r>
          </a:p>
        </p:txBody>
      </p:sp>
      <p:sp>
        <p:nvSpPr>
          <p:cNvPr id="66" name="Shape 2"/>
          <p:cNvSpPr/>
          <p:nvPr/>
        </p:nvSpPr>
        <p:spPr>
          <a:xfrm>
            <a:off x="571500" y="2944117"/>
            <a:ext cx="762000" cy="19051"/>
          </a:xfrm>
          <a:prstGeom prst="rect">
            <a:avLst/>
          </a:prstGeom>
          <a:solidFill>
            <a:srgbClr val="7D4C3D"/>
          </a:solidFill>
          <a:ln w="12700">
            <a:miter lim="400000"/>
          </a:ln>
        </p:spPr>
        <p:txBody>
          <a:bodyPr lIns="45719" rIns="45719"/>
          <a:lstStyle/>
          <a:p>
            <a:pPr/>
          </a:p>
        </p:txBody>
      </p:sp>
      <p:sp>
        <p:nvSpPr>
          <p:cNvPr id="67" name="Text 3"/>
          <p:cNvSpPr txBox="1"/>
          <p:nvPr/>
        </p:nvSpPr>
        <p:spPr>
          <a:xfrm>
            <a:off x="571500" y="3229867"/>
            <a:ext cx="12753975" cy="390526"/>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i="1" sz="2200">
                <a:solidFill>
                  <a:srgbClr val="7D4C3D"/>
                </a:solidFill>
                <a:latin typeface="Arial"/>
                <a:ea typeface="Arial"/>
                <a:cs typeface="Arial"/>
                <a:sym typeface="Arial"/>
              </a:defRPr>
            </a:lvl1pPr>
          </a:lstStyle>
          <a:p>
            <a:pPr/>
            <a:r>
              <a:t>A central question, broken into five DATA 202 lenses.</a:t>
            </a:r>
          </a:p>
        </p:txBody>
      </p:sp>
      <p:sp>
        <p:nvSpPr>
          <p:cNvPr id="68" name="Text 4"/>
          <p:cNvSpPr txBox="1"/>
          <p:nvPr/>
        </p:nvSpPr>
        <p:spPr>
          <a:xfrm>
            <a:off x="1276349" y="4115692"/>
            <a:ext cx="7711252" cy="7239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p>
            <a:pPr>
              <a:lnSpc>
                <a:spcPct val="150000"/>
              </a:lnSpc>
              <a:defRPr b="1">
                <a:solidFill>
                  <a:srgbClr val="5D3527"/>
                </a:solidFill>
                <a:latin typeface="Arial"/>
                <a:ea typeface="Arial"/>
                <a:cs typeface="Arial"/>
                <a:sym typeface="Arial"/>
              </a:defRPr>
            </a:pPr>
            <a:r>
              <a:t>Which segments spend more? </a:t>
            </a:r>
            <a:r>
              <a:rPr b="0">
                <a:solidFill>
                  <a:srgbClr val="3A2A22"/>
                </a:solidFill>
              </a:rPr>
              <a:t>Channel, rewards, age, store type.</a:t>
            </a:r>
          </a:p>
        </p:txBody>
      </p:sp>
      <p:sp>
        <p:nvSpPr>
          <p:cNvPr id="69" name="Text 5"/>
          <p:cNvSpPr txBox="1"/>
          <p:nvPr/>
        </p:nvSpPr>
        <p:spPr>
          <a:xfrm>
            <a:off x="10229849" y="4115692"/>
            <a:ext cx="7711252" cy="7239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p>
            <a:pPr>
              <a:lnSpc>
                <a:spcPct val="150000"/>
              </a:lnSpc>
              <a:defRPr b="1">
                <a:solidFill>
                  <a:srgbClr val="5D3527"/>
                </a:solidFill>
                <a:latin typeface="Arial"/>
                <a:ea typeface="Arial"/>
                <a:cs typeface="Arial"/>
                <a:sym typeface="Arial"/>
              </a:defRPr>
            </a:pPr>
            <a:r>
              <a:t>How do cart size and customizations relate to spend? </a:t>
            </a:r>
            <a:r>
              <a:rPr b="0">
                <a:solidFill>
                  <a:srgbClr val="3A2A22"/>
                </a:solidFill>
              </a:rPr>
              <a:t>Correlation &amp; covariance.</a:t>
            </a:r>
          </a:p>
        </p:txBody>
      </p:sp>
      <p:sp>
        <p:nvSpPr>
          <p:cNvPr id="70" name="Text 6"/>
          <p:cNvSpPr txBox="1"/>
          <p:nvPr/>
        </p:nvSpPr>
        <p:spPr>
          <a:xfrm>
            <a:off x="1276349" y="5315842"/>
            <a:ext cx="7711252" cy="7239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p>
            <a:pPr>
              <a:lnSpc>
                <a:spcPct val="150000"/>
              </a:lnSpc>
              <a:defRPr b="1">
                <a:solidFill>
                  <a:srgbClr val="5D3527"/>
                </a:solidFill>
                <a:latin typeface="Arial"/>
                <a:ea typeface="Arial"/>
                <a:cs typeface="Arial"/>
                <a:sym typeface="Arial"/>
              </a:defRPr>
            </a:pPr>
            <a:r>
              <a:t>Are Mobile and Rewards differences statistically real? </a:t>
            </a:r>
            <a:r>
              <a:rPr b="0">
                <a:solidFill>
                  <a:srgbClr val="3A2A22"/>
                </a:solidFill>
              </a:rPr>
              <a:t>Two-sample &amp; paired tests.</a:t>
            </a:r>
          </a:p>
        </p:txBody>
      </p:sp>
      <p:sp>
        <p:nvSpPr>
          <p:cNvPr id="71" name="Text 7"/>
          <p:cNvSpPr txBox="1"/>
          <p:nvPr/>
        </p:nvSpPr>
        <p:spPr>
          <a:xfrm>
            <a:off x="10229849" y="5315842"/>
            <a:ext cx="7711252" cy="7239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p>
            <a:pPr>
              <a:lnSpc>
                <a:spcPct val="150000"/>
              </a:lnSpc>
              <a:defRPr b="1">
                <a:solidFill>
                  <a:srgbClr val="5D3527"/>
                </a:solidFill>
                <a:latin typeface="Arial"/>
                <a:ea typeface="Arial"/>
                <a:cs typeface="Arial"/>
                <a:sym typeface="Arial"/>
              </a:defRPr>
            </a:pPr>
            <a:r>
              <a:t>How likely are high-spender orders - and who places them? </a:t>
            </a:r>
            <a:r>
              <a:rPr b="0">
                <a:solidFill>
                  <a:srgbClr val="3A2A22"/>
                </a:solidFill>
              </a:rPr>
              <a:t>Probability &amp; Bayes.</a:t>
            </a:r>
          </a:p>
        </p:txBody>
      </p:sp>
      <p:sp>
        <p:nvSpPr>
          <p:cNvPr id="72" name="Text 8"/>
          <p:cNvSpPr txBox="1"/>
          <p:nvPr/>
        </p:nvSpPr>
        <p:spPr>
          <a:xfrm>
            <a:off x="1276349" y="6515992"/>
            <a:ext cx="7711252" cy="7239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p>
            <a:pPr>
              <a:lnSpc>
                <a:spcPct val="150000"/>
              </a:lnSpc>
              <a:defRPr b="1">
                <a:solidFill>
                  <a:srgbClr val="5D3527"/>
                </a:solidFill>
                <a:latin typeface="Arial"/>
                <a:ea typeface="Arial"/>
                <a:cs typeface="Arial"/>
                <a:sym typeface="Arial"/>
              </a:defRPr>
            </a:pPr>
            <a:r>
              <a:t>Can linear algebra and optimization model spend? </a:t>
            </a:r>
            <a:r>
              <a:rPr b="0">
                <a:solidFill>
                  <a:srgbClr val="3A2A22"/>
                </a:solidFill>
              </a:rPr>
              <a:t>Normal equations &amp; gradient descent.</a:t>
            </a:r>
          </a:p>
        </p:txBody>
      </p:sp>
      <p:sp>
        <p:nvSpPr>
          <p:cNvPr id="73" name="Text 9"/>
          <p:cNvSpPr txBox="1"/>
          <p:nvPr/>
        </p:nvSpPr>
        <p:spPr>
          <a:xfrm>
            <a:off x="16570672" y="9572625"/>
            <a:ext cx="1222029" cy="333375"/>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z="1900">
                <a:solidFill>
                  <a:srgbClr val="5D3527">
                    <a:alpha val="85000"/>
                  </a:srgbClr>
                </a:solidFill>
                <a:latin typeface="Arial"/>
                <a:ea typeface="Arial"/>
                <a:cs typeface="Arial"/>
                <a:sym typeface="Arial"/>
              </a:defRPr>
            </a:lvl1pPr>
          </a:lstStyle>
          <a:p>
            <a:pPr/>
            <a:r>
              <a:t>Starbucks</a:t>
            </a:r>
          </a:p>
        </p:txBody>
      </p:sp>
      <p:sp>
        <p:nvSpPr>
          <p:cNvPr id="74" name="Text 10"/>
          <p:cNvSpPr txBox="1"/>
          <p:nvPr/>
        </p:nvSpPr>
        <p:spPr>
          <a:xfrm>
            <a:off x="571499" y="9591675"/>
            <a:ext cx="1100288" cy="314325"/>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pc="300">
                <a:solidFill>
                  <a:srgbClr val="7D4C3D">
                    <a:alpha val="55000"/>
                  </a:srgbClr>
                </a:solidFill>
                <a:latin typeface="Arial"/>
                <a:ea typeface="Arial"/>
                <a:cs typeface="Arial"/>
                <a:sym typeface="Arial"/>
              </a:defRPr>
            </a:lvl1pPr>
          </a:lstStyle>
          <a:p>
            <a:pPr/>
            <a:r>
              <a:t>03 / 16</a:t>
            </a:r>
          </a:p>
        </p:txBody>
      </p:sp>
    </p:spTree>
  </p:cSld>
  <p:clrMapOvr>
    <a:masterClrMapping/>
  </p:clrMapOvr>
  <p:transition xmlns:p14="http://schemas.microsoft.com/office/powerpoint/2010/main" spd="med" advClick="1"/>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AF8ED"/>
        </a:solidFill>
      </p:bgPr>
    </p:bg>
    <p:spTree>
      <p:nvGrpSpPr>
        <p:cNvPr id="1" name=""/>
        <p:cNvGrpSpPr/>
        <p:nvPr/>
      </p:nvGrpSpPr>
      <p:grpSpPr>
        <a:xfrm>
          <a:off x="0" y="0"/>
          <a:ext cx="0" cy="0"/>
          <a:chOff x="0" y="0"/>
          <a:chExt cx="0" cy="0"/>
        </a:xfrm>
      </p:grpSpPr>
      <p:sp>
        <p:nvSpPr>
          <p:cNvPr id="78" name="Text 0"/>
          <p:cNvSpPr txBox="1"/>
          <p:nvPr/>
        </p:nvSpPr>
        <p:spPr>
          <a:xfrm>
            <a:off x="1142999" y="1143000"/>
            <a:ext cx="6848365" cy="314325"/>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pc="300">
                <a:solidFill>
                  <a:srgbClr val="7D4C3D">
                    <a:alpha val="70000"/>
                  </a:srgbClr>
                </a:solidFill>
                <a:latin typeface="Arial"/>
                <a:ea typeface="Arial"/>
                <a:cs typeface="Arial"/>
                <a:sym typeface="Arial"/>
              </a:defRPr>
            </a:lvl1pPr>
          </a:lstStyle>
          <a:p>
            <a:pPr/>
            <a:r>
              <a:t>CHAPTER THREE · DATA EXPLORATION</a:t>
            </a:r>
          </a:p>
        </p:txBody>
      </p:sp>
      <p:sp>
        <p:nvSpPr>
          <p:cNvPr id="79" name="Text 1"/>
          <p:cNvSpPr txBox="1"/>
          <p:nvPr/>
        </p:nvSpPr>
        <p:spPr>
          <a:xfrm>
            <a:off x="571500" y="1523999"/>
            <a:ext cx="14716125" cy="67196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50391">
              <a:lnSpc>
                <a:spcPct val="104000"/>
              </a:lnSpc>
              <a:defRPr b="1" spc="-93" sz="4464">
                <a:solidFill>
                  <a:srgbClr val="5D3527"/>
                </a:solidFill>
                <a:latin typeface="Arial"/>
                <a:ea typeface="Arial"/>
                <a:cs typeface="Arial"/>
                <a:sym typeface="Arial"/>
              </a:defRPr>
            </a:lvl1pPr>
          </a:lstStyle>
          <a:p>
            <a:pPr/>
            <a:r>
              <a:t>The shape of an average order.</a:t>
            </a:r>
          </a:p>
        </p:txBody>
      </p:sp>
      <p:sp>
        <p:nvSpPr>
          <p:cNvPr id="80" name="Shape 2"/>
          <p:cNvSpPr/>
          <p:nvPr/>
        </p:nvSpPr>
        <p:spPr>
          <a:xfrm>
            <a:off x="571500" y="2310258"/>
            <a:ext cx="762000" cy="19051"/>
          </a:xfrm>
          <a:prstGeom prst="rect">
            <a:avLst/>
          </a:prstGeom>
          <a:solidFill>
            <a:srgbClr val="7D4C3D"/>
          </a:solidFill>
          <a:ln w="12700">
            <a:miter lim="400000"/>
          </a:ln>
        </p:spPr>
        <p:txBody>
          <a:bodyPr lIns="45719" rIns="45719"/>
          <a:lstStyle/>
          <a:p>
            <a:pPr/>
          </a:p>
        </p:txBody>
      </p:sp>
      <p:sp>
        <p:nvSpPr>
          <p:cNvPr id="81" name="Shape 3"/>
          <p:cNvSpPr/>
          <p:nvPr/>
        </p:nvSpPr>
        <p:spPr>
          <a:xfrm>
            <a:off x="571500" y="3223766"/>
            <a:ext cx="4019550" cy="1710631"/>
          </a:xfrm>
          <a:prstGeom prst="roundRect">
            <a:avLst>
              <a:gd name="adj" fmla="val 7795"/>
            </a:avLst>
          </a:prstGeom>
          <a:solidFill>
            <a:srgbClr val="E8DCCB"/>
          </a:solidFill>
          <a:ln>
            <a:solidFill>
              <a:srgbClr val="7D4C3D">
                <a:alpha val="18000"/>
              </a:srgbClr>
            </a:solidFill>
          </a:ln>
        </p:spPr>
        <p:txBody>
          <a:bodyPr lIns="45719" rIns="45719"/>
          <a:lstStyle/>
          <a:p>
            <a:pPr/>
          </a:p>
        </p:txBody>
      </p:sp>
      <p:sp>
        <p:nvSpPr>
          <p:cNvPr id="82" name="Text 4"/>
          <p:cNvSpPr txBox="1"/>
          <p:nvPr/>
        </p:nvSpPr>
        <p:spPr>
          <a:xfrm>
            <a:off x="923924" y="3538091"/>
            <a:ext cx="3414142" cy="6477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04672">
              <a:defRPr spc="-88" sz="4224">
                <a:solidFill>
                  <a:srgbClr val="5D3527"/>
                </a:solidFill>
                <a:latin typeface="Arial"/>
                <a:ea typeface="Arial"/>
                <a:cs typeface="Arial"/>
                <a:sym typeface="Arial"/>
              </a:defRPr>
            </a:lvl1pPr>
          </a:lstStyle>
          <a:p>
            <a:pPr/>
            <a:r>
              <a:t>$14.87</a:t>
            </a:r>
          </a:p>
        </p:txBody>
      </p:sp>
      <p:sp>
        <p:nvSpPr>
          <p:cNvPr id="83" name="Text 5"/>
          <p:cNvSpPr txBox="1"/>
          <p:nvPr/>
        </p:nvSpPr>
        <p:spPr>
          <a:xfrm>
            <a:off x="923924" y="4300091"/>
            <a:ext cx="3414142" cy="35808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40000"/>
              </a:lnSpc>
              <a:defRPr>
                <a:solidFill>
                  <a:srgbClr val="7D4C3D"/>
                </a:solidFill>
                <a:latin typeface="Arial"/>
                <a:ea typeface="Arial"/>
                <a:cs typeface="Arial"/>
                <a:sym typeface="Arial"/>
              </a:defRPr>
            </a:lvl1pPr>
          </a:lstStyle>
          <a:p>
            <a:pPr/>
            <a:r>
              <a:t>mean total_spend</a:t>
            </a:r>
          </a:p>
        </p:txBody>
      </p:sp>
      <p:sp>
        <p:nvSpPr>
          <p:cNvPr id="84" name="Shape 6"/>
          <p:cNvSpPr/>
          <p:nvPr/>
        </p:nvSpPr>
        <p:spPr>
          <a:xfrm>
            <a:off x="4857750" y="3223766"/>
            <a:ext cx="4019550" cy="1710631"/>
          </a:xfrm>
          <a:prstGeom prst="roundRect">
            <a:avLst>
              <a:gd name="adj" fmla="val 7795"/>
            </a:avLst>
          </a:prstGeom>
          <a:solidFill>
            <a:srgbClr val="E8DCCB"/>
          </a:solidFill>
          <a:ln>
            <a:solidFill>
              <a:srgbClr val="7D4C3D">
                <a:alpha val="18000"/>
              </a:srgbClr>
            </a:solidFill>
          </a:ln>
        </p:spPr>
        <p:txBody>
          <a:bodyPr lIns="45719" rIns="45719"/>
          <a:lstStyle/>
          <a:p>
            <a:pPr/>
          </a:p>
        </p:txBody>
      </p:sp>
      <p:sp>
        <p:nvSpPr>
          <p:cNvPr id="85" name="Text 7"/>
          <p:cNvSpPr txBox="1"/>
          <p:nvPr/>
        </p:nvSpPr>
        <p:spPr>
          <a:xfrm>
            <a:off x="5210174" y="3538091"/>
            <a:ext cx="3414142" cy="6477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04672">
              <a:defRPr spc="-88" sz="4224">
                <a:solidFill>
                  <a:srgbClr val="5D3527"/>
                </a:solidFill>
                <a:latin typeface="Arial"/>
                <a:ea typeface="Arial"/>
                <a:cs typeface="Arial"/>
                <a:sym typeface="Arial"/>
              </a:defRPr>
            </a:lvl1pPr>
          </a:lstStyle>
          <a:p>
            <a:pPr/>
            <a:r>
              <a:t>$14.17</a:t>
            </a:r>
          </a:p>
        </p:txBody>
      </p:sp>
      <p:sp>
        <p:nvSpPr>
          <p:cNvPr id="86" name="Text 8"/>
          <p:cNvSpPr txBox="1"/>
          <p:nvPr/>
        </p:nvSpPr>
        <p:spPr>
          <a:xfrm>
            <a:off x="5210174" y="4300091"/>
            <a:ext cx="3414142" cy="35808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40000"/>
              </a:lnSpc>
              <a:defRPr>
                <a:solidFill>
                  <a:srgbClr val="7D4C3D"/>
                </a:solidFill>
                <a:latin typeface="Arial"/>
                <a:ea typeface="Arial"/>
                <a:cs typeface="Arial"/>
                <a:sym typeface="Arial"/>
              </a:defRPr>
            </a:lvl1pPr>
          </a:lstStyle>
          <a:p>
            <a:pPr/>
            <a:r>
              <a:t>median</a:t>
            </a:r>
          </a:p>
        </p:txBody>
      </p:sp>
      <p:sp>
        <p:nvSpPr>
          <p:cNvPr id="87" name="Shape 9"/>
          <p:cNvSpPr/>
          <p:nvPr/>
        </p:nvSpPr>
        <p:spPr>
          <a:xfrm>
            <a:off x="571500" y="5201096"/>
            <a:ext cx="4019550" cy="1710631"/>
          </a:xfrm>
          <a:prstGeom prst="roundRect">
            <a:avLst>
              <a:gd name="adj" fmla="val 7795"/>
            </a:avLst>
          </a:prstGeom>
          <a:solidFill>
            <a:srgbClr val="E8DCCB"/>
          </a:solidFill>
          <a:ln>
            <a:solidFill>
              <a:srgbClr val="7D4C3D">
                <a:alpha val="18000"/>
              </a:srgbClr>
            </a:solidFill>
          </a:ln>
        </p:spPr>
        <p:txBody>
          <a:bodyPr lIns="45719" rIns="45719"/>
          <a:lstStyle/>
          <a:p>
            <a:pPr/>
          </a:p>
        </p:txBody>
      </p:sp>
      <p:sp>
        <p:nvSpPr>
          <p:cNvPr id="88" name="Text 10"/>
          <p:cNvSpPr txBox="1"/>
          <p:nvPr/>
        </p:nvSpPr>
        <p:spPr>
          <a:xfrm>
            <a:off x="923924" y="5515421"/>
            <a:ext cx="3414142" cy="6477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04672">
              <a:defRPr spc="-88" sz="4224">
                <a:solidFill>
                  <a:srgbClr val="5D3527"/>
                </a:solidFill>
                <a:latin typeface="Arial"/>
                <a:ea typeface="Arial"/>
                <a:cs typeface="Arial"/>
                <a:sym typeface="Arial"/>
              </a:defRPr>
            </a:lvl1pPr>
          </a:lstStyle>
          <a:p>
            <a:pPr/>
            <a:r>
              <a:t>$5.51</a:t>
            </a:r>
          </a:p>
        </p:txBody>
      </p:sp>
      <p:sp>
        <p:nvSpPr>
          <p:cNvPr id="89" name="Text 11"/>
          <p:cNvSpPr txBox="1"/>
          <p:nvPr/>
        </p:nvSpPr>
        <p:spPr>
          <a:xfrm>
            <a:off x="923924" y="6277421"/>
            <a:ext cx="3414142" cy="35808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40000"/>
              </a:lnSpc>
              <a:defRPr>
                <a:solidFill>
                  <a:srgbClr val="7D4C3D"/>
                </a:solidFill>
                <a:latin typeface="Arial"/>
                <a:ea typeface="Arial"/>
                <a:cs typeface="Arial"/>
                <a:sym typeface="Arial"/>
              </a:defRPr>
            </a:lvl1pPr>
          </a:lstStyle>
          <a:p>
            <a:pPr/>
            <a:r>
              <a:t>std. deviation</a:t>
            </a:r>
          </a:p>
        </p:txBody>
      </p:sp>
      <p:sp>
        <p:nvSpPr>
          <p:cNvPr id="90" name="Shape 12"/>
          <p:cNvSpPr/>
          <p:nvPr/>
        </p:nvSpPr>
        <p:spPr>
          <a:xfrm>
            <a:off x="4857750" y="5201096"/>
            <a:ext cx="4019550" cy="1710631"/>
          </a:xfrm>
          <a:prstGeom prst="roundRect">
            <a:avLst>
              <a:gd name="adj" fmla="val 7795"/>
            </a:avLst>
          </a:prstGeom>
          <a:solidFill>
            <a:srgbClr val="E8DCCB"/>
          </a:solidFill>
          <a:ln>
            <a:solidFill>
              <a:srgbClr val="7D4C3D">
                <a:alpha val="18000"/>
              </a:srgbClr>
            </a:solidFill>
          </a:ln>
        </p:spPr>
        <p:txBody>
          <a:bodyPr lIns="45719" rIns="45719"/>
          <a:lstStyle/>
          <a:p>
            <a:pPr/>
          </a:p>
        </p:txBody>
      </p:sp>
      <p:sp>
        <p:nvSpPr>
          <p:cNvPr id="91" name="Text 13"/>
          <p:cNvSpPr txBox="1"/>
          <p:nvPr/>
        </p:nvSpPr>
        <p:spPr>
          <a:xfrm>
            <a:off x="5210174" y="5515421"/>
            <a:ext cx="3414142" cy="6477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04672">
              <a:defRPr spc="-88" sz="4224">
                <a:solidFill>
                  <a:srgbClr val="5D3527"/>
                </a:solidFill>
                <a:latin typeface="Arial"/>
                <a:ea typeface="Arial"/>
                <a:cs typeface="Arial"/>
                <a:sym typeface="Arial"/>
              </a:defRPr>
            </a:lvl1pPr>
          </a:lstStyle>
          <a:p>
            <a:pPr/>
            <a:r>
              <a:t>$7.34</a:t>
            </a:r>
          </a:p>
        </p:txBody>
      </p:sp>
      <p:sp>
        <p:nvSpPr>
          <p:cNvPr id="92" name="Text 14"/>
          <p:cNvSpPr txBox="1"/>
          <p:nvPr/>
        </p:nvSpPr>
        <p:spPr>
          <a:xfrm>
            <a:off x="5210174" y="6277421"/>
            <a:ext cx="3414142" cy="35808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40000"/>
              </a:lnSpc>
              <a:defRPr>
                <a:solidFill>
                  <a:srgbClr val="7D4C3D"/>
                </a:solidFill>
                <a:latin typeface="Arial"/>
                <a:ea typeface="Arial"/>
                <a:cs typeface="Arial"/>
                <a:sym typeface="Arial"/>
              </a:defRPr>
            </a:lvl1pPr>
          </a:lstStyle>
          <a:p>
            <a:pPr/>
            <a:r>
              <a:t>interquartile range</a:t>
            </a:r>
          </a:p>
        </p:txBody>
      </p:sp>
      <p:sp>
        <p:nvSpPr>
          <p:cNvPr id="93" name="Text 15"/>
          <p:cNvSpPr txBox="1"/>
          <p:nvPr/>
        </p:nvSpPr>
        <p:spPr>
          <a:xfrm>
            <a:off x="571500" y="7140326"/>
            <a:ext cx="8554974" cy="333376"/>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i="1" sz="1900">
                <a:solidFill>
                  <a:srgbClr val="7D4C3D"/>
                </a:solidFill>
                <a:latin typeface="Arial"/>
                <a:ea typeface="Arial"/>
                <a:cs typeface="Arial"/>
                <a:sym typeface="Arial"/>
              </a:defRPr>
            </a:lvl1pPr>
          </a:lstStyle>
          <a:p>
            <a:pPr/>
            <a:r>
              <a:t>Outliers above $29.19 · just 1.42% of orders.</a:t>
            </a:r>
          </a:p>
        </p:txBody>
      </p:sp>
      <p:sp>
        <p:nvSpPr>
          <p:cNvPr id="94" name="Shape 16"/>
          <p:cNvSpPr/>
          <p:nvPr/>
        </p:nvSpPr>
        <p:spPr>
          <a:xfrm>
            <a:off x="9410700" y="2615058"/>
            <a:ext cx="3961656" cy="390526"/>
          </a:xfrm>
          <a:prstGeom prst="roundRect">
            <a:avLst>
              <a:gd name="adj" fmla="val 50000"/>
            </a:avLst>
          </a:prstGeom>
          <a:solidFill>
            <a:srgbClr val="1E5631"/>
          </a:solidFill>
          <a:ln w="12700">
            <a:miter lim="400000"/>
          </a:ln>
        </p:spPr>
        <p:txBody>
          <a:bodyPr lIns="45719" rIns="45719"/>
          <a:lstStyle/>
          <a:p>
            <a:pPr/>
          </a:p>
        </p:txBody>
      </p:sp>
      <p:sp>
        <p:nvSpPr>
          <p:cNvPr id="95" name="Text 17"/>
          <p:cNvSpPr txBox="1"/>
          <p:nvPr/>
        </p:nvSpPr>
        <p:spPr>
          <a:xfrm>
            <a:off x="9563100" y="2672208"/>
            <a:ext cx="3775706" cy="314326"/>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b="1" spc="200">
                <a:solidFill>
                  <a:srgbClr val="FAF8ED"/>
                </a:solidFill>
                <a:latin typeface="Arial"/>
                <a:ea typeface="Arial"/>
                <a:cs typeface="Arial"/>
                <a:sym typeface="Arial"/>
              </a:defRPr>
            </a:lvl1pPr>
          </a:lstStyle>
          <a:p>
            <a:pPr/>
            <a:r>
              <a:t>MEAN SPEND BY SEGMENT</a:t>
            </a:r>
          </a:p>
        </p:txBody>
      </p:sp>
      <p:sp>
        <p:nvSpPr>
          <p:cNvPr id="96" name="Shape 18"/>
          <p:cNvSpPr/>
          <p:nvPr/>
        </p:nvSpPr>
        <p:spPr>
          <a:xfrm>
            <a:off x="9410700" y="3177033"/>
            <a:ext cx="4500415" cy="619126"/>
          </a:xfrm>
          <a:prstGeom prst="roundRect">
            <a:avLst>
              <a:gd name="adj" fmla="val 18462"/>
            </a:avLst>
          </a:prstGeom>
          <a:solidFill>
            <a:srgbClr val="7D4C3D"/>
          </a:solidFill>
          <a:ln w="12700">
            <a:miter lim="400000"/>
          </a:ln>
        </p:spPr>
        <p:txBody>
          <a:bodyPr lIns="45719" rIns="45719"/>
          <a:lstStyle/>
          <a:p>
            <a:pPr/>
          </a:p>
        </p:txBody>
      </p:sp>
      <p:sp>
        <p:nvSpPr>
          <p:cNvPr id="97" name="Text 19"/>
          <p:cNvSpPr txBox="1"/>
          <p:nvPr/>
        </p:nvSpPr>
        <p:spPr>
          <a:xfrm>
            <a:off x="9639300" y="3348483"/>
            <a:ext cx="4178226" cy="314326"/>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chor="ctr">
            <a:normAutofit fontScale="100000" lnSpcReduction="0"/>
          </a:bodyPr>
          <a:lstStyle>
            <a:lvl1pPr>
              <a:defRPr b="1">
                <a:solidFill>
                  <a:srgbClr val="FAF8ED"/>
                </a:solidFill>
                <a:latin typeface="Arial"/>
                <a:ea typeface="Arial"/>
                <a:cs typeface="Arial"/>
                <a:sym typeface="Arial"/>
              </a:defRPr>
            </a:lvl1pPr>
          </a:lstStyle>
          <a:p>
            <a:pPr/>
            <a:r>
              <a:t>Segment</a:t>
            </a:r>
          </a:p>
        </p:txBody>
      </p:sp>
      <p:sp>
        <p:nvSpPr>
          <p:cNvPr id="98" name="Shape 20"/>
          <p:cNvSpPr/>
          <p:nvPr/>
        </p:nvSpPr>
        <p:spPr>
          <a:xfrm>
            <a:off x="13911113" y="3177033"/>
            <a:ext cx="3805387" cy="619126"/>
          </a:xfrm>
          <a:prstGeom prst="rect">
            <a:avLst/>
          </a:prstGeom>
          <a:solidFill>
            <a:srgbClr val="7D4C3D"/>
          </a:solidFill>
          <a:ln w="12700">
            <a:miter lim="400000"/>
          </a:ln>
        </p:spPr>
        <p:txBody>
          <a:bodyPr lIns="45719" rIns="45719"/>
          <a:lstStyle/>
          <a:p>
            <a:pPr/>
          </a:p>
        </p:txBody>
      </p:sp>
      <p:sp>
        <p:nvSpPr>
          <p:cNvPr id="99" name="Text 21"/>
          <p:cNvSpPr txBox="1"/>
          <p:nvPr/>
        </p:nvSpPr>
        <p:spPr>
          <a:xfrm>
            <a:off x="14025551" y="3348483"/>
            <a:ext cx="3462349" cy="314326"/>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chor="ctr">
            <a:normAutofit fontScale="100000" lnSpcReduction="0"/>
          </a:bodyPr>
          <a:lstStyle>
            <a:lvl1pPr algn="r">
              <a:defRPr b="1">
                <a:solidFill>
                  <a:srgbClr val="FAF8ED"/>
                </a:solidFill>
                <a:latin typeface="Arial"/>
                <a:ea typeface="Arial"/>
                <a:cs typeface="Arial"/>
                <a:sym typeface="Arial"/>
              </a:defRPr>
            </a:lvl1pPr>
          </a:lstStyle>
          <a:p>
            <a:pPr/>
            <a:r>
              <a:t>Mean spend</a:t>
            </a:r>
          </a:p>
        </p:txBody>
      </p:sp>
      <p:sp>
        <p:nvSpPr>
          <p:cNvPr id="100" name="Shape 22"/>
          <p:cNvSpPr/>
          <p:nvPr/>
        </p:nvSpPr>
        <p:spPr>
          <a:xfrm>
            <a:off x="9410699" y="3796158"/>
            <a:ext cx="4500416" cy="623890"/>
          </a:xfrm>
          <a:prstGeom prst="rect">
            <a:avLst/>
          </a:prstGeom>
          <a:solidFill>
            <a:srgbClr val="FFFDF7">
              <a:alpha val="55000"/>
            </a:srgbClr>
          </a:solidFill>
          <a:ln w="12700">
            <a:miter lim="400000"/>
          </a:ln>
        </p:spPr>
        <p:txBody>
          <a:bodyPr lIns="45719" rIns="45719"/>
          <a:lstStyle/>
          <a:p>
            <a:pPr/>
          </a:p>
        </p:txBody>
      </p:sp>
      <p:sp>
        <p:nvSpPr>
          <p:cNvPr id="101" name="Shape 23"/>
          <p:cNvSpPr/>
          <p:nvPr/>
        </p:nvSpPr>
        <p:spPr>
          <a:xfrm>
            <a:off x="9410699" y="4408933"/>
            <a:ext cx="4500416" cy="12701"/>
          </a:xfrm>
          <a:prstGeom prst="rect">
            <a:avLst/>
          </a:prstGeom>
          <a:solidFill>
            <a:srgbClr val="7D4C3D">
              <a:alpha val="18000"/>
            </a:srgbClr>
          </a:solidFill>
          <a:ln w="12700">
            <a:miter lim="400000"/>
          </a:ln>
        </p:spPr>
        <p:txBody>
          <a:bodyPr lIns="45719" rIns="45719"/>
          <a:lstStyle/>
          <a:p>
            <a:pPr/>
          </a:p>
        </p:txBody>
      </p:sp>
      <p:sp>
        <p:nvSpPr>
          <p:cNvPr id="102" name="Text 24"/>
          <p:cNvSpPr txBox="1"/>
          <p:nvPr/>
        </p:nvSpPr>
        <p:spPr>
          <a:xfrm>
            <a:off x="9639300" y="3967608"/>
            <a:ext cx="4178226" cy="31319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chor="ctr">
            <a:normAutofit fontScale="100000" lnSpcReduction="0"/>
          </a:bodyPr>
          <a:lstStyle>
            <a:lvl1pPr defTabSz="868680">
              <a:defRPr sz="1710">
                <a:solidFill>
                  <a:srgbClr val="3A2A22"/>
                </a:solidFill>
                <a:latin typeface="Arial"/>
                <a:ea typeface="Arial"/>
                <a:cs typeface="Arial"/>
                <a:sym typeface="Arial"/>
              </a:defRPr>
            </a:lvl1pPr>
          </a:lstStyle>
          <a:p>
            <a:pPr/>
            <a:r>
              <a:t>Mobile App</a:t>
            </a:r>
          </a:p>
        </p:txBody>
      </p:sp>
      <p:sp>
        <p:nvSpPr>
          <p:cNvPr id="103" name="Shape 25"/>
          <p:cNvSpPr/>
          <p:nvPr/>
        </p:nvSpPr>
        <p:spPr>
          <a:xfrm>
            <a:off x="13911113" y="3796158"/>
            <a:ext cx="3805387" cy="623890"/>
          </a:xfrm>
          <a:prstGeom prst="rect">
            <a:avLst/>
          </a:prstGeom>
          <a:solidFill>
            <a:srgbClr val="FFFDF7">
              <a:alpha val="55000"/>
            </a:srgbClr>
          </a:solidFill>
          <a:ln w="12700">
            <a:miter lim="400000"/>
          </a:ln>
        </p:spPr>
        <p:txBody>
          <a:bodyPr lIns="45719" rIns="45719"/>
          <a:lstStyle/>
          <a:p>
            <a:pPr/>
          </a:p>
        </p:txBody>
      </p:sp>
      <p:sp>
        <p:nvSpPr>
          <p:cNvPr id="104" name="Shape 26"/>
          <p:cNvSpPr/>
          <p:nvPr/>
        </p:nvSpPr>
        <p:spPr>
          <a:xfrm>
            <a:off x="13911113" y="4408933"/>
            <a:ext cx="3805387" cy="12701"/>
          </a:xfrm>
          <a:prstGeom prst="rect">
            <a:avLst/>
          </a:prstGeom>
          <a:solidFill>
            <a:srgbClr val="7D4C3D">
              <a:alpha val="18000"/>
            </a:srgbClr>
          </a:solidFill>
          <a:ln w="12700">
            <a:miter lim="400000"/>
          </a:ln>
        </p:spPr>
        <p:txBody>
          <a:bodyPr lIns="45719" rIns="45719"/>
          <a:lstStyle/>
          <a:p>
            <a:pPr/>
          </a:p>
        </p:txBody>
      </p:sp>
      <p:sp>
        <p:nvSpPr>
          <p:cNvPr id="105" name="Text 27"/>
          <p:cNvSpPr txBox="1"/>
          <p:nvPr/>
        </p:nvSpPr>
        <p:spPr>
          <a:xfrm>
            <a:off x="14025551" y="3967608"/>
            <a:ext cx="3462349" cy="31319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chor="ctr">
            <a:normAutofit fontScale="100000" lnSpcReduction="0"/>
          </a:bodyPr>
          <a:lstStyle>
            <a:lvl1pPr algn="r" defTabSz="868680">
              <a:defRPr b="1" sz="1710">
                <a:solidFill>
                  <a:srgbClr val="1E5631"/>
                </a:solidFill>
                <a:latin typeface="Arial"/>
                <a:ea typeface="Arial"/>
                <a:cs typeface="Arial"/>
                <a:sym typeface="Arial"/>
              </a:defRPr>
            </a:lvl1pPr>
          </a:lstStyle>
          <a:p>
            <a:pPr/>
            <a:r>
              <a:t>$18.08</a:t>
            </a:r>
          </a:p>
        </p:txBody>
      </p:sp>
      <p:sp>
        <p:nvSpPr>
          <p:cNvPr id="106" name="Shape 28"/>
          <p:cNvSpPr/>
          <p:nvPr/>
        </p:nvSpPr>
        <p:spPr>
          <a:xfrm>
            <a:off x="9410699" y="4420046"/>
            <a:ext cx="4500416" cy="628651"/>
          </a:xfrm>
          <a:prstGeom prst="rect">
            <a:avLst/>
          </a:prstGeom>
          <a:solidFill>
            <a:srgbClr val="E8DCCB"/>
          </a:solidFill>
          <a:ln w="12700">
            <a:miter lim="400000"/>
          </a:ln>
        </p:spPr>
        <p:txBody>
          <a:bodyPr lIns="45719" rIns="45719"/>
          <a:lstStyle/>
          <a:p>
            <a:pPr/>
          </a:p>
        </p:txBody>
      </p:sp>
      <p:sp>
        <p:nvSpPr>
          <p:cNvPr id="107" name="Shape 29"/>
          <p:cNvSpPr/>
          <p:nvPr/>
        </p:nvSpPr>
        <p:spPr>
          <a:xfrm>
            <a:off x="9410699" y="5037583"/>
            <a:ext cx="4500416" cy="12701"/>
          </a:xfrm>
          <a:prstGeom prst="rect">
            <a:avLst/>
          </a:prstGeom>
          <a:solidFill>
            <a:srgbClr val="7D4C3D">
              <a:alpha val="18000"/>
            </a:srgbClr>
          </a:solidFill>
          <a:ln w="12700">
            <a:miter lim="400000"/>
          </a:ln>
        </p:spPr>
        <p:txBody>
          <a:bodyPr lIns="45719" rIns="45719"/>
          <a:lstStyle/>
          <a:p>
            <a:pPr/>
          </a:p>
        </p:txBody>
      </p:sp>
      <p:sp>
        <p:nvSpPr>
          <p:cNvPr id="108" name="Text 30"/>
          <p:cNvSpPr txBox="1"/>
          <p:nvPr/>
        </p:nvSpPr>
        <p:spPr>
          <a:xfrm>
            <a:off x="9639300" y="4591496"/>
            <a:ext cx="4178226" cy="314326"/>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chor="ctr">
            <a:normAutofit fontScale="100000" lnSpcReduction="0"/>
          </a:bodyPr>
          <a:lstStyle>
            <a:lvl1pPr>
              <a:defRPr>
                <a:solidFill>
                  <a:srgbClr val="3A2A22"/>
                </a:solidFill>
                <a:latin typeface="Arial"/>
                <a:ea typeface="Arial"/>
                <a:cs typeface="Arial"/>
                <a:sym typeface="Arial"/>
              </a:defRPr>
            </a:lvl1pPr>
          </a:lstStyle>
          <a:p>
            <a:pPr/>
            <a:r>
              <a:t>Drive-Thru</a:t>
            </a:r>
          </a:p>
        </p:txBody>
      </p:sp>
      <p:sp>
        <p:nvSpPr>
          <p:cNvPr id="109" name="Shape 31"/>
          <p:cNvSpPr/>
          <p:nvPr/>
        </p:nvSpPr>
        <p:spPr>
          <a:xfrm>
            <a:off x="13911113" y="4420046"/>
            <a:ext cx="3805387" cy="628651"/>
          </a:xfrm>
          <a:prstGeom prst="rect">
            <a:avLst/>
          </a:prstGeom>
          <a:solidFill>
            <a:srgbClr val="E8DCCB"/>
          </a:solidFill>
          <a:ln w="12700">
            <a:miter lim="400000"/>
          </a:ln>
        </p:spPr>
        <p:txBody>
          <a:bodyPr lIns="45719" rIns="45719"/>
          <a:lstStyle/>
          <a:p>
            <a:pPr/>
          </a:p>
        </p:txBody>
      </p:sp>
      <p:sp>
        <p:nvSpPr>
          <p:cNvPr id="110" name="Shape 32"/>
          <p:cNvSpPr/>
          <p:nvPr/>
        </p:nvSpPr>
        <p:spPr>
          <a:xfrm>
            <a:off x="13911113" y="5037583"/>
            <a:ext cx="3805387" cy="12701"/>
          </a:xfrm>
          <a:prstGeom prst="rect">
            <a:avLst/>
          </a:prstGeom>
          <a:solidFill>
            <a:srgbClr val="7D4C3D">
              <a:alpha val="18000"/>
            </a:srgbClr>
          </a:solidFill>
          <a:ln w="12700">
            <a:miter lim="400000"/>
          </a:ln>
        </p:spPr>
        <p:txBody>
          <a:bodyPr lIns="45719" rIns="45719"/>
          <a:lstStyle/>
          <a:p>
            <a:pPr/>
          </a:p>
        </p:txBody>
      </p:sp>
      <p:sp>
        <p:nvSpPr>
          <p:cNvPr id="111" name="Text 33"/>
          <p:cNvSpPr txBox="1"/>
          <p:nvPr/>
        </p:nvSpPr>
        <p:spPr>
          <a:xfrm>
            <a:off x="14025551" y="4591496"/>
            <a:ext cx="3462349" cy="314326"/>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chor="ctr">
            <a:normAutofit fontScale="100000" lnSpcReduction="0"/>
          </a:bodyPr>
          <a:lstStyle>
            <a:lvl1pPr algn="r">
              <a:defRPr b="1">
                <a:solidFill>
                  <a:srgbClr val="5D3527"/>
                </a:solidFill>
                <a:latin typeface="Arial"/>
                <a:ea typeface="Arial"/>
                <a:cs typeface="Arial"/>
                <a:sym typeface="Arial"/>
              </a:defRPr>
            </a:lvl1pPr>
          </a:lstStyle>
          <a:p>
            <a:pPr/>
            <a:r>
              <a:t>$12.48</a:t>
            </a:r>
          </a:p>
        </p:txBody>
      </p:sp>
      <p:sp>
        <p:nvSpPr>
          <p:cNvPr id="112" name="Shape 34"/>
          <p:cNvSpPr/>
          <p:nvPr/>
        </p:nvSpPr>
        <p:spPr>
          <a:xfrm>
            <a:off x="9410699" y="5048696"/>
            <a:ext cx="4500416" cy="628651"/>
          </a:xfrm>
          <a:prstGeom prst="rect">
            <a:avLst/>
          </a:prstGeom>
          <a:solidFill>
            <a:srgbClr val="FFFDF7">
              <a:alpha val="55000"/>
            </a:srgbClr>
          </a:solidFill>
          <a:ln w="12700">
            <a:miter lim="400000"/>
          </a:ln>
        </p:spPr>
        <p:txBody>
          <a:bodyPr lIns="45719" rIns="45719"/>
          <a:lstStyle/>
          <a:p>
            <a:pPr/>
          </a:p>
        </p:txBody>
      </p:sp>
      <p:sp>
        <p:nvSpPr>
          <p:cNvPr id="113" name="Shape 35"/>
          <p:cNvSpPr/>
          <p:nvPr/>
        </p:nvSpPr>
        <p:spPr>
          <a:xfrm>
            <a:off x="9410699" y="5666233"/>
            <a:ext cx="4500416" cy="12701"/>
          </a:xfrm>
          <a:prstGeom prst="rect">
            <a:avLst/>
          </a:prstGeom>
          <a:solidFill>
            <a:srgbClr val="7D4C3D">
              <a:alpha val="18000"/>
            </a:srgbClr>
          </a:solidFill>
          <a:ln w="12700">
            <a:miter lim="400000"/>
          </a:ln>
        </p:spPr>
        <p:txBody>
          <a:bodyPr lIns="45719" rIns="45719"/>
          <a:lstStyle/>
          <a:p>
            <a:pPr/>
          </a:p>
        </p:txBody>
      </p:sp>
      <p:sp>
        <p:nvSpPr>
          <p:cNvPr id="114" name="Text 36"/>
          <p:cNvSpPr txBox="1"/>
          <p:nvPr/>
        </p:nvSpPr>
        <p:spPr>
          <a:xfrm>
            <a:off x="9639300" y="5220146"/>
            <a:ext cx="4178226" cy="314326"/>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chor="ctr">
            <a:normAutofit fontScale="100000" lnSpcReduction="0"/>
          </a:bodyPr>
          <a:lstStyle>
            <a:lvl1pPr>
              <a:defRPr>
                <a:solidFill>
                  <a:srgbClr val="3A2A22"/>
                </a:solidFill>
                <a:latin typeface="Arial"/>
                <a:ea typeface="Arial"/>
                <a:cs typeface="Arial"/>
                <a:sym typeface="Arial"/>
              </a:defRPr>
            </a:lvl1pPr>
          </a:lstStyle>
          <a:p>
            <a:pPr/>
            <a:r>
              <a:t>In-Store Cashier</a:t>
            </a:r>
          </a:p>
        </p:txBody>
      </p:sp>
      <p:sp>
        <p:nvSpPr>
          <p:cNvPr id="115" name="Shape 37"/>
          <p:cNvSpPr/>
          <p:nvPr/>
        </p:nvSpPr>
        <p:spPr>
          <a:xfrm>
            <a:off x="13911113" y="5048696"/>
            <a:ext cx="3805387" cy="628651"/>
          </a:xfrm>
          <a:prstGeom prst="rect">
            <a:avLst/>
          </a:prstGeom>
          <a:solidFill>
            <a:srgbClr val="FFFDF7">
              <a:alpha val="55000"/>
            </a:srgbClr>
          </a:solidFill>
          <a:ln w="12700">
            <a:miter lim="400000"/>
          </a:ln>
        </p:spPr>
        <p:txBody>
          <a:bodyPr lIns="45719" rIns="45719"/>
          <a:lstStyle/>
          <a:p>
            <a:pPr/>
          </a:p>
        </p:txBody>
      </p:sp>
      <p:sp>
        <p:nvSpPr>
          <p:cNvPr id="116" name="Shape 38"/>
          <p:cNvSpPr/>
          <p:nvPr/>
        </p:nvSpPr>
        <p:spPr>
          <a:xfrm>
            <a:off x="13911113" y="5666233"/>
            <a:ext cx="3805387" cy="12701"/>
          </a:xfrm>
          <a:prstGeom prst="rect">
            <a:avLst/>
          </a:prstGeom>
          <a:solidFill>
            <a:srgbClr val="7D4C3D">
              <a:alpha val="18000"/>
            </a:srgbClr>
          </a:solidFill>
          <a:ln w="12700">
            <a:miter lim="400000"/>
          </a:ln>
        </p:spPr>
        <p:txBody>
          <a:bodyPr lIns="45719" rIns="45719"/>
          <a:lstStyle/>
          <a:p>
            <a:pPr/>
          </a:p>
        </p:txBody>
      </p:sp>
      <p:sp>
        <p:nvSpPr>
          <p:cNvPr id="117" name="Text 39"/>
          <p:cNvSpPr txBox="1"/>
          <p:nvPr/>
        </p:nvSpPr>
        <p:spPr>
          <a:xfrm>
            <a:off x="14025551" y="5220146"/>
            <a:ext cx="3462349" cy="314326"/>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chor="ctr">
            <a:normAutofit fontScale="100000" lnSpcReduction="0"/>
          </a:bodyPr>
          <a:lstStyle>
            <a:lvl1pPr algn="r">
              <a:defRPr b="1">
                <a:solidFill>
                  <a:srgbClr val="5D3527"/>
                </a:solidFill>
                <a:latin typeface="Arial"/>
                <a:ea typeface="Arial"/>
                <a:cs typeface="Arial"/>
                <a:sym typeface="Arial"/>
              </a:defRPr>
            </a:lvl1pPr>
          </a:lstStyle>
          <a:p>
            <a:pPr/>
            <a:r>
              <a:t>$12.51</a:t>
            </a:r>
          </a:p>
        </p:txBody>
      </p:sp>
      <p:sp>
        <p:nvSpPr>
          <p:cNvPr id="118" name="Shape 40"/>
          <p:cNvSpPr/>
          <p:nvPr/>
        </p:nvSpPr>
        <p:spPr>
          <a:xfrm>
            <a:off x="9410699" y="5677346"/>
            <a:ext cx="4500416" cy="628651"/>
          </a:xfrm>
          <a:prstGeom prst="rect">
            <a:avLst/>
          </a:prstGeom>
          <a:solidFill>
            <a:srgbClr val="E8DCCB"/>
          </a:solidFill>
          <a:ln w="12700">
            <a:miter lim="400000"/>
          </a:ln>
        </p:spPr>
        <p:txBody>
          <a:bodyPr lIns="45719" rIns="45719"/>
          <a:lstStyle/>
          <a:p>
            <a:pPr/>
          </a:p>
        </p:txBody>
      </p:sp>
      <p:sp>
        <p:nvSpPr>
          <p:cNvPr id="119" name="Shape 41"/>
          <p:cNvSpPr/>
          <p:nvPr/>
        </p:nvSpPr>
        <p:spPr>
          <a:xfrm>
            <a:off x="9410699" y="6294883"/>
            <a:ext cx="4500416" cy="12701"/>
          </a:xfrm>
          <a:prstGeom prst="rect">
            <a:avLst/>
          </a:prstGeom>
          <a:solidFill>
            <a:srgbClr val="7D4C3D">
              <a:alpha val="18000"/>
            </a:srgbClr>
          </a:solidFill>
          <a:ln w="12700">
            <a:miter lim="400000"/>
          </a:ln>
        </p:spPr>
        <p:txBody>
          <a:bodyPr lIns="45719" rIns="45719"/>
          <a:lstStyle/>
          <a:p>
            <a:pPr/>
          </a:p>
        </p:txBody>
      </p:sp>
      <p:sp>
        <p:nvSpPr>
          <p:cNvPr id="120" name="Text 42"/>
          <p:cNvSpPr txBox="1"/>
          <p:nvPr/>
        </p:nvSpPr>
        <p:spPr>
          <a:xfrm>
            <a:off x="9639300" y="5848796"/>
            <a:ext cx="4178226" cy="314326"/>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chor="ctr">
            <a:normAutofit fontScale="100000" lnSpcReduction="0"/>
          </a:bodyPr>
          <a:lstStyle>
            <a:lvl1pPr>
              <a:defRPr>
                <a:solidFill>
                  <a:srgbClr val="3A2A22"/>
                </a:solidFill>
                <a:latin typeface="Arial"/>
                <a:ea typeface="Arial"/>
                <a:cs typeface="Arial"/>
                <a:sym typeface="Arial"/>
              </a:defRPr>
            </a:lvl1pPr>
          </a:lstStyle>
          <a:p>
            <a:pPr/>
            <a:r>
              <a:t>Kiosk</a:t>
            </a:r>
          </a:p>
        </p:txBody>
      </p:sp>
      <p:sp>
        <p:nvSpPr>
          <p:cNvPr id="121" name="Shape 43"/>
          <p:cNvSpPr/>
          <p:nvPr/>
        </p:nvSpPr>
        <p:spPr>
          <a:xfrm>
            <a:off x="13911113" y="5677346"/>
            <a:ext cx="3805387" cy="628651"/>
          </a:xfrm>
          <a:prstGeom prst="rect">
            <a:avLst/>
          </a:prstGeom>
          <a:solidFill>
            <a:srgbClr val="E8DCCB"/>
          </a:solidFill>
          <a:ln w="12700">
            <a:miter lim="400000"/>
          </a:ln>
        </p:spPr>
        <p:txBody>
          <a:bodyPr lIns="45719" rIns="45719"/>
          <a:lstStyle/>
          <a:p>
            <a:pPr/>
          </a:p>
        </p:txBody>
      </p:sp>
      <p:sp>
        <p:nvSpPr>
          <p:cNvPr id="122" name="Shape 44"/>
          <p:cNvSpPr/>
          <p:nvPr/>
        </p:nvSpPr>
        <p:spPr>
          <a:xfrm>
            <a:off x="13911113" y="6294883"/>
            <a:ext cx="3805387" cy="12701"/>
          </a:xfrm>
          <a:prstGeom prst="rect">
            <a:avLst/>
          </a:prstGeom>
          <a:solidFill>
            <a:srgbClr val="7D4C3D">
              <a:alpha val="18000"/>
            </a:srgbClr>
          </a:solidFill>
          <a:ln w="12700">
            <a:miter lim="400000"/>
          </a:ln>
        </p:spPr>
        <p:txBody>
          <a:bodyPr lIns="45719" rIns="45719"/>
          <a:lstStyle/>
          <a:p>
            <a:pPr/>
          </a:p>
        </p:txBody>
      </p:sp>
      <p:sp>
        <p:nvSpPr>
          <p:cNvPr id="123" name="Text 45"/>
          <p:cNvSpPr txBox="1"/>
          <p:nvPr/>
        </p:nvSpPr>
        <p:spPr>
          <a:xfrm>
            <a:off x="14025551" y="5848796"/>
            <a:ext cx="3462349" cy="314326"/>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chor="ctr">
            <a:normAutofit fontScale="100000" lnSpcReduction="0"/>
          </a:bodyPr>
          <a:lstStyle>
            <a:lvl1pPr algn="r">
              <a:defRPr b="1">
                <a:solidFill>
                  <a:srgbClr val="5D3527"/>
                </a:solidFill>
                <a:latin typeface="Arial"/>
                <a:ea typeface="Arial"/>
                <a:cs typeface="Arial"/>
                <a:sym typeface="Arial"/>
              </a:defRPr>
            </a:lvl1pPr>
          </a:lstStyle>
          <a:p>
            <a:pPr/>
            <a:r>
              <a:t>$12.49</a:t>
            </a:r>
          </a:p>
        </p:txBody>
      </p:sp>
      <p:sp>
        <p:nvSpPr>
          <p:cNvPr id="124" name="Shape 46"/>
          <p:cNvSpPr/>
          <p:nvPr/>
        </p:nvSpPr>
        <p:spPr>
          <a:xfrm>
            <a:off x="9410699" y="6305996"/>
            <a:ext cx="4500416" cy="628651"/>
          </a:xfrm>
          <a:prstGeom prst="rect">
            <a:avLst/>
          </a:prstGeom>
          <a:solidFill>
            <a:srgbClr val="FFFDF7">
              <a:alpha val="55000"/>
            </a:srgbClr>
          </a:solidFill>
          <a:ln w="12700">
            <a:miter lim="400000"/>
          </a:ln>
        </p:spPr>
        <p:txBody>
          <a:bodyPr lIns="45719" rIns="45719"/>
          <a:lstStyle/>
          <a:p>
            <a:pPr/>
          </a:p>
        </p:txBody>
      </p:sp>
      <p:sp>
        <p:nvSpPr>
          <p:cNvPr id="125" name="Shape 47"/>
          <p:cNvSpPr/>
          <p:nvPr/>
        </p:nvSpPr>
        <p:spPr>
          <a:xfrm>
            <a:off x="9410699" y="6923533"/>
            <a:ext cx="4500416" cy="12701"/>
          </a:xfrm>
          <a:prstGeom prst="rect">
            <a:avLst/>
          </a:prstGeom>
          <a:solidFill>
            <a:srgbClr val="7D4C3D">
              <a:alpha val="18000"/>
            </a:srgbClr>
          </a:solidFill>
          <a:ln w="12700">
            <a:miter lim="400000"/>
          </a:ln>
        </p:spPr>
        <p:txBody>
          <a:bodyPr lIns="45719" rIns="45719"/>
          <a:lstStyle/>
          <a:p>
            <a:pPr/>
          </a:p>
        </p:txBody>
      </p:sp>
      <p:sp>
        <p:nvSpPr>
          <p:cNvPr id="126" name="Text 48"/>
          <p:cNvSpPr txBox="1"/>
          <p:nvPr/>
        </p:nvSpPr>
        <p:spPr>
          <a:xfrm>
            <a:off x="9639300" y="6477446"/>
            <a:ext cx="4178226" cy="314326"/>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chor="ctr">
            <a:normAutofit fontScale="100000" lnSpcReduction="0"/>
          </a:bodyPr>
          <a:lstStyle>
            <a:lvl1pPr>
              <a:defRPr>
                <a:solidFill>
                  <a:srgbClr val="3A2A22"/>
                </a:solidFill>
                <a:latin typeface="Arial"/>
                <a:ea typeface="Arial"/>
                <a:cs typeface="Arial"/>
                <a:sym typeface="Arial"/>
              </a:defRPr>
            </a:lvl1pPr>
          </a:lstStyle>
          <a:p>
            <a:pPr/>
            <a:r>
              <a:t>Rewards member</a:t>
            </a:r>
          </a:p>
        </p:txBody>
      </p:sp>
      <p:sp>
        <p:nvSpPr>
          <p:cNvPr id="127" name="Shape 49"/>
          <p:cNvSpPr/>
          <p:nvPr/>
        </p:nvSpPr>
        <p:spPr>
          <a:xfrm>
            <a:off x="13911113" y="6305996"/>
            <a:ext cx="3805387" cy="628651"/>
          </a:xfrm>
          <a:prstGeom prst="rect">
            <a:avLst/>
          </a:prstGeom>
          <a:solidFill>
            <a:srgbClr val="FFFDF7">
              <a:alpha val="55000"/>
            </a:srgbClr>
          </a:solidFill>
          <a:ln w="12700">
            <a:miter lim="400000"/>
          </a:ln>
        </p:spPr>
        <p:txBody>
          <a:bodyPr lIns="45719" rIns="45719"/>
          <a:lstStyle/>
          <a:p>
            <a:pPr/>
          </a:p>
        </p:txBody>
      </p:sp>
      <p:sp>
        <p:nvSpPr>
          <p:cNvPr id="128" name="Shape 50"/>
          <p:cNvSpPr/>
          <p:nvPr/>
        </p:nvSpPr>
        <p:spPr>
          <a:xfrm>
            <a:off x="13911113" y="6923533"/>
            <a:ext cx="3805387" cy="12701"/>
          </a:xfrm>
          <a:prstGeom prst="rect">
            <a:avLst/>
          </a:prstGeom>
          <a:solidFill>
            <a:srgbClr val="7D4C3D">
              <a:alpha val="18000"/>
            </a:srgbClr>
          </a:solidFill>
          <a:ln w="12700">
            <a:miter lim="400000"/>
          </a:ln>
        </p:spPr>
        <p:txBody>
          <a:bodyPr lIns="45719" rIns="45719"/>
          <a:lstStyle/>
          <a:p>
            <a:pPr/>
          </a:p>
        </p:txBody>
      </p:sp>
      <p:sp>
        <p:nvSpPr>
          <p:cNvPr id="129" name="Text 51"/>
          <p:cNvSpPr txBox="1"/>
          <p:nvPr/>
        </p:nvSpPr>
        <p:spPr>
          <a:xfrm>
            <a:off x="14025551" y="6477446"/>
            <a:ext cx="3462349" cy="314326"/>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chor="ctr">
            <a:normAutofit fontScale="100000" lnSpcReduction="0"/>
          </a:bodyPr>
          <a:lstStyle>
            <a:lvl1pPr algn="r">
              <a:defRPr b="1">
                <a:solidFill>
                  <a:srgbClr val="1E5631"/>
                </a:solidFill>
                <a:latin typeface="Arial"/>
                <a:ea typeface="Arial"/>
                <a:cs typeface="Arial"/>
                <a:sym typeface="Arial"/>
              </a:defRPr>
            </a:lvl1pPr>
          </a:lstStyle>
          <a:p>
            <a:pPr/>
            <a:r>
              <a:t>$15.72</a:t>
            </a:r>
          </a:p>
        </p:txBody>
      </p:sp>
      <p:sp>
        <p:nvSpPr>
          <p:cNvPr id="130" name="Shape 52"/>
          <p:cNvSpPr/>
          <p:nvPr/>
        </p:nvSpPr>
        <p:spPr>
          <a:xfrm>
            <a:off x="9410699" y="6934645"/>
            <a:ext cx="4500416" cy="628651"/>
          </a:xfrm>
          <a:prstGeom prst="rect">
            <a:avLst/>
          </a:prstGeom>
          <a:solidFill>
            <a:srgbClr val="E8DCCB"/>
          </a:solidFill>
          <a:ln w="12700">
            <a:miter lim="400000"/>
          </a:ln>
        </p:spPr>
        <p:txBody>
          <a:bodyPr lIns="45719" rIns="45719"/>
          <a:lstStyle/>
          <a:p>
            <a:pPr/>
          </a:p>
        </p:txBody>
      </p:sp>
      <p:sp>
        <p:nvSpPr>
          <p:cNvPr id="131" name="Shape 53"/>
          <p:cNvSpPr/>
          <p:nvPr/>
        </p:nvSpPr>
        <p:spPr>
          <a:xfrm>
            <a:off x="9410699" y="7552183"/>
            <a:ext cx="4500416" cy="12701"/>
          </a:xfrm>
          <a:prstGeom prst="rect">
            <a:avLst/>
          </a:prstGeom>
          <a:solidFill>
            <a:srgbClr val="7D4C3D">
              <a:alpha val="18000"/>
            </a:srgbClr>
          </a:solidFill>
          <a:ln w="12700">
            <a:miter lim="400000"/>
          </a:ln>
        </p:spPr>
        <p:txBody>
          <a:bodyPr lIns="45719" rIns="45719"/>
          <a:lstStyle/>
          <a:p>
            <a:pPr/>
          </a:p>
        </p:txBody>
      </p:sp>
      <p:sp>
        <p:nvSpPr>
          <p:cNvPr id="132" name="Text 54"/>
          <p:cNvSpPr txBox="1"/>
          <p:nvPr/>
        </p:nvSpPr>
        <p:spPr>
          <a:xfrm>
            <a:off x="9639300" y="7106095"/>
            <a:ext cx="4178226" cy="314326"/>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chor="ctr">
            <a:normAutofit fontScale="100000" lnSpcReduction="0"/>
          </a:bodyPr>
          <a:lstStyle>
            <a:lvl1pPr>
              <a:defRPr>
                <a:solidFill>
                  <a:srgbClr val="3A2A22"/>
                </a:solidFill>
                <a:latin typeface="Arial"/>
                <a:ea typeface="Arial"/>
                <a:cs typeface="Arial"/>
                <a:sym typeface="Arial"/>
              </a:defRPr>
            </a:lvl1pPr>
          </a:lstStyle>
          <a:p>
            <a:pPr/>
            <a:r>
              <a:t>Non-rewards</a:t>
            </a:r>
          </a:p>
        </p:txBody>
      </p:sp>
      <p:sp>
        <p:nvSpPr>
          <p:cNvPr id="133" name="Shape 55"/>
          <p:cNvSpPr/>
          <p:nvPr/>
        </p:nvSpPr>
        <p:spPr>
          <a:xfrm>
            <a:off x="13911113" y="6934645"/>
            <a:ext cx="3805387" cy="628651"/>
          </a:xfrm>
          <a:prstGeom prst="rect">
            <a:avLst/>
          </a:prstGeom>
          <a:solidFill>
            <a:srgbClr val="E8DCCB"/>
          </a:solidFill>
          <a:ln w="12700">
            <a:miter lim="400000"/>
          </a:ln>
        </p:spPr>
        <p:txBody>
          <a:bodyPr lIns="45719" rIns="45719"/>
          <a:lstStyle/>
          <a:p>
            <a:pPr/>
          </a:p>
        </p:txBody>
      </p:sp>
      <p:sp>
        <p:nvSpPr>
          <p:cNvPr id="134" name="Shape 56"/>
          <p:cNvSpPr/>
          <p:nvPr/>
        </p:nvSpPr>
        <p:spPr>
          <a:xfrm>
            <a:off x="13911113" y="7552183"/>
            <a:ext cx="3805387" cy="12701"/>
          </a:xfrm>
          <a:prstGeom prst="rect">
            <a:avLst/>
          </a:prstGeom>
          <a:solidFill>
            <a:srgbClr val="7D4C3D">
              <a:alpha val="18000"/>
            </a:srgbClr>
          </a:solidFill>
          <a:ln w="12700">
            <a:miter lim="400000"/>
          </a:ln>
        </p:spPr>
        <p:txBody>
          <a:bodyPr lIns="45719" rIns="45719"/>
          <a:lstStyle/>
          <a:p>
            <a:pPr/>
          </a:p>
        </p:txBody>
      </p:sp>
      <p:sp>
        <p:nvSpPr>
          <p:cNvPr id="135" name="Text 57"/>
          <p:cNvSpPr txBox="1"/>
          <p:nvPr/>
        </p:nvSpPr>
        <p:spPr>
          <a:xfrm>
            <a:off x="14025551" y="7106095"/>
            <a:ext cx="3462349" cy="314326"/>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chor="ctr">
            <a:normAutofit fontScale="100000" lnSpcReduction="0"/>
          </a:bodyPr>
          <a:lstStyle>
            <a:lvl1pPr algn="r">
              <a:defRPr b="1">
                <a:solidFill>
                  <a:srgbClr val="5D3527"/>
                </a:solidFill>
                <a:latin typeface="Arial"/>
                <a:ea typeface="Arial"/>
                <a:cs typeface="Arial"/>
                <a:sym typeface="Arial"/>
              </a:defRPr>
            </a:lvl1pPr>
          </a:lstStyle>
          <a:p>
            <a:pPr/>
            <a:r>
              <a:t>$14.09</a:t>
            </a:r>
          </a:p>
        </p:txBody>
      </p:sp>
      <p:sp>
        <p:nvSpPr>
          <p:cNvPr id="136" name="Text 58"/>
          <p:cNvSpPr txBox="1"/>
          <p:nvPr/>
        </p:nvSpPr>
        <p:spPr>
          <a:xfrm>
            <a:off x="9410700" y="7739508"/>
            <a:ext cx="8554974" cy="3429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b="1" sz="1900">
                <a:solidFill>
                  <a:srgbClr val="5D3527"/>
                </a:solidFill>
                <a:latin typeface="Arial"/>
                <a:ea typeface="Arial"/>
                <a:cs typeface="Arial"/>
                <a:sym typeface="Arial"/>
              </a:defRPr>
            </a:lvl1pPr>
          </a:lstStyle>
          <a:p>
            <a:pPr/>
            <a:r>
              <a:t>Mobile App leads every other channel by ~$5.58.</a:t>
            </a:r>
          </a:p>
        </p:txBody>
      </p:sp>
      <p:sp>
        <p:nvSpPr>
          <p:cNvPr id="137" name="Text 59"/>
          <p:cNvSpPr txBox="1"/>
          <p:nvPr/>
        </p:nvSpPr>
        <p:spPr>
          <a:xfrm>
            <a:off x="16570672" y="9572625"/>
            <a:ext cx="1222029" cy="333375"/>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z="1900">
                <a:solidFill>
                  <a:srgbClr val="7D4C3D">
                    <a:alpha val="85000"/>
                  </a:srgbClr>
                </a:solidFill>
                <a:latin typeface="Arial"/>
                <a:ea typeface="Arial"/>
                <a:cs typeface="Arial"/>
                <a:sym typeface="Arial"/>
              </a:defRPr>
            </a:lvl1pPr>
          </a:lstStyle>
          <a:p>
            <a:pPr/>
            <a:r>
              <a:t>Starbucks</a:t>
            </a:r>
          </a:p>
        </p:txBody>
      </p:sp>
      <p:sp>
        <p:nvSpPr>
          <p:cNvPr id="138" name="Text 60"/>
          <p:cNvSpPr txBox="1"/>
          <p:nvPr/>
        </p:nvSpPr>
        <p:spPr>
          <a:xfrm>
            <a:off x="571500" y="9591675"/>
            <a:ext cx="1106984" cy="314325"/>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pc="300">
                <a:solidFill>
                  <a:srgbClr val="7D4C3D">
                    <a:alpha val="55000"/>
                  </a:srgbClr>
                </a:solidFill>
                <a:latin typeface="Arial"/>
                <a:ea typeface="Arial"/>
                <a:cs typeface="Arial"/>
                <a:sym typeface="Arial"/>
              </a:defRPr>
            </a:lvl1pPr>
          </a:lstStyle>
          <a:p>
            <a:pPr/>
            <a:r>
              <a:t>04 / 16</a:t>
            </a:r>
          </a:p>
        </p:txBody>
      </p:sp>
    </p:spTree>
  </p:cSld>
  <p:clrMapOvr>
    <a:masterClrMapping/>
  </p:clrMapOvr>
  <p:transition xmlns:p14="http://schemas.microsoft.com/office/powerpoint/2010/main" spd="med" advClick="1"/>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AF8ED"/>
        </a:solidFill>
      </p:bgPr>
    </p:bg>
    <p:spTree>
      <p:nvGrpSpPr>
        <p:cNvPr id="1" name=""/>
        <p:cNvGrpSpPr/>
        <p:nvPr/>
      </p:nvGrpSpPr>
      <p:grpSpPr>
        <a:xfrm>
          <a:off x="0" y="0"/>
          <a:ext cx="0" cy="0"/>
          <a:chOff x="0" y="0"/>
          <a:chExt cx="0" cy="0"/>
        </a:xfrm>
      </p:grpSpPr>
      <p:sp>
        <p:nvSpPr>
          <p:cNvPr id="142" name="Text 0"/>
          <p:cNvSpPr txBox="1"/>
          <p:nvPr/>
        </p:nvSpPr>
        <p:spPr>
          <a:xfrm>
            <a:off x="1142999" y="1143000"/>
            <a:ext cx="5762745" cy="314325"/>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pc="300">
                <a:solidFill>
                  <a:srgbClr val="7D4C3D">
                    <a:alpha val="70000"/>
                  </a:srgbClr>
                </a:solidFill>
                <a:latin typeface="Arial"/>
                <a:ea typeface="Arial"/>
                <a:cs typeface="Arial"/>
                <a:sym typeface="Arial"/>
              </a:defRPr>
            </a:lvl1pPr>
          </a:lstStyle>
          <a:p>
            <a:pPr/>
            <a:r>
              <a:t>CHAPTER FOUR · CORRELATION</a:t>
            </a:r>
          </a:p>
        </p:txBody>
      </p:sp>
      <p:sp>
        <p:nvSpPr>
          <p:cNvPr id="143" name="Text 1"/>
          <p:cNvSpPr txBox="1"/>
          <p:nvPr/>
        </p:nvSpPr>
        <p:spPr>
          <a:xfrm>
            <a:off x="571500" y="1523999"/>
            <a:ext cx="14716125" cy="1305820"/>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04000"/>
              </a:lnSpc>
              <a:defRPr b="1" spc="-100" sz="4800">
                <a:solidFill>
                  <a:srgbClr val="5D3527"/>
                </a:solidFill>
                <a:latin typeface="Arial"/>
                <a:ea typeface="Arial"/>
                <a:cs typeface="Arial"/>
                <a:sym typeface="Arial"/>
              </a:defRPr>
            </a:lvl1pPr>
          </a:lstStyle>
          <a:p>
            <a:pPr/>
            <a:r>
              <a:t>Cart size, not customizations, is the dominant driver.</a:t>
            </a:r>
          </a:p>
        </p:txBody>
      </p:sp>
      <p:sp>
        <p:nvSpPr>
          <p:cNvPr id="144" name="Shape 2"/>
          <p:cNvSpPr/>
          <p:nvPr/>
        </p:nvSpPr>
        <p:spPr>
          <a:xfrm>
            <a:off x="571500" y="2944117"/>
            <a:ext cx="762000" cy="19051"/>
          </a:xfrm>
          <a:prstGeom prst="rect">
            <a:avLst/>
          </a:prstGeom>
          <a:solidFill>
            <a:srgbClr val="7D4C3D"/>
          </a:solidFill>
          <a:ln w="12700">
            <a:miter lim="400000"/>
          </a:ln>
        </p:spPr>
        <p:txBody>
          <a:bodyPr lIns="45719" rIns="45719"/>
          <a:lstStyle/>
          <a:p>
            <a:pPr/>
          </a:p>
        </p:txBody>
      </p:sp>
      <p:sp>
        <p:nvSpPr>
          <p:cNvPr id="145" name="Shape 3"/>
          <p:cNvSpPr/>
          <p:nvPr/>
        </p:nvSpPr>
        <p:spPr>
          <a:xfrm>
            <a:off x="571500" y="3229867"/>
            <a:ext cx="10012561" cy="6953251"/>
          </a:xfrm>
          <a:prstGeom prst="roundRect">
            <a:avLst>
              <a:gd name="adj" fmla="val 1918"/>
            </a:avLst>
          </a:prstGeom>
          <a:solidFill>
            <a:srgbClr val="FFFFFF"/>
          </a:solidFill>
          <a:ln>
            <a:solidFill>
              <a:srgbClr val="7D4C3D">
                <a:alpha val="18000"/>
              </a:srgbClr>
            </a:solidFill>
          </a:ln>
          <a:effectLst>
            <a:outerShdw sx="100000" sy="100000" kx="0" ky="0" algn="b" rotWithShape="0" blurRad="228600" dist="76200" dir="5400000">
              <a:srgbClr val="7D4C3D">
                <a:alpha val="8000"/>
              </a:srgbClr>
            </a:outerShdw>
          </a:effectLst>
        </p:spPr>
        <p:txBody>
          <a:bodyPr lIns="45719" rIns="45719"/>
          <a:lstStyle/>
          <a:p>
            <a:pPr/>
          </a:p>
        </p:txBody>
      </p:sp>
      <p:pic>
        <p:nvPicPr>
          <p:cNvPr id="146" name="Image 0" descr="Image 0"/>
          <p:cNvPicPr>
            <a:picLocks noChangeAspect="1"/>
          </p:cNvPicPr>
          <p:nvPr/>
        </p:nvPicPr>
        <p:blipFill>
          <a:blip r:embed="rId3">
            <a:extLst/>
          </a:blip>
          <a:stretch>
            <a:fillRect/>
          </a:stretch>
        </p:blipFill>
        <p:spPr>
          <a:xfrm>
            <a:off x="809625" y="3467992"/>
            <a:ext cx="9536311" cy="6477001"/>
          </a:xfrm>
          <a:prstGeom prst="rect">
            <a:avLst/>
          </a:prstGeom>
          <a:ln w="12700">
            <a:miter lim="400000"/>
          </a:ln>
        </p:spPr>
      </p:pic>
      <p:sp>
        <p:nvSpPr>
          <p:cNvPr id="147" name="Shape 4"/>
          <p:cNvSpPr/>
          <p:nvPr/>
        </p:nvSpPr>
        <p:spPr>
          <a:xfrm>
            <a:off x="11041260" y="4301876"/>
            <a:ext cx="6675092" cy="676276"/>
          </a:xfrm>
          <a:prstGeom prst="roundRect">
            <a:avLst>
              <a:gd name="adj" fmla="val 14085"/>
            </a:avLst>
          </a:prstGeom>
          <a:solidFill>
            <a:srgbClr val="E8DCCB"/>
          </a:solidFill>
          <a:ln w="12700">
            <a:miter lim="400000"/>
          </a:ln>
        </p:spPr>
        <p:txBody>
          <a:bodyPr lIns="45719" rIns="45719"/>
          <a:lstStyle/>
          <a:p>
            <a:pPr/>
          </a:p>
        </p:txBody>
      </p:sp>
      <p:sp>
        <p:nvSpPr>
          <p:cNvPr id="148" name="Text 5"/>
          <p:cNvSpPr txBox="1"/>
          <p:nvPr/>
        </p:nvSpPr>
        <p:spPr>
          <a:xfrm>
            <a:off x="11307960" y="4492376"/>
            <a:ext cx="1067247" cy="333376"/>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z="1900">
                <a:solidFill>
                  <a:srgbClr val="5D3527"/>
                </a:solidFill>
                <a:latin typeface="Arial"/>
                <a:ea typeface="Arial"/>
                <a:cs typeface="Arial"/>
                <a:sym typeface="Arial"/>
              </a:defRPr>
            </a:lvl1pPr>
          </a:lstStyle>
          <a:p>
            <a:pPr/>
            <a:r>
              <a:t>cart_size</a:t>
            </a:r>
          </a:p>
        </p:txBody>
      </p:sp>
      <p:sp>
        <p:nvSpPr>
          <p:cNvPr id="149" name="Shape 6"/>
          <p:cNvSpPr/>
          <p:nvPr/>
        </p:nvSpPr>
        <p:spPr>
          <a:xfrm>
            <a:off x="12527606" y="4573339"/>
            <a:ext cx="3310980" cy="133351"/>
          </a:xfrm>
          <a:prstGeom prst="roundRect">
            <a:avLst>
              <a:gd name="adj" fmla="val 50000"/>
            </a:avLst>
          </a:prstGeom>
          <a:solidFill>
            <a:srgbClr val="5D3527">
              <a:alpha val="85000"/>
            </a:srgbClr>
          </a:solidFill>
          <a:ln w="12700">
            <a:miter lim="400000"/>
          </a:ln>
        </p:spPr>
        <p:txBody>
          <a:bodyPr lIns="45719" rIns="45719"/>
          <a:lstStyle/>
          <a:p>
            <a:pPr/>
          </a:p>
        </p:txBody>
      </p:sp>
      <p:sp>
        <p:nvSpPr>
          <p:cNvPr id="150" name="Text 7"/>
          <p:cNvSpPr txBox="1"/>
          <p:nvPr/>
        </p:nvSpPr>
        <p:spPr>
          <a:xfrm>
            <a:off x="16358889" y="4501901"/>
            <a:ext cx="1090762" cy="314326"/>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gn="r">
              <a:defRPr b="1">
                <a:solidFill>
                  <a:srgbClr val="5D3527"/>
                </a:solidFill>
                <a:latin typeface="Arial"/>
                <a:ea typeface="Arial"/>
                <a:cs typeface="Arial"/>
                <a:sym typeface="Arial"/>
              </a:defRPr>
            </a:lvl1pPr>
          </a:lstStyle>
          <a:p>
            <a:pPr/>
            <a:r>
              <a:t>r = 0.900</a:t>
            </a:r>
          </a:p>
        </p:txBody>
      </p:sp>
      <p:sp>
        <p:nvSpPr>
          <p:cNvPr id="151" name="Shape 8"/>
          <p:cNvSpPr/>
          <p:nvPr/>
        </p:nvSpPr>
        <p:spPr>
          <a:xfrm>
            <a:off x="11041260" y="5111501"/>
            <a:ext cx="6675092" cy="676276"/>
          </a:xfrm>
          <a:prstGeom prst="roundRect">
            <a:avLst>
              <a:gd name="adj" fmla="val 14085"/>
            </a:avLst>
          </a:prstGeom>
          <a:solidFill>
            <a:srgbClr val="E8DCCB"/>
          </a:solidFill>
          <a:ln w="12700">
            <a:miter lim="400000"/>
          </a:ln>
        </p:spPr>
        <p:txBody>
          <a:bodyPr lIns="45719" rIns="45719"/>
          <a:lstStyle/>
          <a:p>
            <a:pPr/>
          </a:p>
        </p:txBody>
      </p:sp>
      <p:sp>
        <p:nvSpPr>
          <p:cNvPr id="152" name="Text 9"/>
          <p:cNvSpPr txBox="1"/>
          <p:nvPr/>
        </p:nvSpPr>
        <p:spPr>
          <a:xfrm>
            <a:off x="11307960" y="5302001"/>
            <a:ext cx="2333626" cy="333376"/>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z="1900">
                <a:solidFill>
                  <a:srgbClr val="5D3527"/>
                </a:solidFill>
                <a:latin typeface="Arial"/>
                <a:ea typeface="Arial"/>
                <a:cs typeface="Arial"/>
                <a:sym typeface="Arial"/>
              </a:defRPr>
            </a:lvl1pPr>
          </a:lstStyle>
          <a:p>
            <a:pPr/>
            <a:r>
              <a:t>num_customizations</a:t>
            </a:r>
          </a:p>
        </p:txBody>
      </p:sp>
      <p:sp>
        <p:nvSpPr>
          <p:cNvPr id="153" name="Shape 10"/>
          <p:cNvSpPr/>
          <p:nvPr/>
        </p:nvSpPr>
        <p:spPr>
          <a:xfrm>
            <a:off x="13793985" y="5382964"/>
            <a:ext cx="989113" cy="133351"/>
          </a:xfrm>
          <a:prstGeom prst="roundRect">
            <a:avLst>
              <a:gd name="adj" fmla="val 50000"/>
            </a:avLst>
          </a:prstGeom>
          <a:solidFill>
            <a:srgbClr val="7D4C3D">
              <a:alpha val="85000"/>
            </a:srgbClr>
          </a:solidFill>
          <a:ln w="12700">
            <a:miter lim="400000"/>
          </a:ln>
        </p:spPr>
        <p:txBody>
          <a:bodyPr lIns="45719" rIns="45719"/>
          <a:lstStyle/>
          <a:p>
            <a:pPr/>
          </a:p>
        </p:txBody>
      </p:sp>
      <p:sp>
        <p:nvSpPr>
          <p:cNvPr id="154" name="Text 11"/>
          <p:cNvSpPr txBox="1"/>
          <p:nvPr/>
        </p:nvSpPr>
        <p:spPr>
          <a:xfrm>
            <a:off x="16358889" y="5311526"/>
            <a:ext cx="1090762" cy="314326"/>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gn="r">
              <a:defRPr b="1">
                <a:solidFill>
                  <a:srgbClr val="5D3527"/>
                </a:solidFill>
                <a:latin typeface="Arial"/>
                <a:ea typeface="Arial"/>
                <a:cs typeface="Arial"/>
                <a:sym typeface="Arial"/>
              </a:defRPr>
            </a:lvl1pPr>
          </a:lstStyle>
          <a:p>
            <a:pPr/>
            <a:r>
              <a:t>r = 0.409</a:t>
            </a:r>
          </a:p>
        </p:txBody>
      </p:sp>
      <p:sp>
        <p:nvSpPr>
          <p:cNvPr id="155" name="Shape 12"/>
          <p:cNvSpPr/>
          <p:nvPr/>
        </p:nvSpPr>
        <p:spPr>
          <a:xfrm>
            <a:off x="11041260" y="5921126"/>
            <a:ext cx="6675092" cy="676276"/>
          </a:xfrm>
          <a:prstGeom prst="roundRect">
            <a:avLst>
              <a:gd name="adj" fmla="val 14085"/>
            </a:avLst>
          </a:prstGeom>
          <a:solidFill>
            <a:srgbClr val="E8DCCB"/>
          </a:solidFill>
          <a:ln w="12700">
            <a:miter lim="400000"/>
          </a:ln>
        </p:spPr>
        <p:txBody>
          <a:bodyPr lIns="45719" rIns="45719"/>
          <a:lstStyle/>
          <a:p>
            <a:pPr/>
          </a:p>
        </p:txBody>
      </p:sp>
      <p:sp>
        <p:nvSpPr>
          <p:cNvPr id="156" name="Text 13"/>
          <p:cNvSpPr txBox="1"/>
          <p:nvPr/>
        </p:nvSpPr>
        <p:spPr>
          <a:xfrm>
            <a:off x="11307960" y="6111626"/>
            <a:ext cx="2471292" cy="333376"/>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z="1900">
                <a:solidFill>
                  <a:srgbClr val="5D3527"/>
                </a:solidFill>
                <a:latin typeface="Arial"/>
                <a:ea typeface="Arial"/>
                <a:cs typeface="Arial"/>
                <a:sym typeface="Arial"/>
              </a:defRPr>
            </a:lvl1pPr>
          </a:lstStyle>
          <a:p>
            <a:pPr/>
            <a:r>
              <a:t>customer_satisfaction</a:t>
            </a:r>
          </a:p>
        </p:txBody>
      </p:sp>
      <p:sp>
        <p:nvSpPr>
          <p:cNvPr id="157" name="Shape 14"/>
          <p:cNvSpPr/>
          <p:nvPr/>
        </p:nvSpPr>
        <p:spPr>
          <a:xfrm>
            <a:off x="13931651" y="6192589"/>
            <a:ext cx="136477" cy="133351"/>
          </a:xfrm>
          <a:prstGeom prst="ellipse">
            <a:avLst/>
          </a:prstGeom>
          <a:solidFill>
            <a:srgbClr val="A48C7E">
              <a:alpha val="85000"/>
            </a:srgbClr>
          </a:solidFill>
          <a:ln w="12700">
            <a:miter lim="400000"/>
          </a:ln>
        </p:spPr>
        <p:txBody>
          <a:bodyPr lIns="45719" rIns="45719"/>
          <a:lstStyle/>
          <a:p>
            <a:pPr/>
          </a:p>
        </p:txBody>
      </p:sp>
      <p:sp>
        <p:nvSpPr>
          <p:cNvPr id="158" name="Text 15"/>
          <p:cNvSpPr txBox="1"/>
          <p:nvPr/>
        </p:nvSpPr>
        <p:spPr>
          <a:xfrm>
            <a:off x="16358889" y="6121151"/>
            <a:ext cx="1090762" cy="314326"/>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gn="r">
              <a:defRPr b="1">
                <a:solidFill>
                  <a:srgbClr val="5D3527"/>
                </a:solidFill>
                <a:latin typeface="Arial"/>
                <a:ea typeface="Arial"/>
                <a:cs typeface="Arial"/>
                <a:sym typeface="Arial"/>
              </a:defRPr>
            </a:lvl1pPr>
          </a:lstStyle>
          <a:p>
            <a:pPr/>
            <a:r>
              <a:t>r = 0.066</a:t>
            </a:r>
          </a:p>
        </p:txBody>
      </p:sp>
      <p:sp>
        <p:nvSpPr>
          <p:cNvPr id="159" name="Shape 16"/>
          <p:cNvSpPr/>
          <p:nvPr/>
        </p:nvSpPr>
        <p:spPr>
          <a:xfrm>
            <a:off x="11041260" y="6730751"/>
            <a:ext cx="6675092" cy="676276"/>
          </a:xfrm>
          <a:prstGeom prst="roundRect">
            <a:avLst>
              <a:gd name="adj" fmla="val 14085"/>
            </a:avLst>
          </a:prstGeom>
          <a:solidFill>
            <a:srgbClr val="E8DCCB"/>
          </a:solidFill>
          <a:ln w="12700">
            <a:miter lim="400000"/>
          </a:ln>
        </p:spPr>
        <p:txBody>
          <a:bodyPr lIns="45719" rIns="45719"/>
          <a:lstStyle/>
          <a:p>
            <a:pPr/>
          </a:p>
        </p:txBody>
      </p:sp>
      <p:sp>
        <p:nvSpPr>
          <p:cNvPr id="160" name="Text 17"/>
          <p:cNvSpPr txBox="1"/>
          <p:nvPr/>
        </p:nvSpPr>
        <p:spPr>
          <a:xfrm>
            <a:off x="11307960" y="6921251"/>
            <a:ext cx="2264570" cy="333376"/>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z="1900">
                <a:solidFill>
                  <a:srgbClr val="5D3527"/>
                </a:solidFill>
                <a:latin typeface="Arial"/>
                <a:ea typeface="Arial"/>
                <a:cs typeface="Arial"/>
                <a:sym typeface="Arial"/>
              </a:defRPr>
            </a:lvl1pPr>
          </a:lstStyle>
          <a:p>
            <a:pPr/>
            <a:r>
              <a:t>fulfillment_time_min</a:t>
            </a:r>
          </a:p>
        </p:txBody>
      </p:sp>
      <p:sp>
        <p:nvSpPr>
          <p:cNvPr id="161" name="Shape 18"/>
          <p:cNvSpPr/>
          <p:nvPr/>
        </p:nvSpPr>
        <p:spPr>
          <a:xfrm>
            <a:off x="13724929" y="7002213"/>
            <a:ext cx="23218" cy="133351"/>
          </a:xfrm>
          <a:prstGeom prst="roundRect">
            <a:avLst>
              <a:gd name="adj" fmla="val 50000"/>
            </a:avLst>
          </a:prstGeom>
          <a:solidFill>
            <a:srgbClr val="A48C7E">
              <a:alpha val="85000"/>
            </a:srgbClr>
          </a:solidFill>
          <a:ln w="12700">
            <a:miter lim="400000"/>
          </a:ln>
        </p:spPr>
        <p:txBody>
          <a:bodyPr lIns="45719" rIns="45719"/>
          <a:lstStyle/>
          <a:p>
            <a:pPr/>
          </a:p>
        </p:txBody>
      </p:sp>
      <p:sp>
        <p:nvSpPr>
          <p:cNvPr id="162" name="Text 19"/>
          <p:cNvSpPr txBox="1"/>
          <p:nvPr/>
        </p:nvSpPr>
        <p:spPr>
          <a:xfrm>
            <a:off x="16210954" y="6930776"/>
            <a:ext cx="1238697" cy="314326"/>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gn="r">
              <a:defRPr b="1">
                <a:solidFill>
                  <a:srgbClr val="5D3527"/>
                </a:solidFill>
                <a:latin typeface="Arial"/>
                <a:ea typeface="Arial"/>
                <a:cs typeface="Arial"/>
                <a:sym typeface="Arial"/>
              </a:defRPr>
            </a:lvl1pPr>
          </a:lstStyle>
          <a:p>
            <a:pPr/>
            <a:r>
              <a:t>r = -0.012</a:t>
            </a:r>
          </a:p>
        </p:txBody>
      </p:sp>
      <p:sp>
        <p:nvSpPr>
          <p:cNvPr id="163" name="Text 20"/>
          <p:cNvSpPr txBox="1"/>
          <p:nvPr/>
        </p:nvSpPr>
        <p:spPr>
          <a:xfrm>
            <a:off x="11041260" y="7711826"/>
            <a:ext cx="6875345" cy="1189584"/>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p>
            <a:pPr>
              <a:lnSpc>
                <a:spcPct val="155000"/>
              </a:lnSpc>
              <a:defRPr b="1" sz="1900">
                <a:solidFill>
                  <a:srgbClr val="3A2A22"/>
                </a:solidFill>
                <a:latin typeface="Arial"/>
                <a:ea typeface="Arial"/>
                <a:cs typeface="Arial"/>
                <a:sym typeface="Arial"/>
              </a:defRPr>
            </a:pPr>
            <a:r>
              <a:t>Cart size </a:t>
            </a:r>
            <a:r>
              <a:rPr b="0"/>
              <a:t>is near-deterministic for spend. Customizations matter, but only secondarily. Fulfillment time and satisfaction are essentially uncorrelated with spend.</a:t>
            </a:r>
          </a:p>
        </p:txBody>
      </p:sp>
      <p:sp>
        <p:nvSpPr>
          <p:cNvPr id="164" name="Text 21"/>
          <p:cNvSpPr txBox="1"/>
          <p:nvPr/>
        </p:nvSpPr>
        <p:spPr>
          <a:xfrm>
            <a:off x="16570672" y="9572625"/>
            <a:ext cx="1222029" cy="333375"/>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z="1900">
                <a:solidFill>
                  <a:srgbClr val="7D4C3D">
                    <a:alpha val="85000"/>
                  </a:srgbClr>
                </a:solidFill>
                <a:latin typeface="Arial"/>
                <a:ea typeface="Arial"/>
                <a:cs typeface="Arial"/>
                <a:sym typeface="Arial"/>
              </a:defRPr>
            </a:lvl1pPr>
          </a:lstStyle>
          <a:p>
            <a:pPr/>
            <a:r>
              <a:t>Starbucks</a:t>
            </a:r>
          </a:p>
        </p:txBody>
      </p:sp>
      <p:sp>
        <p:nvSpPr>
          <p:cNvPr id="165" name="Text 22"/>
          <p:cNvSpPr txBox="1"/>
          <p:nvPr/>
        </p:nvSpPr>
        <p:spPr>
          <a:xfrm>
            <a:off x="571500" y="9591675"/>
            <a:ext cx="1094780" cy="314325"/>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pc="300">
                <a:solidFill>
                  <a:srgbClr val="7D4C3D">
                    <a:alpha val="55000"/>
                  </a:srgbClr>
                </a:solidFill>
                <a:latin typeface="Arial"/>
                <a:ea typeface="Arial"/>
                <a:cs typeface="Arial"/>
                <a:sym typeface="Arial"/>
              </a:defRPr>
            </a:lvl1pPr>
          </a:lstStyle>
          <a:p>
            <a:pPr/>
            <a:r>
              <a:t>05 / 16</a:t>
            </a:r>
          </a:p>
        </p:txBody>
      </p:sp>
    </p:spTree>
  </p:cSld>
  <p:clrMapOvr>
    <a:masterClrMapping/>
  </p:clrMapOvr>
  <p:transition xmlns:p14="http://schemas.microsoft.com/office/powerpoint/2010/main" spd="med" advClick="1"/>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AF8ED"/>
        </a:solidFill>
      </p:bgPr>
    </p:bg>
    <p:spTree>
      <p:nvGrpSpPr>
        <p:cNvPr id="1" name=""/>
        <p:cNvGrpSpPr/>
        <p:nvPr/>
      </p:nvGrpSpPr>
      <p:grpSpPr>
        <a:xfrm>
          <a:off x="0" y="0"/>
          <a:ext cx="0" cy="0"/>
          <a:chOff x="0" y="0"/>
          <a:chExt cx="0" cy="0"/>
        </a:xfrm>
      </p:grpSpPr>
      <p:sp>
        <p:nvSpPr>
          <p:cNvPr id="169" name="Text 0"/>
          <p:cNvSpPr txBox="1"/>
          <p:nvPr/>
        </p:nvSpPr>
        <p:spPr>
          <a:xfrm>
            <a:off x="1142999" y="1143000"/>
            <a:ext cx="5684565" cy="314325"/>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pc="300">
                <a:solidFill>
                  <a:srgbClr val="7D4C3D">
                    <a:alpha val="70000"/>
                  </a:srgbClr>
                </a:solidFill>
                <a:latin typeface="Arial"/>
                <a:ea typeface="Arial"/>
                <a:cs typeface="Arial"/>
                <a:sym typeface="Arial"/>
              </a:defRPr>
            </a:lvl1pPr>
          </a:lstStyle>
          <a:p>
            <a:pPr/>
            <a:r>
              <a:t>CHAPTER FIVE · DISTRIBUTION</a:t>
            </a:r>
          </a:p>
        </p:txBody>
      </p:sp>
      <p:sp>
        <p:nvSpPr>
          <p:cNvPr id="170" name="Text 1"/>
          <p:cNvSpPr txBox="1"/>
          <p:nvPr/>
        </p:nvSpPr>
        <p:spPr>
          <a:xfrm>
            <a:off x="571500" y="1523999"/>
            <a:ext cx="14716125" cy="1305820"/>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04000"/>
              </a:lnSpc>
              <a:defRPr b="1" spc="-100" sz="4800">
                <a:solidFill>
                  <a:srgbClr val="5D3527"/>
                </a:solidFill>
                <a:latin typeface="Arial"/>
                <a:ea typeface="Arial"/>
                <a:cs typeface="Arial"/>
                <a:sym typeface="Arial"/>
              </a:defRPr>
            </a:lvl1pPr>
          </a:lstStyle>
          <a:p>
            <a:pPr/>
            <a:r>
              <a:t>Tighter than Chebyshev, but not quite normal.</a:t>
            </a:r>
          </a:p>
        </p:txBody>
      </p:sp>
      <p:sp>
        <p:nvSpPr>
          <p:cNvPr id="171" name="Shape 2"/>
          <p:cNvSpPr/>
          <p:nvPr/>
        </p:nvSpPr>
        <p:spPr>
          <a:xfrm>
            <a:off x="571500" y="2944117"/>
            <a:ext cx="762000" cy="19051"/>
          </a:xfrm>
          <a:prstGeom prst="rect">
            <a:avLst/>
          </a:prstGeom>
          <a:solidFill>
            <a:srgbClr val="7D4C3D"/>
          </a:solidFill>
          <a:ln w="12700">
            <a:miter lim="400000"/>
          </a:ln>
        </p:spPr>
        <p:txBody>
          <a:bodyPr lIns="45719" rIns="45719"/>
          <a:lstStyle/>
          <a:p>
            <a:pPr/>
          </a:p>
        </p:txBody>
      </p:sp>
      <p:sp>
        <p:nvSpPr>
          <p:cNvPr id="172" name="Shape 3"/>
          <p:cNvSpPr/>
          <p:nvPr/>
        </p:nvSpPr>
        <p:spPr>
          <a:xfrm>
            <a:off x="571500" y="3276451"/>
            <a:ext cx="8305800" cy="5810251"/>
          </a:xfrm>
          <a:prstGeom prst="roundRect">
            <a:avLst>
              <a:gd name="adj" fmla="val 2295"/>
            </a:avLst>
          </a:prstGeom>
          <a:solidFill>
            <a:srgbClr val="FFFFFF"/>
          </a:solidFill>
          <a:ln>
            <a:solidFill>
              <a:srgbClr val="7D4C3D">
                <a:alpha val="18000"/>
              </a:srgbClr>
            </a:solidFill>
          </a:ln>
          <a:effectLst>
            <a:outerShdw sx="100000" sy="100000" kx="0" ky="0" algn="b" rotWithShape="0" blurRad="228600" dist="76200" dir="5400000">
              <a:srgbClr val="7D4C3D">
                <a:alpha val="8000"/>
              </a:srgbClr>
            </a:outerShdw>
          </a:effectLst>
        </p:spPr>
        <p:txBody>
          <a:bodyPr lIns="45719" rIns="45719"/>
          <a:lstStyle/>
          <a:p>
            <a:pPr/>
          </a:p>
        </p:txBody>
      </p:sp>
      <p:pic>
        <p:nvPicPr>
          <p:cNvPr id="173" name="Image 0" descr="Image 0"/>
          <p:cNvPicPr>
            <a:picLocks noChangeAspect="1"/>
          </p:cNvPicPr>
          <p:nvPr/>
        </p:nvPicPr>
        <p:blipFill>
          <a:blip r:embed="rId3">
            <a:extLst/>
          </a:blip>
          <a:stretch>
            <a:fillRect/>
          </a:stretch>
        </p:blipFill>
        <p:spPr>
          <a:xfrm>
            <a:off x="809625" y="3514576"/>
            <a:ext cx="7829550" cy="5334001"/>
          </a:xfrm>
          <a:prstGeom prst="rect">
            <a:avLst/>
          </a:prstGeom>
          <a:ln w="12700">
            <a:miter lim="400000"/>
          </a:ln>
        </p:spPr>
      </p:pic>
      <p:sp>
        <p:nvSpPr>
          <p:cNvPr id="174" name="Shape 4"/>
          <p:cNvSpPr/>
          <p:nvPr/>
        </p:nvSpPr>
        <p:spPr>
          <a:xfrm>
            <a:off x="9410700" y="3229867"/>
            <a:ext cx="4019550" cy="2053532"/>
          </a:xfrm>
          <a:prstGeom prst="roundRect">
            <a:avLst>
              <a:gd name="adj" fmla="val 6494"/>
            </a:avLst>
          </a:prstGeom>
          <a:solidFill>
            <a:srgbClr val="E8DCCB"/>
          </a:solidFill>
          <a:ln>
            <a:solidFill>
              <a:srgbClr val="7D4C3D">
                <a:alpha val="18000"/>
              </a:srgbClr>
            </a:solidFill>
          </a:ln>
        </p:spPr>
        <p:txBody>
          <a:bodyPr lIns="45719" rIns="45719"/>
          <a:lstStyle/>
          <a:p>
            <a:pPr/>
          </a:p>
        </p:txBody>
      </p:sp>
      <p:sp>
        <p:nvSpPr>
          <p:cNvPr id="175" name="Text 5"/>
          <p:cNvSpPr txBox="1"/>
          <p:nvPr/>
        </p:nvSpPr>
        <p:spPr>
          <a:xfrm>
            <a:off x="9763124" y="3544192"/>
            <a:ext cx="3414142" cy="6477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04672">
              <a:defRPr spc="-88" sz="4224">
                <a:solidFill>
                  <a:srgbClr val="5D3527"/>
                </a:solidFill>
                <a:latin typeface="Arial"/>
                <a:ea typeface="Arial"/>
                <a:cs typeface="Arial"/>
                <a:sym typeface="Arial"/>
              </a:defRPr>
            </a:lvl1pPr>
          </a:lstStyle>
          <a:p>
            <a:pPr/>
            <a:r>
              <a:t>95.83%</a:t>
            </a:r>
          </a:p>
        </p:txBody>
      </p:sp>
      <p:sp>
        <p:nvSpPr>
          <p:cNvPr id="176" name="Text 6"/>
          <p:cNvSpPr txBox="1"/>
          <p:nvPr/>
        </p:nvSpPr>
        <p:spPr>
          <a:xfrm>
            <a:off x="9763124" y="4306192"/>
            <a:ext cx="3414142" cy="35808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40000"/>
              </a:lnSpc>
              <a:defRPr>
                <a:solidFill>
                  <a:srgbClr val="7D4C3D"/>
                </a:solidFill>
                <a:latin typeface="Arial"/>
                <a:ea typeface="Arial"/>
                <a:cs typeface="Arial"/>
                <a:sym typeface="Arial"/>
              </a:defRPr>
            </a:lvl1pPr>
          </a:lstStyle>
          <a:p>
            <a:pPr/>
            <a:r>
              <a:t>of orders within ±2 SD</a:t>
            </a:r>
          </a:p>
        </p:txBody>
      </p:sp>
      <p:sp>
        <p:nvSpPr>
          <p:cNvPr id="177" name="Text 7"/>
          <p:cNvSpPr txBox="1"/>
          <p:nvPr/>
        </p:nvSpPr>
        <p:spPr>
          <a:xfrm>
            <a:off x="9763124" y="4702373"/>
            <a:ext cx="3414142" cy="313197"/>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68680">
              <a:defRPr sz="1710">
                <a:solidFill>
                  <a:srgbClr val="7D4C3D">
                    <a:alpha val="75000"/>
                  </a:srgbClr>
                </a:solidFill>
                <a:latin typeface="Arial"/>
                <a:ea typeface="Arial"/>
                <a:cs typeface="Arial"/>
                <a:sym typeface="Arial"/>
              </a:defRPr>
            </a:lvl1pPr>
          </a:lstStyle>
          <a:p>
            <a:pPr/>
            <a:r>
              <a:t>Empirical</a:t>
            </a:r>
          </a:p>
        </p:txBody>
      </p:sp>
      <p:sp>
        <p:nvSpPr>
          <p:cNvPr id="178" name="Shape 8"/>
          <p:cNvSpPr/>
          <p:nvPr/>
        </p:nvSpPr>
        <p:spPr>
          <a:xfrm>
            <a:off x="13696950" y="3229867"/>
            <a:ext cx="4019550" cy="2053532"/>
          </a:xfrm>
          <a:prstGeom prst="roundRect">
            <a:avLst>
              <a:gd name="adj" fmla="val 6494"/>
            </a:avLst>
          </a:prstGeom>
          <a:solidFill>
            <a:srgbClr val="E8DCCB"/>
          </a:solidFill>
          <a:ln>
            <a:solidFill>
              <a:srgbClr val="7D4C3D">
                <a:alpha val="18000"/>
              </a:srgbClr>
            </a:solidFill>
          </a:ln>
        </p:spPr>
        <p:txBody>
          <a:bodyPr lIns="45719" rIns="45719"/>
          <a:lstStyle/>
          <a:p>
            <a:pPr/>
          </a:p>
        </p:txBody>
      </p:sp>
      <p:sp>
        <p:nvSpPr>
          <p:cNvPr id="179" name="Text 9"/>
          <p:cNvSpPr txBox="1"/>
          <p:nvPr/>
        </p:nvSpPr>
        <p:spPr>
          <a:xfrm>
            <a:off x="14049374" y="3544192"/>
            <a:ext cx="3414142" cy="6477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04672">
              <a:defRPr spc="-88" sz="4224">
                <a:solidFill>
                  <a:srgbClr val="5D3527"/>
                </a:solidFill>
                <a:latin typeface="Arial"/>
                <a:ea typeface="Arial"/>
                <a:cs typeface="Arial"/>
                <a:sym typeface="Arial"/>
              </a:defRPr>
            </a:lvl1pPr>
          </a:lstStyle>
          <a:p>
            <a:pPr/>
            <a:r>
              <a:t>99.34%</a:t>
            </a:r>
          </a:p>
        </p:txBody>
      </p:sp>
      <p:sp>
        <p:nvSpPr>
          <p:cNvPr id="180" name="Text 10"/>
          <p:cNvSpPr txBox="1"/>
          <p:nvPr/>
        </p:nvSpPr>
        <p:spPr>
          <a:xfrm>
            <a:off x="14049374" y="4306192"/>
            <a:ext cx="3414142" cy="35808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40000"/>
              </a:lnSpc>
              <a:defRPr>
                <a:solidFill>
                  <a:srgbClr val="7D4C3D"/>
                </a:solidFill>
                <a:latin typeface="Arial"/>
                <a:ea typeface="Arial"/>
                <a:cs typeface="Arial"/>
                <a:sym typeface="Arial"/>
              </a:defRPr>
            </a:lvl1pPr>
          </a:lstStyle>
          <a:p>
            <a:pPr/>
            <a:r>
              <a:t>within ±3 SD</a:t>
            </a:r>
          </a:p>
        </p:txBody>
      </p:sp>
      <p:sp>
        <p:nvSpPr>
          <p:cNvPr id="181" name="Text 11"/>
          <p:cNvSpPr txBox="1"/>
          <p:nvPr/>
        </p:nvSpPr>
        <p:spPr>
          <a:xfrm>
            <a:off x="14049374" y="4702373"/>
            <a:ext cx="3414142" cy="313197"/>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68680">
              <a:defRPr sz="1710">
                <a:solidFill>
                  <a:srgbClr val="7D4C3D">
                    <a:alpha val="75000"/>
                  </a:srgbClr>
                </a:solidFill>
                <a:latin typeface="Arial"/>
                <a:ea typeface="Arial"/>
                <a:cs typeface="Arial"/>
                <a:sym typeface="Arial"/>
              </a:defRPr>
            </a:lvl1pPr>
          </a:lstStyle>
          <a:p>
            <a:pPr/>
            <a:r>
              <a:t>Empirical</a:t>
            </a:r>
          </a:p>
        </p:txBody>
      </p:sp>
      <p:sp>
        <p:nvSpPr>
          <p:cNvPr id="182" name="Shape 12"/>
          <p:cNvSpPr/>
          <p:nvPr/>
        </p:nvSpPr>
        <p:spPr>
          <a:xfrm>
            <a:off x="9410700" y="5550098"/>
            <a:ext cx="4019550" cy="2320231"/>
          </a:xfrm>
          <a:prstGeom prst="roundRect">
            <a:avLst>
              <a:gd name="adj" fmla="val 5747"/>
            </a:avLst>
          </a:prstGeom>
          <a:solidFill>
            <a:srgbClr val="E8DCCB"/>
          </a:solidFill>
          <a:ln>
            <a:solidFill>
              <a:srgbClr val="7D4C3D">
                <a:alpha val="18000"/>
              </a:srgbClr>
            </a:solidFill>
          </a:ln>
        </p:spPr>
        <p:txBody>
          <a:bodyPr lIns="45719" rIns="45719"/>
          <a:lstStyle/>
          <a:p>
            <a:pPr/>
          </a:p>
        </p:txBody>
      </p:sp>
      <p:sp>
        <p:nvSpPr>
          <p:cNvPr id="183" name="Text 13"/>
          <p:cNvSpPr txBox="1"/>
          <p:nvPr/>
        </p:nvSpPr>
        <p:spPr>
          <a:xfrm>
            <a:off x="9763124" y="5864423"/>
            <a:ext cx="3414142" cy="6477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04672">
              <a:defRPr spc="-88" sz="4224">
                <a:solidFill>
                  <a:srgbClr val="5D3527"/>
                </a:solidFill>
                <a:latin typeface="Arial"/>
                <a:ea typeface="Arial"/>
                <a:cs typeface="Arial"/>
                <a:sym typeface="Arial"/>
              </a:defRPr>
            </a:lvl1pPr>
          </a:lstStyle>
          <a:p>
            <a:pPr/>
            <a:r>
              <a:t>≥75%</a:t>
            </a:r>
          </a:p>
        </p:txBody>
      </p:sp>
      <p:sp>
        <p:nvSpPr>
          <p:cNvPr id="184" name="Text 14"/>
          <p:cNvSpPr txBox="1"/>
          <p:nvPr/>
        </p:nvSpPr>
        <p:spPr>
          <a:xfrm>
            <a:off x="9763124" y="6626422"/>
            <a:ext cx="3414142" cy="35808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40000"/>
              </a:lnSpc>
              <a:defRPr>
                <a:solidFill>
                  <a:srgbClr val="7D4C3D"/>
                </a:solidFill>
                <a:latin typeface="Arial"/>
                <a:ea typeface="Arial"/>
                <a:cs typeface="Arial"/>
                <a:sym typeface="Arial"/>
              </a:defRPr>
            </a:lvl1pPr>
          </a:lstStyle>
          <a:p>
            <a:pPr/>
            <a:r>
              <a:t>Chebyshev floor at 2 SD</a:t>
            </a:r>
          </a:p>
        </p:txBody>
      </p:sp>
      <p:sp>
        <p:nvSpPr>
          <p:cNvPr id="185" name="Text 15"/>
          <p:cNvSpPr txBox="1"/>
          <p:nvPr/>
        </p:nvSpPr>
        <p:spPr>
          <a:xfrm>
            <a:off x="9763124" y="7022603"/>
            <a:ext cx="3414142" cy="31319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68680">
              <a:defRPr sz="1710">
                <a:solidFill>
                  <a:srgbClr val="7D4C3D">
                    <a:alpha val="75000"/>
                  </a:srgbClr>
                </a:solidFill>
                <a:latin typeface="Arial"/>
                <a:ea typeface="Arial"/>
                <a:cs typeface="Arial"/>
                <a:sym typeface="Arial"/>
              </a:defRPr>
            </a:lvl1pPr>
          </a:lstStyle>
          <a:p>
            <a:pPr/>
            <a:r>
              <a:t>Distribution-free</a:t>
            </a:r>
          </a:p>
        </p:txBody>
      </p:sp>
      <p:sp>
        <p:nvSpPr>
          <p:cNvPr id="186" name="Shape 16"/>
          <p:cNvSpPr/>
          <p:nvPr/>
        </p:nvSpPr>
        <p:spPr>
          <a:xfrm>
            <a:off x="13696950" y="5550098"/>
            <a:ext cx="4019550" cy="2320231"/>
          </a:xfrm>
          <a:prstGeom prst="roundRect">
            <a:avLst>
              <a:gd name="adj" fmla="val 5747"/>
            </a:avLst>
          </a:prstGeom>
          <a:solidFill>
            <a:srgbClr val="E8DCCB"/>
          </a:solidFill>
          <a:ln>
            <a:solidFill>
              <a:srgbClr val="7D4C3D">
                <a:alpha val="18000"/>
              </a:srgbClr>
            </a:solidFill>
          </a:ln>
        </p:spPr>
        <p:txBody>
          <a:bodyPr lIns="45719" rIns="45719"/>
          <a:lstStyle/>
          <a:p>
            <a:pPr/>
          </a:p>
        </p:txBody>
      </p:sp>
      <p:sp>
        <p:nvSpPr>
          <p:cNvPr id="187" name="Text 17"/>
          <p:cNvSpPr txBox="1"/>
          <p:nvPr/>
        </p:nvSpPr>
        <p:spPr>
          <a:xfrm>
            <a:off x="14049374" y="5864423"/>
            <a:ext cx="3414142" cy="6477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04672">
              <a:defRPr spc="-88" sz="4224">
                <a:solidFill>
                  <a:srgbClr val="5D3527"/>
                </a:solidFill>
                <a:latin typeface="Arial"/>
                <a:ea typeface="Arial"/>
                <a:cs typeface="Arial"/>
                <a:sym typeface="Arial"/>
              </a:defRPr>
            </a:lvl1pPr>
          </a:lstStyle>
          <a:p>
            <a:pPr/>
            <a:r>
              <a:t>right-skew</a:t>
            </a:r>
          </a:p>
        </p:txBody>
      </p:sp>
      <p:sp>
        <p:nvSpPr>
          <p:cNvPr id="188" name="Text 18"/>
          <p:cNvSpPr txBox="1"/>
          <p:nvPr/>
        </p:nvSpPr>
        <p:spPr>
          <a:xfrm>
            <a:off x="14049374" y="6626422"/>
            <a:ext cx="3414142" cy="35808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40000"/>
              </a:lnSpc>
              <a:defRPr>
                <a:solidFill>
                  <a:srgbClr val="7D4C3D"/>
                </a:solidFill>
                <a:latin typeface="Arial"/>
                <a:ea typeface="Arial"/>
                <a:cs typeface="Arial"/>
                <a:sym typeface="Arial"/>
              </a:defRPr>
            </a:lvl1pPr>
          </a:lstStyle>
          <a:p>
            <a:pPr/>
            <a:r>
              <a:t>moderate</a:t>
            </a:r>
          </a:p>
        </p:txBody>
      </p:sp>
      <p:sp>
        <p:nvSpPr>
          <p:cNvPr id="189" name="Text 19"/>
          <p:cNvSpPr txBox="1"/>
          <p:nvPr/>
        </p:nvSpPr>
        <p:spPr>
          <a:xfrm>
            <a:off x="14049374" y="7022603"/>
            <a:ext cx="3414142" cy="57989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68680">
              <a:defRPr sz="1710">
                <a:solidFill>
                  <a:srgbClr val="7D4C3D">
                    <a:alpha val="75000"/>
                  </a:srgbClr>
                </a:solidFill>
                <a:latin typeface="Arial"/>
                <a:ea typeface="Arial"/>
                <a:cs typeface="Arial"/>
                <a:sym typeface="Arial"/>
              </a:defRPr>
            </a:lvl1pPr>
          </a:lstStyle>
          <a:p>
            <a:pPr/>
            <a:r>
              <a:t>Normal underestimates the right tail</a:t>
            </a:r>
          </a:p>
        </p:txBody>
      </p:sp>
      <p:sp>
        <p:nvSpPr>
          <p:cNvPr id="190" name="Text 20"/>
          <p:cNvSpPr txBox="1"/>
          <p:nvPr/>
        </p:nvSpPr>
        <p:spPr>
          <a:xfrm>
            <a:off x="9410700" y="8117978"/>
            <a:ext cx="8554974" cy="805756"/>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p>
            <a:pPr>
              <a:lnSpc>
                <a:spcPct val="155000"/>
              </a:lnSpc>
              <a:defRPr sz="1900">
                <a:solidFill>
                  <a:srgbClr val="3A2A22"/>
                </a:solidFill>
                <a:latin typeface="Arial"/>
                <a:ea typeface="Arial"/>
                <a:cs typeface="Arial"/>
                <a:sym typeface="Arial"/>
              </a:defRPr>
            </a:pPr>
            <a:r>
              <a:t>Because normality is imperfect, we use </a:t>
            </a:r>
            <a:r>
              <a:rPr b="1"/>
              <a:t>empirical probabilities </a:t>
            </a:r>
            <a:r>
              <a:t>- not the normal approximation - for tail events.</a:t>
            </a:r>
          </a:p>
        </p:txBody>
      </p:sp>
      <p:sp>
        <p:nvSpPr>
          <p:cNvPr id="191" name="Text 21"/>
          <p:cNvSpPr txBox="1"/>
          <p:nvPr/>
        </p:nvSpPr>
        <p:spPr>
          <a:xfrm>
            <a:off x="16570672" y="9572625"/>
            <a:ext cx="1222029" cy="333375"/>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z="1900">
                <a:solidFill>
                  <a:srgbClr val="7D4C3D">
                    <a:alpha val="85000"/>
                  </a:srgbClr>
                </a:solidFill>
                <a:latin typeface="Arial"/>
                <a:ea typeface="Arial"/>
                <a:cs typeface="Arial"/>
                <a:sym typeface="Arial"/>
              </a:defRPr>
            </a:lvl1pPr>
          </a:lstStyle>
          <a:p>
            <a:pPr/>
            <a:r>
              <a:t>Starbucks</a:t>
            </a:r>
          </a:p>
        </p:txBody>
      </p:sp>
      <p:sp>
        <p:nvSpPr>
          <p:cNvPr id="192" name="Text 22"/>
          <p:cNvSpPr txBox="1"/>
          <p:nvPr/>
        </p:nvSpPr>
        <p:spPr>
          <a:xfrm>
            <a:off x="571500" y="9591675"/>
            <a:ext cx="1101030" cy="314325"/>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pc="300">
                <a:solidFill>
                  <a:srgbClr val="7D4C3D">
                    <a:alpha val="55000"/>
                  </a:srgbClr>
                </a:solidFill>
                <a:latin typeface="Arial"/>
                <a:ea typeface="Arial"/>
                <a:cs typeface="Arial"/>
                <a:sym typeface="Arial"/>
              </a:defRPr>
            </a:lvl1pPr>
          </a:lstStyle>
          <a:p>
            <a:pPr/>
            <a:r>
              <a:t>06 / 16</a:t>
            </a:r>
          </a:p>
        </p:txBody>
      </p:sp>
    </p:spTree>
  </p:cSld>
  <p:clrMapOvr>
    <a:masterClrMapping/>
  </p:clrMapOvr>
  <p:transition xmlns:p14="http://schemas.microsoft.com/office/powerpoint/2010/main" spd="med" advClick="1"/>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DBCBBB"/>
        </a:solidFill>
      </p:bgPr>
    </p:bg>
    <p:spTree>
      <p:nvGrpSpPr>
        <p:cNvPr id="1" name=""/>
        <p:cNvGrpSpPr/>
        <p:nvPr/>
      </p:nvGrpSpPr>
      <p:grpSpPr>
        <a:xfrm>
          <a:off x="0" y="0"/>
          <a:ext cx="0" cy="0"/>
          <a:chOff x="0" y="0"/>
          <a:chExt cx="0" cy="0"/>
        </a:xfrm>
      </p:grpSpPr>
      <p:sp>
        <p:nvSpPr>
          <p:cNvPr id="196" name="Text 0"/>
          <p:cNvSpPr txBox="1"/>
          <p:nvPr/>
        </p:nvSpPr>
        <p:spPr>
          <a:xfrm>
            <a:off x="1143000" y="1143000"/>
            <a:ext cx="7940269" cy="314325"/>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pc="300">
                <a:solidFill>
                  <a:srgbClr val="5D3527">
                    <a:alpha val="70000"/>
                  </a:srgbClr>
                </a:solidFill>
                <a:latin typeface="Arial"/>
                <a:ea typeface="Arial"/>
                <a:cs typeface="Arial"/>
                <a:sym typeface="Arial"/>
              </a:defRPr>
            </a:lvl1pPr>
          </a:lstStyle>
          <a:p>
            <a:pPr/>
            <a:r>
              <a:t>CHAPTER SIX · 95% CONFIDENCE INTERVALS</a:t>
            </a:r>
          </a:p>
        </p:txBody>
      </p:sp>
      <p:sp>
        <p:nvSpPr>
          <p:cNvPr id="197" name="Text 1"/>
          <p:cNvSpPr txBox="1"/>
          <p:nvPr/>
        </p:nvSpPr>
        <p:spPr>
          <a:xfrm>
            <a:off x="571500" y="1523999"/>
            <a:ext cx="14716125" cy="1305820"/>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86968">
              <a:lnSpc>
                <a:spcPct val="104000"/>
              </a:lnSpc>
              <a:defRPr b="1" spc="-97" sz="4656">
                <a:solidFill>
                  <a:srgbClr val="5D3527"/>
                </a:solidFill>
                <a:latin typeface="Arial"/>
                <a:ea typeface="Arial"/>
                <a:cs typeface="Arial"/>
                <a:sym typeface="Arial"/>
              </a:defRPr>
            </a:lvl1pPr>
          </a:lstStyle>
          <a:p>
            <a:pPr/>
            <a:r>
              <a:t>Mobile and Rewards bands don't overlap with the rest.</a:t>
            </a:r>
          </a:p>
        </p:txBody>
      </p:sp>
      <p:sp>
        <p:nvSpPr>
          <p:cNvPr id="198" name="Shape 2"/>
          <p:cNvSpPr/>
          <p:nvPr/>
        </p:nvSpPr>
        <p:spPr>
          <a:xfrm>
            <a:off x="571500" y="2944117"/>
            <a:ext cx="762000" cy="19051"/>
          </a:xfrm>
          <a:prstGeom prst="rect">
            <a:avLst/>
          </a:prstGeom>
          <a:solidFill>
            <a:srgbClr val="7D4C3D"/>
          </a:solidFill>
          <a:ln w="12700">
            <a:miter lim="400000"/>
          </a:ln>
        </p:spPr>
        <p:txBody>
          <a:bodyPr lIns="45719" rIns="45719"/>
          <a:lstStyle/>
          <a:p>
            <a:pPr/>
          </a:p>
        </p:txBody>
      </p:sp>
      <p:sp>
        <p:nvSpPr>
          <p:cNvPr id="199" name="Shape 3"/>
          <p:cNvSpPr/>
          <p:nvPr/>
        </p:nvSpPr>
        <p:spPr>
          <a:xfrm>
            <a:off x="571500" y="3248917"/>
            <a:ext cx="10012561" cy="6000751"/>
          </a:xfrm>
          <a:prstGeom prst="roundRect">
            <a:avLst>
              <a:gd name="adj" fmla="val 2222"/>
            </a:avLst>
          </a:prstGeom>
          <a:solidFill>
            <a:srgbClr val="FAF8ED"/>
          </a:solidFill>
          <a:ln>
            <a:solidFill>
              <a:srgbClr val="7D4C3D">
                <a:alpha val="18000"/>
              </a:srgbClr>
            </a:solidFill>
          </a:ln>
          <a:effectLst>
            <a:outerShdw sx="100000" sy="100000" kx="0" ky="0" algn="b" rotWithShape="0" blurRad="228600" dist="76200" dir="5400000">
              <a:srgbClr val="7D4C3D">
                <a:alpha val="8000"/>
              </a:srgbClr>
            </a:outerShdw>
          </a:effectLst>
        </p:spPr>
        <p:txBody>
          <a:bodyPr lIns="45719" rIns="45719"/>
          <a:lstStyle/>
          <a:p>
            <a:pPr/>
          </a:p>
        </p:txBody>
      </p:sp>
      <p:pic>
        <p:nvPicPr>
          <p:cNvPr id="200" name="Image 0" descr="Image 0"/>
          <p:cNvPicPr>
            <a:picLocks noChangeAspect="1"/>
          </p:cNvPicPr>
          <p:nvPr/>
        </p:nvPicPr>
        <p:blipFill>
          <a:blip r:embed="rId3">
            <a:extLst/>
          </a:blip>
          <a:stretch>
            <a:fillRect/>
          </a:stretch>
        </p:blipFill>
        <p:spPr>
          <a:xfrm>
            <a:off x="809625" y="3487042"/>
            <a:ext cx="9536311" cy="5524501"/>
          </a:xfrm>
          <a:prstGeom prst="rect">
            <a:avLst/>
          </a:prstGeom>
          <a:ln w="12700">
            <a:miter lim="400000"/>
          </a:ln>
        </p:spPr>
      </p:pic>
      <p:sp>
        <p:nvSpPr>
          <p:cNvPr id="201" name="Shape 4"/>
          <p:cNvSpPr/>
          <p:nvPr/>
        </p:nvSpPr>
        <p:spPr>
          <a:xfrm>
            <a:off x="11041260" y="3849439"/>
            <a:ext cx="3158580" cy="619126"/>
          </a:xfrm>
          <a:prstGeom prst="roundRect">
            <a:avLst>
              <a:gd name="adj" fmla="val 18462"/>
            </a:avLst>
          </a:prstGeom>
          <a:solidFill>
            <a:srgbClr val="7D4C3D"/>
          </a:solidFill>
          <a:ln w="12700">
            <a:miter lim="400000"/>
          </a:ln>
        </p:spPr>
        <p:txBody>
          <a:bodyPr lIns="45719" rIns="45719"/>
          <a:lstStyle/>
          <a:p>
            <a:pPr/>
          </a:p>
        </p:txBody>
      </p:sp>
      <p:sp>
        <p:nvSpPr>
          <p:cNvPr id="202" name="Text 5"/>
          <p:cNvSpPr txBox="1"/>
          <p:nvPr/>
        </p:nvSpPr>
        <p:spPr>
          <a:xfrm>
            <a:off x="11269860" y="4020889"/>
            <a:ext cx="2796138" cy="314326"/>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chor="ctr">
            <a:normAutofit fontScale="100000" lnSpcReduction="0"/>
          </a:bodyPr>
          <a:lstStyle>
            <a:lvl1pPr>
              <a:defRPr b="1">
                <a:solidFill>
                  <a:srgbClr val="FAF8ED"/>
                </a:solidFill>
                <a:latin typeface="Arial"/>
                <a:ea typeface="Arial"/>
                <a:cs typeface="Arial"/>
                <a:sym typeface="Arial"/>
              </a:defRPr>
            </a:lvl1pPr>
          </a:lstStyle>
          <a:p>
            <a:pPr/>
            <a:r>
              <a:t>Segment</a:t>
            </a:r>
          </a:p>
        </p:txBody>
      </p:sp>
      <p:sp>
        <p:nvSpPr>
          <p:cNvPr id="203" name="Shape 6"/>
          <p:cNvSpPr/>
          <p:nvPr/>
        </p:nvSpPr>
        <p:spPr>
          <a:xfrm>
            <a:off x="14199840" y="3849439"/>
            <a:ext cx="3516512" cy="619126"/>
          </a:xfrm>
          <a:prstGeom prst="rect">
            <a:avLst/>
          </a:prstGeom>
          <a:solidFill>
            <a:srgbClr val="7D4C3D"/>
          </a:solidFill>
          <a:ln w="12700">
            <a:miter lim="400000"/>
          </a:ln>
        </p:spPr>
        <p:txBody>
          <a:bodyPr lIns="45719" rIns="45719"/>
          <a:lstStyle/>
          <a:p>
            <a:pPr/>
          </a:p>
        </p:txBody>
      </p:sp>
      <p:sp>
        <p:nvSpPr>
          <p:cNvPr id="204" name="Text 7"/>
          <p:cNvSpPr txBox="1"/>
          <p:nvPr/>
        </p:nvSpPr>
        <p:spPr>
          <a:xfrm>
            <a:off x="14322944" y="4020889"/>
            <a:ext cx="3164807" cy="314326"/>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chor="ctr">
            <a:normAutofit fontScale="100000" lnSpcReduction="0"/>
          </a:bodyPr>
          <a:lstStyle>
            <a:lvl1pPr algn="r">
              <a:defRPr b="1">
                <a:solidFill>
                  <a:srgbClr val="FAF8ED"/>
                </a:solidFill>
                <a:latin typeface="Arial"/>
                <a:ea typeface="Arial"/>
                <a:cs typeface="Arial"/>
                <a:sym typeface="Arial"/>
              </a:defRPr>
            </a:lvl1pPr>
          </a:lstStyle>
          <a:p>
            <a:pPr/>
            <a:r>
              <a:t>95% CI</a:t>
            </a:r>
          </a:p>
        </p:txBody>
      </p:sp>
      <p:sp>
        <p:nvSpPr>
          <p:cNvPr id="205" name="Shape 8"/>
          <p:cNvSpPr/>
          <p:nvPr/>
        </p:nvSpPr>
        <p:spPr>
          <a:xfrm>
            <a:off x="11041260" y="4468564"/>
            <a:ext cx="3158580" cy="623889"/>
          </a:xfrm>
          <a:prstGeom prst="rect">
            <a:avLst/>
          </a:prstGeom>
          <a:solidFill>
            <a:srgbClr val="FFFDF7">
              <a:alpha val="55000"/>
            </a:srgbClr>
          </a:solidFill>
          <a:ln w="12700">
            <a:miter lim="400000"/>
          </a:ln>
        </p:spPr>
        <p:txBody>
          <a:bodyPr lIns="45719" rIns="45719"/>
          <a:lstStyle/>
          <a:p>
            <a:pPr/>
          </a:p>
        </p:txBody>
      </p:sp>
      <p:sp>
        <p:nvSpPr>
          <p:cNvPr id="206" name="Shape 9"/>
          <p:cNvSpPr/>
          <p:nvPr/>
        </p:nvSpPr>
        <p:spPr>
          <a:xfrm>
            <a:off x="11041260" y="5081339"/>
            <a:ext cx="3158580" cy="12701"/>
          </a:xfrm>
          <a:prstGeom prst="rect">
            <a:avLst/>
          </a:prstGeom>
          <a:solidFill>
            <a:srgbClr val="7D4C3D">
              <a:alpha val="18000"/>
            </a:srgbClr>
          </a:solidFill>
          <a:ln w="12700">
            <a:miter lim="400000"/>
          </a:ln>
        </p:spPr>
        <p:txBody>
          <a:bodyPr lIns="45719" rIns="45719"/>
          <a:lstStyle/>
          <a:p>
            <a:pPr/>
          </a:p>
        </p:txBody>
      </p:sp>
      <p:sp>
        <p:nvSpPr>
          <p:cNvPr id="207" name="Text 10"/>
          <p:cNvSpPr txBox="1"/>
          <p:nvPr/>
        </p:nvSpPr>
        <p:spPr>
          <a:xfrm>
            <a:off x="11269860" y="4640014"/>
            <a:ext cx="2796138" cy="313197"/>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chor="ctr">
            <a:normAutofit fontScale="100000" lnSpcReduction="0"/>
          </a:bodyPr>
          <a:lstStyle>
            <a:lvl1pPr defTabSz="868680">
              <a:defRPr sz="1710">
                <a:solidFill>
                  <a:srgbClr val="3A2A22"/>
                </a:solidFill>
                <a:latin typeface="Arial"/>
                <a:ea typeface="Arial"/>
                <a:cs typeface="Arial"/>
                <a:sym typeface="Arial"/>
              </a:defRPr>
            </a:lvl1pPr>
          </a:lstStyle>
          <a:p>
            <a:pPr/>
            <a:r>
              <a:t>Overall mean</a:t>
            </a:r>
          </a:p>
        </p:txBody>
      </p:sp>
      <p:sp>
        <p:nvSpPr>
          <p:cNvPr id="208" name="Shape 11"/>
          <p:cNvSpPr/>
          <p:nvPr/>
        </p:nvSpPr>
        <p:spPr>
          <a:xfrm>
            <a:off x="14199840" y="4468564"/>
            <a:ext cx="3516512" cy="623889"/>
          </a:xfrm>
          <a:prstGeom prst="rect">
            <a:avLst/>
          </a:prstGeom>
          <a:solidFill>
            <a:srgbClr val="FFFDF7">
              <a:alpha val="55000"/>
            </a:srgbClr>
          </a:solidFill>
          <a:ln w="12700">
            <a:miter lim="400000"/>
          </a:ln>
        </p:spPr>
        <p:txBody>
          <a:bodyPr lIns="45719" rIns="45719"/>
          <a:lstStyle/>
          <a:p>
            <a:pPr/>
          </a:p>
        </p:txBody>
      </p:sp>
      <p:sp>
        <p:nvSpPr>
          <p:cNvPr id="209" name="Shape 12"/>
          <p:cNvSpPr/>
          <p:nvPr/>
        </p:nvSpPr>
        <p:spPr>
          <a:xfrm>
            <a:off x="14199840" y="5081339"/>
            <a:ext cx="3516512" cy="12701"/>
          </a:xfrm>
          <a:prstGeom prst="rect">
            <a:avLst/>
          </a:prstGeom>
          <a:solidFill>
            <a:srgbClr val="7D4C3D">
              <a:alpha val="18000"/>
            </a:srgbClr>
          </a:solidFill>
          <a:ln w="12700">
            <a:miter lim="400000"/>
          </a:ln>
        </p:spPr>
        <p:txBody>
          <a:bodyPr lIns="45719" rIns="45719"/>
          <a:lstStyle/>
          <a:p>
            <a:pPr/>
          </a:p>
        </p:txBody>
      </p:sp>
      <p:sp>
        <p:nvSpPr>
          <p:cNvPr id="210" name="Text 13"/>
          <p:cNvSpPr txBox="1"/>
          <p:nvPr/>
        </p:nvSpPr>
        <p:spPr>
          <a:xfrm>
            <a:off x="14322944" y="4640014"/>
            <a:ext cx="3164807" cy="313197"/>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chor="ctr">
            <a:normAutofit fontScale="100000" lnSpcReduction="0"/>
          </a:bodyPr>
          <a:lstStyle>
            <a:lvl1pPr algn="r" defTabSz="868680">
              <a:defRPr b="1" sz="1710">
                <a:solidFill>
                  <a:srgbClr val="5D3527"/>
                </a:solidFill>
                <a:latin typeface="Arial"/>
                <a:ea typeface="Arial"/>
                <a:cs typeface="Arial"/>
                <a:sym typeface="Arial"/>
              </a:defRPr>
            </a:lvl1pPr>
          </a:lstStyle>
          <a:p>
            <a:pPr/>
            <a:r>
              <a:t>[14.83, 14.90]</a:t>
            </a:r>
          </a:p>
        </p:txBody>
      </p:sp>
      <p:sp>
        <p:nvSpPr>
          <p:cNvPr id="211" name="Shape 14"/>
          <p:cNvSpPr/>
          <p:nvPr/>
        </p:nvSpPr>
        <p:spPr>
          <a:xfrm>
            <a:off x="11041260" y="5092451"/>
            <a:ext cx="3158580" cy="628651"/>
          </a:xfrm>
          <a:prstGeom prst="rect">
            <a:avLst/>
          </a:prstGeom>
          <a:solidFill>
            <a:srgbClr val="E8DCCB"/>
          </a:solidFill>
          <a:ln w="12700">
            <a:miter lim="400000"/>
          </a:ln>
        </p:spPr>
        <p:txBody>
          <a:bodyPr lIns="45719" rIns="45719"/>
          <a:lstStyle/>
          <a:p>
            <a:pPr/>
          </a:p>
        </p:txBody>
      </p:sp>
      <p:sp>
        <p:nvSpPr>
          <p:cNvPr id="212" name="Shape 15"/>
          <p:cNvSpPr/>
          <p:nvPr/>
        </p:nvSpPr>
        <p:spPr>
          <a:xfrm>
            <a:off x="11041260" y="5709989"/>
            <a:ext cx="3158580" cy="12701"/>
          </a:xfrm>
          <a:prstGeom prst="rect">
            <a:avLst/>
          </a:prstGeom>
          <a:solidFill>
            <a:srgbClr val="7D4C3D">
              <a:alpha val="18000"/>
            </a:srgbClr>
          </a:solidFill>
          <a:ln w="12700">
            <a:miter lim="400000"/>
          </a:ln>
        </p:spPr>
        <p:txBody>
          <a:bodyPr lIns="45719" rIns="45719"/>
          <a:lstStyle/>
          <a:p>
            <a:pPr/>
          </a:p>
        </p:txBody>
      </p:sp>
      <p:sp>
        <p:nvSpPr>
          <p:cNvPr id="213" name="Text 16"/>
          <p:cNvSpPr txBox="1"/>
          <p:nvPr/>
        </p:nvSpPr>
        <p:spPr>
          <a:xfrm>
            <a:off x="11269860" y="5263901"/>
            <a:ext cx="2796138" cy="314326"/>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chor="ctr">
            <a:normAutofit fontScale="100000" lnSpcReduction="0"/>
          </a:bodyPr>
          <a:lstStyle>
            <a:lvl1pPr>
              <a:defRPr>
                <a:solidFill>
                  <a:srgbClr val="3A2A22"/>
                </a:solidFill>
                <a:latin typeface="Arial"/>
                <a:ea typeface="Arial"/>
                <a:cs typeface="Arial"/>
                <a:sym typeface="Arial"/>
              </a:defRPr>
            </a:lvl1pPr>
          </a:lstStyle>
          <a:p>
            <a:pPr/>
            <a:r>
              <a:t>Mobile App</a:t>
            </a:r>
          </a:p>
        </p:txBody>
      </p:sp>
      <p:sp>
        <p:nvSpPr>
          <p:cNvPr id="214" name="Shape 17"/>
          <p:cNvSpPr/>
          <p:nvPr/>
        </p:nvSpPr>
        <p:spPr>
          <a:xfrm>
            <a:off x="14199840" y="5092451"/>
            <a:ext cx="3516512" cy="628651"/>
          </a:xfrm>
          <a:prstGeom prst="rect">
            <a:avLst/>
          </a:prstGeom>
          <a:solidFill>
            <a:srgbClr val="E8DCCB"/>
          </a:solidFill>
          <a:ln w="12700">
            <a:miter lim="400000"/>
          </a:ln>
        </p:spPr>
        <p:txBody>
          <a:bodyPr lIns="45719" rIns="45719"/>
          <a:lstStyle/>
          <a:p>
            <a:pPr/>
          </a:p>
        </p:txBody>
      </p:sp>
      <p:sp>
        <p:nvSpPr>
          <p:cNvPr id="215" name="Shape 18"/>
          <p:cNvSpPr/>
          <p:nvPr/>
        </p:nvSpPr>
        <p:spPr>
          <a:xfrm>
            <a:off x="14199840" y="5709989"/>
            <a:ext cx="3516512" cy="12701"/>
          </a:xfrm>
          <a:prstGeom prst="rect">
            <a:avLst/>
          </a:prstGeom>
          <a:solidFill>
            <a:srgbClr val="7D4C3D">
              <a:alpha val="18000"/>
            </a:srgbClr>
          </a:solidFill>
          <a:ln w="12700">
            <a:miter lim="400000"/>
          </a:ln>
        </p:spPr>
        <p:txBody>
          <a:bodyPr lIns="45719" rIns="45719"/>
          <a:lstStyle/>
          <a:p>
            <a:pPr/>
          </a:p>
        </p:txBody>
      </p:sp>
      <p:sp>
        <p:nvSpPr>
          <p:cNvPr id="216" name="Text 19"/>
          <p:cNvSpPr txBox="1"/>
          <p:nvPr/>
        </p:nvSpPr>
        <p:spPr>
          <a:xfrm>
            <a:off x="14322944" y="5263901"/>
            <a:ext cx="3164807" cy="314326"/>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chor="ctr">
            <a:normAutofit fontScale="100000" lnSpcReduction="0"/>
          </a:bodyPr>
          <a:lstStyle>
            <a:lvl1pPr algn="r">
              <a:defRPr b="1">
                <a:solidFill>
                  <a:srgbClr val="1E5631"/>
                </a:solidFill>
                <a:latin typeface="Arial"/>
                <a:ea typeface="Arial"/>
                <a:cs typeface="Arial"/>
                <a:sym typeface="Arial"/>
              </a:defRPr>
            </a:lvl1pPr>
          </a:lstStyle>
          <a:p>
            <a:pPr/>
            <a:r>
              <a:t>[18.02, 18.13]</a:t>
            </a:r>
          </a:p>
        </p:txBody>
      </p:sp>
      <p:sp>
        <p:nvSpPr>
          <p:cNvPr id="217" name="Shape 20"/>
          <p:cNvSpPr/>
          <p:nvPr/>
        </p:nvSpPr>
        <p:spPr>
          <a:xfrm>
            <a:off x="11041260" y="5721101"/>
            <a:ext cx="3158580" cy="628651"/>
          </a:xfrm>
          <a:prstGeom prst="rect">
            <a:avLst/>
          </a:prstGeom>
          <a:solidFill>
            <a:srgbClr val="FFFDF7">
              <a:alpha val="55000"/>
            </a:srgbClr>
          </a:solidFill>
          <a:ln w="12700">
            <a:miter lim="400000"/>
          </a:ln>
        </p:spPr>
        <p:txBody>
          <a:bodyPr lIns="45719" rIns="45719"/>
          <a:lstStyle/>
          <a:p>
            <a:pPr/>
          </a:p>
        </p:txBody>
      </p:sp>
      <p:sp>
        <p:nvSpPr>
          <p:cNvPr id="218" name="Shape 21"/>
          <p:cNvSpPr/>
          <p:nvPr/>
        </p:nvSpPr>
        <p:spPr>
          <a:xfrm>
            <a:off x="11041260" y="6338639"/>
            <a:ext cx="3158580" cy="12701"/>
          </a:xfrm>
          <a:prstGeom prst="rect">
            <a:avLst/>
          </a:prstGeom>
          <a:solidFill>
            <a:srgbClr val="7D4C3D">
              <a:alpha val="18000"/>
            </a:srgbClr>
          </a:solidFill>
          <a:ln w="12700">
            <a:miter lim="400000"/>
          </a:ln>
        </p:spPr>
        <p:txBody>
          <a:bodyPr lIns="45719" rIns="45719"/>
          <a:lstStyle/>
          <a:p>
            <a:pPr/>
          </a:p>
        </p:txBody>
      </p:sp>
      <p:sp>
        <p:nvSpPr>
          <p:cNvPr id="219" name="Text 22"/>
          <p:cNvSpPr txBox="1"/>
          <p:nvPr/>
        </p:nvSpPr>
        <p:spPr>
          <a:xfrm>
            <a:off x="11269860" y="5892551"/>
            <a:ext cx="2796138" cy="314326"/>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chor="ctr">
            <a:normAutofit fontScale="100000" lnSpcReduction="0"/>
          </a:bodyPr>
          <a:lstStyle>
            <a:lvl1pPr>
              <a:defRPr>
                <a:solidFill>
                  <a:srgbClr val="3A2A22"/>
                </a:solidFill>
                <a:latin typeface="Arial"/>
                <a:ea typeface="Arial"/>
                <a:cs typeface="Arial"/>
                <a:sym typeface="Arial"/>
              </a:defRPr>
            </a:lvl1pPr>
          </a:lstStyle>
          <a:p>
            <a:pPr/>
            <a:r>
              <a:t>Rewards</a:t>
            </a:r>
          </a:p>
        </p:txBody>
      </p:sp>
      <p:sp>
        <p:nvSpPr>
          <p:cNvPr id="220" name="Shape 23"/>
          <p:cNvSpPr/>
          <p:nvPr/>
        </p:nvSpPr>
        <p:spPr>
          <a:xfrm>
            <a:off x="14199840" y="5721101"/>
            <a:ext cx="3516512" cy="628651"/>
          </a:xfrm>
          <a:prstGeom prst="rect">
            <a:avLst/>
          </a:prstGeom>
          <a:solidFill>
            <a:srgbClr val="FFFDF7">
              <a:alpha val="55000"/>
            </a:srgbClr>
          </a:solidFill>
          <a:ln w="12700">
            <a:miter lim="400000"/>
          </a:ln>
        </p:spPr>
        <p:txBody>
          <a:bodyPr lIns="45719" rIns="45719"/>
          <a:lstStyle/>
          <a:p>
            <a:pPr/>
          </a:p>
        </p:txBody>
      </p:sp>
      <p:sp>
        <p:nvSpPr>
          <p:cNvPr id="221" name="Shape 24"/>
          <p:cNvSpPr/>
          <p:nvPr/>
        </p:nvSpPr>
        <p:spPr>
          <a:xfrm>
            <a:off x="14199840" y="6338639"/>
            <a:ext cx="3516512" cy="12701"/>
          </a:xfrm>
          <a:prstGeom prst="rect">
            <a:avLst/>
          </a:prstGeom>
          <a:solidFill>
            <a:srgbClr val="7D4C3D">
              <a:alpha val="18000"/>
            </a:srgbClr>
          </a:solidFill>
          <a:ln w="12700">
            <a:miter lim="400000"/>
          </a:ln>
        </p:spPr>
        <p:txBody>
          <a:bodyPr lIns="45719" rIns="45719"/>
          <a:lstStyle/>
          <a:p>
            <a:pPr/>
          </a:p>
        </p:txBody>
      </p:sp>
      <p:sp>
        <p:nvSpPr>
          <p:cNvPr id="222" name="Text 25"/>
          <p:cNvSpPr txBox="1"/>
          <p:nvPr/>
        </p:nvSpPr>
        <p:spPr>
          <a:xfrm>
            <a:off x="14322944" y="5892551"/>
            <a:ext cx="3164807" cy="314326"/>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chor="ctr">
            <a:normAutofit fontScale="100000" lnSpcReduction="0"/>
          </a:bodyPr>
          <a:lstStyle>
            <a:lvl1pPr algn="r">
              <a:defRPr b="1">
                <a:solidFill>
                  <a:srgbClr val="1E5631"/>
                </a:solidFill>
                <a:latin typeface="Arial"/>
                <a:ea typeface="Arial"/>
                <a:cs typeface="Arial"/>
                <a:sym typeface="Arial"/>
              </a:defRPr>
            </a:lvl1pPr>
          </a:lstStyle>
          <a:p>
            <a:pPr/>
            <a:r>
              <a:t>[15.67, 15.77]</a:t>
            </a:r>
          </a:p>
        </p:txBody>
      </p:sp>
      <p:sp>
        <p:nvSpPr>
          <p:cNvPr id="223" name="Shape 26"/>
          <p:cNvSpPr/>
          <p:nvPr/>
        </p:nvSpPr>
        <p:spPr>
          <a:xfrm>
            <a:off x="11041260" y="6349751"/>
            <a:ext cx="3158580" cy="628651"/>
          </a:xfrm>
          <a:prstGeom prst="rect">
            <a:avLst/>
          </a:prstGeom>
          <a:solidFill>
            <a:srgbClr val="E8DCCB"/>
          </a:solidFill>
          <a:ln w="12700">
            <a:miter lim="400000"/>
          </a:ln>
        </p:spPr>
        <p:txBody>
          <a:bodyPr lIns="45719" rIns="45719"/>
          <a:lstStyle/>
          <a:p>
            <a:pPr/>
          </a:p>
        </p:txBody>
      </p:sp>
      <p:sp>
        <p:nvSpPr>
          <p:cNvPr id="224" name="Shape 27"/>
          <p:cNvSpPr/>
          <p:nvPr/>
        </p:nvSpPr>
        <p:spPr>
          <a:xfrm>
            <a:off x="11041260" y="6967289"/>
            <a:ext cx="3158580" cy="12701"/>
          </a:xfrm>
          <a:prstGeom prst="rect">
            <a:avLst/>
          </a:prstGeom>
          <a:solidFill>
            <a:srgbClr val="7D4C3D">
              <a:alpha val="18000"/>
            </a:srgbClr>
          </a:solidFill>
          <a:ln w="12700">
            <a:miter lim="400000"/>
          </a:ln>
        </p:spPr>
        <p:txBody>
          <a:bodyPr lIns="45719" rIns="45719"/>
          <a:lstStyle/>
          <a:p>
            <a:pPr/>
          </a:p>
        </p:txBody>
      </p:sp>
      <p:sp>
        <p:nvSpPr>
          <p:cNvPr id="225" name="Text 28"/>
          <p:cNvSpPr txBox="1"/>
          <p:nvPr/>
        </p:nvSpPr>
        <p:spPr>
          <a:xfrm>
            <a:off x="11269860" y="6521201"/>
            <a:ext cx="2796138" cy="314326"/>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chor="ctr">
            <a:normAutofit fontScale="100000" lnSpcReduction="0"/>
          </a:bodyPr>
          <a:lstStyle>
            <a:lvl1pPr>
              <a:defRPr>
                <a:solidFill>
                  <a:srgbClr val="3A2A22"/>
                </a:solidFill>
                <a:latin typeface="Arial"/>
                <a:ea typeface="Arial"/>
                <a:cs typeface="Arial"/>
                <a:sym typeface="Arial"/>
              </a:defRPr>
            </a:lvl1pPr>
          </a:lstStyle>
          <a:p>
            <a:pPr/>
            <a:r>
              <a:t>Non-Rewards</a:t>
            </a:r>
          </a:p>
        </p:txBody>
      </p:sp>
      <p:sp>
        <p:nvSpPr>
          <p:cNvPr id="226" name="Shape 29"/>
          <p:cNvSpPr/>
          <p:nvPr/>
        </p:nvSpPr>
        <p:spPr>
          <a:xfrm>
            <a:off x="14199840" y="6349751"/>
            <a:ext cx="3516512" cy="628651"/>
          </a:xfrm>
          <a:prstGeom prst="rect">
            <a:avLst/>
          </a:prstGeom>
          <a:solidFill>
            <a:srgbClr val="E8DCCB"/>
          </a:solidFill>
          <a:ln w="12700">
            <a:miter lim="400000"/>
          </a:ln>
        </p:spPr>
        <p:txBody>
          <a:bodyPr lIns="45719" rIns="45719"/>
          <a:lstStyle/>
          <a:p>
            <a:pPr/>
          </a:p>
        </p:txBody>
      </p:sp>
      <p:sp>
        <p:nvSpPr>
          <p:cNvPr id="227" name="Shape 30"/>
          <p:cNvSpPr/>
          <p:nvPr/>
        </p:nvSpPr>
        <p:spPr>
          <a:xfrm>
            <a:off x="14199840" y="6967289"/>
            <a:ext cx="3516512" cy="12701"/>
          </a:xfrm>
          <a:prstGeom prst="rect">
            <a:avLst/>
          </a:prstGeom>
          <a:solidFill>
            <a:srgbClr val="7D4C3D">
              <a:alpha val="18000"/>
            </a:srgbClr>
          </a:solidFill>
          <a:ln w="12700">
            <a:miter lim="400000"/>
          </a:ln>
        </p:spPr>
        <p:txBody>
          <a:bodyPr lIns="45719" rIns="45719"/>
          <a:lstStyle/>
          <a:p>
            <a:pPr/>
          </a:p>
        </p:txBody>
      </p:sp>
      <p:sp>
        <p:nvSpPr>
          <p:cNvPr id="228" name="Text 31"/>
          <p:cNvSpPr txBox="1"/>
          <p:nvPr/>
        </p:nvSpPr>
        <p:spPr>
          <a:xfrm>
            <a:off x="14322944" y="6521201"/>
            <a:ext cx="3164807" cy="314326"/>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chor="ctr">
            <a:normAutofit fontScale="100000" lnSpcReduction="0"/>
          </a:bodyPr>
          <a:lstStyle>
            <a:lvl1pPr algn="r">
              <a:defRPr b="1">
                <a:solidFill>
                  <a:srgbClr val="5D3527"/>
                </a:solidFill>
                <a:latin typeface="Arial"/>
                <a:ea typeface="Arial"/>
                <a:cs typeface="Arial"/>
                <a:sym typeface="Arial"/>
              </a:defRPr>
            </a:lvl1pPr>
          </a:lstStyle>
          <a:p>
            <a:pPr/>
            <a:r>
              <a:t>[14.04, 14.13]</a:t>
            </a:r>
          </a:p>
        </p:txBody>
      </p:sp>
      <p:sp>
        <p:nvSpPr>
          <p:cNvPr id="229" name="Text 32"/>
          <p:cNvSpPr txBox="1"/>
          <p:nvPr/>
        </p:nvSpPr>
        <p:spPr>
          <a:xfrm>
            <a:off x="11041260" y="7249863"/>
            <a:ext cx="6875345" cy="1189584"/>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p>
            <a:pPr>
              <a:lnSpc>
                <a:spcPct val="155000"/>
              </a:lnSpc>
              <a:defRPr sz="1900">
                <a:solidFill>
                  <a:srgbClr val="5D3527"/>
                </a:solidFill>
                <a:latin typeface="Arial"/>
                <a:ea typeface="Arial"/>
                <a:cs typeface="Arial"/>
                <a:sym typeface="Arial"/>
              </a:defRPr>
            </a:pPr>
            <a:r>
              <a:t>With </a:t>
            </a:r>
            <a:r>
              <a:rPr i="1"/>
              <a:t>n </a:t>
            </a:r>
            <a:r>
              <a:t>≈ 100,000, intervals are narrow. The Mobile band sits well above every other channel - previewing the hypothesis tests.</a:t>
            </a:r>
          </a:p>
        </p:txBody>
      </p:sp>
      <p:sp>
        <p:nvSpPr>
          <p:cNvPr id="230" name="Text 33"/>
          <p:cNvSpPr txBox="1"/>
          <p:nvPr/>
        </p:nvSpPr>
        <p:spPr>
          <a:xfrm>
            <a:off x="16570672" y="9572625"/>
            <a:ext cx="1222029" cy="333375"/>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z="1900">
                <a:solidFill>
                  <a:srgbClr val="5D3527">
                    <a:alpha val="85000"/>
                  </a:srgbClr>
                </a:solidFill>
                <a:latin typeface="Arial"/>
                <a:ea typeface="Arial"/>
                <a:cs typeface="Arial"/>
                <a:sym typeface="Arial"/>
              </a:defRPr>
            </a:lvl1pPr>
          </a:lstStyle>
          <a:p>
            <a:pPr/>
            <a:r>
              <a:t>Starbucks</a:t>
            </a:r>
          </a:p>
        </p:txBody>
      </p:sp>
      <p:sp>
        <p:nvSpPr>
          <p:cNvPr id="231" name="Text 34"/>
          <p:cNvSpPr txBox="1"/>
          <p:nvPr/>
        </p:nvSpPr>
        <p:spPr>
          <a:xfrm>
            <a:off x="571500" y="9591675"/>
            <a:ext cx="1083171" cy="314325"/>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pc="300">
                <a:solidFill>
                  <a:srgbClr val="7D4C3D">
                    <a:alpha val="55000"/>
                  </a:srgbClr>
                </a:solidFill>
                <a:latin typeface="Arial"/>
                <a:ea typeface="Arial"/>
                <a:cs typeface="Arial"/>
                <a:sym typeface="Arial"/>
              </a:defRPr>
            </a:lvl1pPr>
          </a:lstStyle>
          <a:p>
            <a:pPr/>
            <a:r>
              <a:t>07 / 16</a:t>
            </a:r>
          </a:p>
        </p:txBody>
      </p:sp>
    </p:spTree>
  </p:cSld>
  <p:clrMapOvr>
    <a:masterClrMapping/>
  </p:clrMapOvr>
  <p:transition xmlns:p14="http://schemas.microsoft.com/office/powerpoint/2010/main" spd="med" advClick="1"/>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AF8ED"/>
        </a:solidFill>
      </p:bgPr>
    </p:bg>
    <p:spTree>
      <p:nvGrpSpPr>
        <p:cNvPr id="1" name=""/>
        <p:cNvGrpSpPr/>
        <p:nvPr/>
      </p:nvGrpSpPr>
      <p:grpSpPr>
        <a:xfrm>
          <a:off x="0" y="0"/>
          <a:ext cx="0" cy="0"/>
          <a:chOff x="0" y="0"/>
          <a:chExt cx="0" cy="0"/>
        </a:xfrm>
      </p:grpSpPr>
      <p:sp>
        <p:nvSpPr>
          <p:cNvPr id="235" name="Text 0"/>
          <p:cNvSpPr txBox="1"/>
          <p:nvPr/>
        </p:nvSpPr>
        <p:spPr>
          <a:xfrm>
            <a:off x="1142999" y="1143000"/>
            <a:ext cx="7240029" cy="314325"/>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pc="300">
                <a:solidFill>
                  <a:srgbClr val="7D4C3D">
                    <a:alpha val="70000"/>
                  </a:srgbClr>
                </a:solidFill>
                <a:latin typeface="Arial"/>
                <a:ea typeface="Arial"/>
                <a:cs typeface="Arial"/>
                <a:sym typeface="Arial"/>
              </a:defRPr>
            </a:lvl1pPr>
          </a:lstStyle>
          <a:p>
            <a:pPr/>
            <a:r>
              <a:t>CHAPTER SEVEN · HYPOTHESIS TESTING</a:t>
            </a:r>
          </a:p>
        </p:txBody>
      </p:sp>
      <p:sp>
        <p:nvSpPr>
          <p:cNvPr id="236" name="Text 1"/>
          <p:cNvSpPr txBox="1"/>
          <p:nvPr/>
        </p:nvSpPr>
        <p:spPr>
          <a:xfrm>
            <a:off x="571500" y="1523999"/>
            <a:ext cx="14716125" cy="67196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50391">
              <a:lnSpc>
                <a:spcPct val="104000"/>
              </a:lnSpc>
              <a:defRPr b="1" spc="-93" sz="4464">
                <a:solidFill>
                  <a:srgbClr val="5D3527"/>
                </a:solidFill>
                <a:latin typeface="Arial"/>
                <a:ea typeface="Arial"/>
                <a:cs typeface="Arial"/>
                <a:sym typeface="Arial"/>
              </a:defRPr>
            </a:lvl1pPr>
          </a:lstStyle>
          <a:p>
            <a:pPr/>
            <a:r>
              <a:t>Four tests, four verdicts.</a:t>
            </a:r>
          </a:p>
        </p:txBody>
      </p:sp>
      <p:sp>
        <p:nvSpPr>
          <p:cNvPr id="237" name="Shape 2"/>
          <p:cNvSpPr/>
          <p:nvPr/>
        </p:nvSpPr>
        <p:spPr>
          <a:xfrm>
            <a:off x="571500" y="2310258"/>
            <a:ext cx="762000" cy="19051"/>
          </a:xfrm>
          <a:prstGeom prst="rect">
            <a:avLst/>
          </a:prstGeom>
          <a:solidFill>
            <a:srgbClr val="7D4C3D"/>
          </a:solidFill>
          <a:ln w="12700">
            <a:miter lim="400000"/>
          </a:ln>
        </p:spPr>
        <p:txBody>
          <a:bodyPr lIns="45719" rIns="45719"/>
          <a:lstStyle/>
          <a:p>
            <a:pPr/>
          </a:p>
        </p:txBody>
      </p:sp>
      <p:sp>
        <p:nvSpPr>
          <p:cNvPr id="238" name="Shape 3"/>
          <p:cNvSpPr/>
          <p:nvPr/>
        </p:nvSpPr>
        <p:spPr>
          <a:xfrm>
            <a:off x="571500" y="2927449"/>
            <a:ext cx="8305800" cy="5810251"/>
          </a:xfrm>
          <a:prstGeom prst="roundRect">
            <a:avLst>
              <a:gd name="adj" fmla="val 2295"/>
            </a:avLst>
          </a:prstGeom>
          <a:solidFill>
            <a:srgbClr val="FFFFFF"/>
          </a:solidFill>
          <a:ln>
            <a:solidFill>
              <a:srgbClr val="7D4C3D">
                <a:alpha val="18000"/>
              </a:srgbClr>
            </a:solidFill>
          </a:ln>
          <a:effectLst>
            <a:outerShdw sx="100000" sy="100000" kx="0" ky="0" algn="b" rotWithShape="0" blurRad="228600" dist="76200" dir="5400000">
              <a:srgbClr val="7D4C3D">
                <a:alpha val="8000"/>
              </a:srgbClr>
            </a:outerShdw>
          </a:effectLst>
        </p:spPr>
        <p:txBody>
          <a:bodyPr lIns="45719" rIns="45719"/>
          <a:lstStyle/>
          <a:p>
            <a:pPr/>
          </a:p>
        </p:txBody>
      </p:sp>
      <p:pic>
        <p:nvPicPr>
          <p:cNvPr id="239" name="Image 0" descr="Image 0"/>
          <p:cNvPicPr>
            <a:picLocks noChangeAspect="1"/>
          </p:cNvPicPr>
          <p:nvPr/>
        </p:nvPicPr>
        <p:blipFill>
          <a:blip r:embed="rId3">
            <a:extLst/>
          </a:blip>
          <a:stretch>
            <a:fillRect/>
          </a:stretch>
        </p:blipFill>
        <p:spPr>
          <a:xfrm>
            <a:off x="809625" y="3165574"/>
            <a:ext cx="7829550" cy="5334001"/>
          </a:xfrm>
          <a:prstGeom prst="rect">
            <a:avLst/>
          </a:prstGeom>
          <a:ln w="12700">
            <a:miter lim="400000"/>
          </a:ln>
        </p:spPr>
      </p:pic>
      <p:sp>
        <p:nvSpPr>
          <p:cNvPr id="240" name="Shape 4"/>
          <p:cNvSpPr/>
          <p:nvPr/>
        </p:nvSpPr>
        <p:spPr>
          <a:xfrm>
            <a:off x="9410700" y="2596008"/>
            <a:ext cx="1750517" cy="619126"/>
          </a:xfrm>
          <a:prstGeom prst="roundRect">
            <a:avLst>
              <a:gd name="adj" fmla="val 18462"/>
            </a:avLst>
          </a:prstGeom>
          <a:solidFill>
            <a:srgbClr val="7D4C3D"/>
          </a:solidFill>
          <a:ln w="12700">
            <a:miter lim="400000"/>
          </a:ln>
        </p:spPr>
        <p:txBody>
          <a:bodyPr lIns="45719" rIns="45719"/>
          <a:lstStyle/>
          <a:p>
            <a:pPr/>
          </a:p>
        </p:txBody>
      </p:sp>
      <p:sp>
        <p:nvSpPr>
          <p:cNvPr id="241" name="Text 5"/>
          <p:cNvSpPr txBox="1"/>
          <p:nvPr/>
        </p:nvSpPr>
        <p:spPr>
          <a:xfrm>
            <a:off x="9639299" y="2767458"/>
            <a:ext cx="1369518" cy="314326"/>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chor="ctr">
            <a:normAutofit fontScale="100000" lnSpcReduction="0"/>
          </a:bodyPr>
          <a:lstStyle>
            <a:lvl1pPr>
              <a:defRPr b="1">
                <a:solidFill>
                  <a:srgbClr val="FAF8ED"/>
                </a:solidFill>
                <a:latin typeface="Arial"/>
                <a:ea typeface="Arial"/>
                <a:cs typeface="Arial"/>
                <a:sym typeface="Arial"/>
              </a:defRPr>
            </a:lvl1pPr>
          </a:lstStyle>
          <a:p>
            <a:pPr/>
            <a:r>
              <a:t>Test</a:t>
            </a:r>
          </a:p>
        </p:txBody>
      </p:sp>
      <p:sp>
        <p:nvSpPr>
          <p:cNvPr id="242" name="Shape 6"/>
          <p:cNvSpPr/>
          <p:nvPr/>
        </p:nvSpPr>
        <p:spPr>
          <a:xfrm>
            <a:off x="11161215" y="2596008"/>
            <a:ext cx="1247776" cy="619126"/>
          </a:xfrm>
          <a:prstGeom prst="rect">
            <a:avLst/>
          </a:prstGeom>
          <a:solidFill>
            <a:srgbClr val="7D4C3D"/>
          </a:solidFill>
          <a:ln w="12700">
            <a:miter lim="400000"/>
          </a:ln>
        </p:spPr>
        <p:txBody>
          <a:bodyPr lIns="45719" rIns="45719"/>
          <a:lstStyle/>
          <a:p>
            <a:pPr/>
          </a:p>
        </p:txBody>
      </p:sp>
      <p:sp>
        <p:nvSpPr>
          <p:cNvPr id="243" name="Text 7"/>
          <p:cNvSpPr txBox="1"/>
          <p:nvPr/>
        </p:nvSpPr>
        <p:spPr>
          <a:xfrm>
            <a:off x="11313615" y="2767458"/>
            <a:ext cx="866776" cy="314326"/>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chor="ctr">
            <a:normAutofit fontScale="100000" lnSpcReduction="0"/>
          </a:bodyPr>
          <a:lstStyle>
            <a:lvl1pPr algn="r">
              <a:defRPr b="1">
                <a:solidFill>
                  <a:srgbClr val="FAF8ED"/>
                </a:solidFill>
                <a:latin typeface="Arial"/>
                <a:ea typeface="Arial"/>
                <a:cs typeface="Arial"/>
                <a:sym typeface="Arial"/>
              </a:defRPr>
            </a:lvl1pPr>
          </a:lstStyle>
          <a:p>
            <a:pPr/>
            <a:r>
              <a:t>Diff</a:t>
            </a:r>
          </a:p>
        </p:txBody>
      </p:sp>
      <p:sp>
        <p:nvSpPr>
          <p:cNvPr id="244" name="Shape 8"/>
          <p:cNvSpPr/>
          <p:nvPr/>
        </p:nvSpPr>
        <p:spPr>
          <a:xfrm>
            <a:off x="12408990" y="2596008"/>
            <a:ext cx="1490068" cy="619126"/>
          </a:xfrm>
          <a:prstGeom prst="rect">
            <a:avLst/>
          </a:prstGeom>
          <a:solidFill>
            <a:srgbClr val="7D4C3D"/>
          </a:solidFill>
          <a:ln w="12700">
            <a:miter lim="400000"/>
          </a:ln>
        </p:spPr>
        <p:txBody>
          <a:bodyPr lIns="45719" rIns="45719"/>
          <a:lstStyle/>
          <a:p>
            <a:pPr/>
          </a:p>
        </p:txBody>
      </p:sp>
      <p:sp>
        <p:nvSpPr>
          <p:cNvPr id="245" name="Text 9"/>
          <p:cNvSpPr txBox="1"/>
          <p:nvPr/>
        </p:nvSpPr>
        <p:spPr>
          <a:xfrm>
            <a:off x="12561390" y="2767458"/>
            <a:ext cx="1109068" cy="314326"/>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chor="ctr">
            <a:normAutofit fontScale="100000" lnSpcReduction="0"/>
          </a:bodyPr>
          <a:lstStyle>
            <a:lvl1pPr algn="r">
              <a:defRPr b="1">
                <a:solidFill>
                  <a:srgbClr val="FAF8ED"/>
                </a:solidFill>
                <a:latin typeface="Arial"/>
                <a:ea typeface="Arial"/>
                <a:cs typeface="Arial"/>
                <a:sym typeface="Arial"/>
              </a:defRPr>
            </a:lvl1pPr>
          </a:lstStyle>
          <a:p>
            <a:pPr/>
            <a:r>
              <a:t>Stat</a:t>
            </a:r>
          </a:p>
        </p:txBody>
      </p:sp>
      <p:sp>
        <p:nvSpPr>
          <p:cNvPr id="246" name="Shape 10"/>
          <p:cNvSpPr/>
          <p:nvPr/>
        </p:nvSpPr>
        <p:spPr>
          <a:xfrm>
            <a:off x="13899058" y="2596008"/>
            <a:ext cx="962472" cy="619126"/>
          </a:xfrm>
          <a:prstGeom prst="rect">
            <a:avLst/>
          </a:prstGeom>
          <a:solidFill>
            <a:srgbClr val="7D4C3D"/>
          </a:solidFill>
          <a:ln w="12700">
            <a:miter lim="400000"/>
          </a:ln>
        </p:spPr>
        <p:txBody>
          <a:bodyPr lIns="45719" rIns="45719"/>
          <a:lstStyle/>
          <a:p>
            <a:pPr/>
          </a:p>
        </p:txBody>
      </p:sp>
      <p:sp>
        <p:nvSpPr>
          <p:cNvPr id="247" name="Text 11"/>
          <p:cNvSpPr txBox="1"/>
          <p:nvPr/>
        </p:nvSpPr>
        <p:spPr>
          <a:xfrm>
            <a:off x="14051458" y="2767458"/>
            <a:ext cx="581472" cy="314326"/>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chor="ctr">
            <a:normAutofit fontScale="100000" lnSpcReduction="0"/>
          </a:bodyPr>
          <a:lstStyle>
            <a:lvl1pPr algn="r">
              <a:defRPr b="1">
                <a:solidFill>
                  <a:srgbClr val="FAF8ED"/>
                </a:solidFill>
                <a:latin typeface="Arial"/>
                <a:ea typeface="Arial"/>
                <a:cs typeface="Arial"/>
                <a:sym typeface="Arial"/>
              </a:defRPr>
            </a:lvl1pPr>
          </a:lstStyle>
          <a:p>
            <a:pPr/>
            <a:r>
              <a:t>p</a:t>
            </a:r>
          </a:p>
        </p:txBody>
      </p:sp>
      <p:sp>
        <p:nvSpPr>
          <p:cNvPr id="248" name="Shape 12"/>
          <p:cNvSpPr/>
          <p:nvPr/>
        </p:nvSpPr>
        <p:spPr>
          <a:xfrm>
            <a:off x="14861530" y="2596008"/>
            <a:ext cx="2854971" cy="619126"/>
          </a:xfrm>
          <a:prstGeom prst="rect">
            <a:avLst/>
          </a:prstGeom>
          <a:solidFill>
            <a:srgbClr val="7D4C3D"/>
          </a:solidFill>
          <a:ln w="12700">
            <a:miter lim="400000"/>
          </a:ln>
        </p:spPr>
        <p:txBody>
          <a:bodyPr lIns="45719" rIns="45719"/>
          <a:lstStyle/>
          <a:p>
            <a:pPr/>
          </a:p>
        </p:txBody>
      </p:sp>
      <p:sp>
        <p:nvSpPr>
          <p:cNvPr id="249" name="Text 13"/>
          <p:cNvSpPr txBox="1"/>
          <p:nvPr/>
        </p:nvSpPr>
        <p:spPr>
          <a:xfrm>
            <a:off x="15090130" y="2767458"/>
            <a:ext cx="2483420" cy="314326"/>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chor="ctr">
            <a:normAutofit fontScale="100000" lnSpcReduction="0"/>
          </a:bodyPr>
          <a:lstStyle>
            <a:lvl1pPr>
              <a:defRPr b="1">
                <a:solidFill>
                  <a:srgbClr val="FAF8ED"/>
                </a:solidFill>
                <a:latin typeface="Arial"/>
                <a:ea typeface="Arial"/>
                <a:cs typeface="Arial"/>
                <a:sym typeface="Arial"/>
              </a:defRPr>
            </a:lvl1pPr>
          </a:lstStyle>
          <a:p>
            <a:pPr/>
            <a:r>
              <a:t>Decision</a:t>
            </a:r>
          </a:p>
        </p:txBody>
      </p:sp>
      <p:sp>
        <p:nvSpPr>
          <p:cNvPr id="250" name="Shape 14"/>
          <p:cNvSpPr/>
          <p:nvPr/>
        </p:nvSpPr>
        <p:spPr>
          <a:xfrm>
            <a:off x="9410699" y="3215133"/>
            <a:ext cx="1750518" cy="881064"/>
          </a:xfrm>
          <a:prstGeom prst="rect">
            <a:avLst/>
          </a:prstGeom>
          <a:solidFill>
            <a:srgbClr val="FFFDF7">
              <a:alpha val="55000"/>
            </a:srgbClr>
          </a:solidFill>
          <a:ln w="12700">
            <a:miter lim="400000"/>
          </a:ln>
        </p:spPr>
        <p:txBody>
          <a:bodyPr lIns="45719" rIns="45719"/>
          <a:lstStyle/>
          <a:p>
            <a:pPr/>
          </a:p>
        </p:txBody>
      </p:sp>
      <p:sp>
        <p:nvSpPr>
          <p:cNvPr id="251" name="Shape 15"/>
          <p:cNvSpPr/>
          <p:nvPr/>
        </p:nvSpPr>
        <p:spPr>
          <a:xfrm>
            <a:off x="9410699" y="4085083"/>
            <a:ext cx="1750518" cy="12701"/>
          </a:xfrm>
          <a:prstGeom prst="rect">
            <a:avLst/>
          </a:prstGeom>
          <a:solidFill>
            <a:srgbClr val="7D4C3D">
              <a:alpha val="18000"/>
            </a:srgbClr>
          </a:solidFill>
          <a:ln w="12700">
            <a:miter lim="400000"/>
          </a:ln>
        </p:spPr>
        <p:txBody>
          <a:bodyPr lIns="45719" rIns="45719"/>
          <a:lstStyle/>
          <a:p>
            <a:pPr/>
          </a:p>
        </p:txBody>
      </p:sp>
      <p:sp>
        <p:nvSpPr>
          <p:cNvPr id="252" name="Text 16"/>
          <p:cNvSpPr txBox="1"/>
          <p:nvPr/>
        </p:nvSpPr>
        <p:spPr>
          <a:xfrm>
            <a:off x="9639299" y="3386583"/>
            <a:ext cx="1369518" cy="566739"/>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chor="ctr">
            <a:normAutofit fontScale="100000" lnSpcReduction="0"/>
          </a:bodyPr>
          <a:lstStyle>
            <a:lvl1pPr defTabSz="868680">
              <a:defRPr sz="1710">
                <a:solidFill>
                  <a:srgbClr val="3A2A22"/>
                </a:solidFill>
                <a:latin typeface="Arial"/>
                <a:ea typeface="Arial"/>
                <a:cs typeface="Arial"/>
                <a:sym typeface="Arial"/>
              </a:defRPr>
            </a:lvl1pPr>
          </a:lstStyle>
          <a:p>
            <a:pPr/>
            <a:r>
              <a:t>Mobile vs Non-Mobile</a:t>
            </a:r>
          </a:p>
        </p:txBody>
      </p:sp>
      <p:sp>
        <p:nvSpPr>
          <p:cNvPr id="253" name="Shape 17"/>
          <p:cNvSpPr/>
          <p:nvPr/>
        </p:nvSpPr>
        <p:spPr>
          <a:xfrm>
            <a:off x="11161215" y="3215133"/>
            <a:ext cx="1247776" cy="881064"/>
          </a:xfrm>
          <a:prstGeom prst="rect">
            <a:avLst/>
          </a:prstGeom>
          <a:solidFill>
            <a:srgbClr val="FFFDF7">
              <a:alpha val="55000"/>
            </a:srgbClr>
          </a:solidFill>
          <a:ln w="12700">
            <a:miter lim="400000"/>
          </a:ln>
        </p:spPr>
        <p:txBody>
          <a:bodyPr lIns="45719" rIns="45719"/>
          <a:lstStyle/>
          <a:p>
            <a:pPr/>
          </a:p>
        </p:txBody>
      </p:sp>
      <p:sp>
        <p:nvSpPr>
          <p:cNvPr id="254" name="Shape 18"/>
          <p:cNvSpPr/>
          <p:nvPr/>
        </p:nvSpPr>
        <p:spPr>
          <a:xfrm>
            <a:off x="11161215" y="4085083"/>
            <a:ext cx="1247776" cy="12701"/>
          </a:xfrm>
          <a:prstGeom prst="rect">
            <a:avLst/>
          </a:prstGeom>
          <a:solidFill>
            <a:srgbClr val="7D4C3D">
              <a:alpha val="18000"/>
            </a:srgbClr>
          </a:solidFill>
          <a:ln w="12700">
            <a:miter lim="400000"/>
          </a:ln>
        </p:spPr>
        <p:txBody>
          <a:bodyPr lIns="45719" rIns="45719"/>
          <a:lstStyle/>
          <a:p>
            <a:pPr/>
          </a:p>
        </p:txBody>
      </p:sp>
      <p:sp>
        <p:nvSpPr>
          <p:cNvPr id="255" name="Text 19"/>
          <p:cNvSpPr txBox="1"/>
          <p:nvPr/>
        </p:nvSpPr>
        <p:spPr>
          <a:xfrm>
            <a:off x="11313615" y="3386583"/>
            <a:ext cx="866776" cy="566739"/>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chor="ctr">
            <a:normAutofit fontScale="100000" lnSpcReduction="0"/>
          </a:bodyPr>
          <a:lstStyle>
            <a:lvl1pPr algn="r">
              <a:defRPr b="1">
                <a:solidFill>
                  <a:srgbClr val="5D3527"/>
                </a:solidFill>
                <a:latin typeface="Arial"/>
                <a:ea typeface="Arial"/>
                <a:cs typeface="Arial"/>
                <a:sym typeface="Arial"/>
              </a:defRPr>
            </a:lvl1pPr>
          </a:lstStyle>
          <a:p>
            <a:pPr/>
            <a:r>
              <a:t>$5.58</a:t>
            </a:r>
          </a:p>
        </p:txBody>
      </p:sp>
      <p:sp>
        <p:nvSpPr>
          <p:cNvPr id="256" name="Shape 20"/>
          <p:cNvSpPr/>
          <p:nvPr/>
        </p:nvSpPr>
        <p:spPr>
          <a:xfrm>
            <a:off x="12408990" y="3215133"/>
            <a:ext cx="1490068" cy="881064"/>
          </a:xfrm>
          <a:prstGeom prst="rect">
            <a:avLst/>
          </a:prstGeom>
          <a:solidFill>
            <a:srgbClr val="FFFDF7">
              <a:alpha val="55000"/>
            </a:srgbClr>
          </a:solidFill>
          <a:ln w="12700">
            <a:miter lim="400000"/>
          </a:ln>
        </p:spPr>
        <p:txBody>
          <a:bodyPr lIns="45719" rIns="45719"/>
          <a:lstStyle/>
          <a:p>
            <a:pPr/>
          </a:p>
        </p:txBody>
      </p:sp>
      <p:sp>
        <p:nvSpPr>
          <p:cNvPr id="257" name="Shape 21"/>
          <p:cNvSpPr/>
          <p:nvPr/>
        </p:nvSpPr>
        <p:spPr>
          <a:xfrm>
            <a:off x="12408990" y="4085083"/>
            <a:ext cx="1490068" cy="12701"/>
          </a:xfrm>
          <a:prstGeom prst="rect">
            <a:avLst/>
          </a:prstGeom>
          <a:solidFill>
            <a:srgbClr val="7D4C3D">
              <a:alpha val="18000"/>
            </a:srgbClr>
          </a:solidFill>
          <a:ln w="12700">
            <a:miter lim="400000"/>
          </a:ln>
        </p:spPr>
        <p:txBody>
          <a:bodyPr lIns="45719" rIns="45719"/>
          <a:lstStyle/>
          <a:p>
            <a:pPr/>
          </a:p>
        </p:txBody>
      </p:sp>
      <p:sp>
        <p:nvSpPr>
          <p:cNvPr id="258" name="Text 22"/>
          <p:cNvSpPr txBox="1"/>
          <p:nvPr/>
        </p:nvSpPr>
        <p:spPr>
          <a:xfrm>
            <a:off x="12561390" y="3386583"/>
            <a:ext cx="1109068" cy="566739"/>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chor="ctr">
            <a:normAutofit fontScale="100000" lnSpcReduction="0"/>
          </a:bodyPr>
          <a:lstStyle>
            <a:lvl1pPr algn="r">
              <a:defRPr b="1">
                <a:solidFill>
                  <a:srgbClr val="5D3527"/>
                </a:solidFill>
                <a:latin typeface="Arial"/>
                <a:ea typeface="Arial"/>
                <a:cs typeface="Arial"/>
                <a:sym typeface="Arial"/>
              </a:defRPr>
            </a:lvl1pPr>
          </a:lstStyle>
          <a:p>
            <a:pPr/>
            <a:r>
              <a:t>t=175.91</a:t>
            </a:r>
          </a:p>
        </p:txBody>
      </p:sp>
      <p:sp>
        <p:nvSpPr>
          <p:cNvPr id="259" name="Shape 23"/>
          <p:cNvSpPr/>
          <p:nvPr/>
        </p:nvSpPr>
        <p:spPr>
          <a:xfrm>
            <a:off x="13899058" y="3215133"/>
            <a:ext cx="962472" cy="881064"/>
          </a:xfrm>
          <a:prstGeom prst="rect">
            <a:avLst/>
          </a:prstGeom>
          <a:solidFill>
            <a:srgbClr val="FFFDF7">
              <a:alpha val="55000"/>
            </a:srgbClr>
          </a:solidFill>
          <a:ln w="12700">
            <a:miter lim="400000"/>
          </a:ln>
        </p:spPr>
        <p:txBody>
          <a:bodyPr lIns="45719" rIns="45719"/>
          <a:lstStyle/>
          <a:p>
            <a:pPr/>
          </a:p>
        </p:txBody>
      </p:sp>
      <p:sp>
        <p:nvSpPr>
          <p:cNvPr id="260" name="Shape 24"/>
          <p:cNvSpPr/>
          <p:nvPr/>
        </p:nvSpPr>
        <p:spPr>
          <a:xfrm>
            <a:off x="13899058" y="4085083"/>
            <a:ext cx="962472" cy="12701"/>
          </a:xfrm>
          <a:prstGeom prst="rect">
            <a:avLst/>
          </a:prstGeom>
          <a:solidFill>
            <a:srgbClr val="7D4C3D">
              <a:alpha val="18000"/>
            </a:srgbClr>
          </a:solidFill>
          <a:ln w="12700">
            <a:miter lim="400000"/>
          </a:ln>
        </p:spPr>
        <p:txBody>
          <a:bodyPr lIns="45719" rIns="45719"/>
          <a:lstStyle/>
          <a:p>
            <a:pPr/>
          </a:p>
        </p:txBody>
      </p:sp>
      <p:sp>
        <p:nvSpPr>
          <p:cNvPr id="261" name="Text 25"/>
          <p:cNvSpPr txBox="1"/>
          <p:nvPr/>
        </p:nvSpPr>
        <p:spPr>
          <a:xfrm>
            <a:off x="14051458" y="3386583"/>
            <a:ext cx="581472" cy="566739"/>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chor="ctr">
            <a:normAutofit fontScale="100000" lnSpcReduction="0"/>
          </a:bodyPr>
          <a:lstStyle>
            <a:lvl1pPr algn="r">
              <a:defRPr b="1">
                <a:solidFill>
                  <a:srgbClr val="5D3527"/>
                </a:solidFill>
                <a:latin typeface="Arial"/>
                <a:ea typeface="Arial"/>
                <a:cs typeface="Arial"/>
                <a:sym typeface="Arial"/>
              </a:defRPr>
            </a:lvl1pPr>
          </a:lstStyle>
          <a:p>
            <a:pPr/>
            <a:r>
              <a:t>≈ 0</a:t>
            </a:r>
          </a:p>
        </p:txBody>
      </p:sp>
      <p:sp>
        <p:nvSpPr>
          <p:cNvPr id="262" name="Shape 26"/>
          <p:cNvSpPr/>
          <p:nvPr/>
        </p:nvSpPr>
        <p:spPr>
          <a:xfrm>
            <a:off x="14861530" y="3215133"/>
            <a:ext cx="2854971" cy="881064"/>
          </a:xfrm>
          <a:prstGeom prst="rect">
            <a:avLst/>
          </a:prstGeom>
          <a:solidFill>
            <a:srgbClr val="FFFDF7">
              <a:alpha val="55000"/>
            </a:srgbClr>
          </a:solidFill>
          <a:ln w="12700">
            <a:miter lim="400000"/>
          </a:ln>
        </p:spPr>
        <p:txBody>
          <a:bodyPr lIns="45719" rIns="45719"/>
          <a:lstStyle/>
          <a:p>
            <a:pPr/>
          </a:p>
        </p:txBody>
      </p:sp>
      <p:sp>
        <p:nvSpPr>
          <p:cNvPr id="263" name="Shape 27"/>
          <p:cNvSpPr/>
          <p:nvPr/>
        </p:nvSpPr>
        <p:spPr>
          <a:xfrm>
            <a:off x="14861530" y="4085083"/>
            <a:ext cx="2854971" cy="12701"/>
          </a:xfrm>
          <a:prstGeom prst="rect">
            <a:avLst/>
          </a:prstGeom>
          <a:solidFill>
            <a:srgbClr val="7D4C3D">
              <a:alpha val="18000"/>
            </a:srgbClr>
          </a:solidFill>
          <a:ln w="12700">
            <a:miter lim="400000"/>
          </a:ln>
        </p:spPr>
        <p:txBody>
          <a:bodyPr lIns="45719" rIns="45719"/>
          <a:lstStyle/>
          <a:p>
            <a:pPr/>
          </a:p>
        </p:txBody>
      </p:sp>
      <p:sp>
        <p:nvSpPr>
          <p:cNvPr id="264" name="Shape 28"/>
          <p:cNvSpPr/>
          <p:nvPr/>
        </p:nvSpPr>
        <p:spPr>
          <a:xfrm>
            <a:off x="15090130" y="3477071"/>
            <a:ext cx="1644849" cy="352426"/>
          </a:xfrm>
          <a:prstGeom prst="roundRect">
            <a:avLst>
              <a:gd name="adj" fmla="val 50000"/>
            </a:avLst>
          </a:prstGeom>
          <a:solidFill>
            <a:srgbClr val="7D4C3D"/>
          </a:solidFill>
          <a:ln w="12700">
            <a:miter lim="400000"/>
          </a:ln>
        </p:spPr>
        <p:txBody>
          <a:bodyPr lIns="45719" rIns="45719"/>
          <a:lstStyle/>
          <a:p>
            <a:pPr/>
          </a:p>
        </p:txBody>
      </p:sp>
      <p:sp>
        <p:nvSpPr>
          <p:cNvPr id="265" name="Text 29"/>
          <p:cNvSpPr txBox="1"/>
          <p:nvPr/>
        </p:nvSpPr>
        <p:spPr>
          <a:xfrm>
            <a:off x="15204430" y="3515171"/>
            <a:ext cx="1492449" cy="314326"/>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86968">
              <a:defRPr b="1" spc="194" sz="1746">
                <a:solidFill>
                  <a:srgbClr val="FAF8ED"/>
                </a:solidFill>
                <a:latin typeface="Arial"/>
                <a:ea typeface="Arial"/>
                <a:cs typeface="Arial"/>
                <a:sym typeface="Arial"/>
              </a:defRPr>
            </a:lvl1pPr>
          </a:lstStyle>
          <a:p>
            <a:pPr/>
            <a:r>
              <a:t>REJECT H₀</a:t>
            </a:r>
          </a:p>
        </p:txBody>
      </p:sp>
      <p:sp>
        <p:nvSpPr>
          <p:cNvPr id="266" name="Shape 30"/>
          <p:cNvSpPr/>
          <p:nvPr/>
        </p:nvSpPr>
        <p:spPr>
          <a:xfrm>
            <a:off x="9410699" y="4096196"/>
            <a:ext cx="1750518" cy="1152526"/>
          </a:xfrm>
          <a:prstGeom prst="rect">
            <a:avLst/>
          </a:prstGeom>
          <a:solidFill>
            <a:srgbClr val="E8DCCB"/>
          </a:solidFill>
          <a:ln w="12700">
            <a:miter lim="400000"/>
          </a:ln>
        </p:spPr>
        <p:txBody>
          <a:bodyPr lIns="45719" rIns="45719"/>
          <a:lstStyle/>
          <a:p>
            <a:pPr/>
          </a:p>
        </p:txBody>
      </p:sp>
      <p:sp>
        <p:nvSpPr>
          <p:cNvPr id="267" name="Shape 31"/>
          <p:cNvSpPr/>
          <p:nvPr/>
        </p:nvSpPr>
        <p:spPr>
          <a:xfrm>
            <a:off x="9410699" y="5237608"/>
            <a:ext cx="1750518" cy="12701"/>
          </a:xfrm>
          <a:prstGeom prst="rect">
            <a:avLst/>
          </a:prstGeom>
          <a:solidFill>
            <a:srgbClr val="7D4C3D">
              <a:alpha val="18000"/>
            </a:srgbClr>
          </a:solidFill>
          <a:ln w="12700">
            <a:miter lim="400000"/>
          </a:ln>
        </p:spPr>
        <p:txBody>
          <a:bodyPr lIns="45719" rIns="45719"/>
          <a:lstStyle/>
          <a:p>
            <a:pPr/>
          </a:p>
        </p:txBody>
      </p:sp>
      <p:sp>
        <p:nvSpPr>
          <p:cNvPr id="268" name="Text 32"/>
          <p:cNvSpPr txBox="1"/>
          <p:nvPr/>
        </p:nvSpPr>
        <p:spPr>
          <a:xfrm>
            <a:off x="9639299" y="4267646"/>
            <a:ext cx="1369518" cy="846597"/>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chor="ctr">
            <a:normAutofit fontScale="100000" lnSpcReduction="0"/>
          </a:bodyPr>
          <a:lstStyle>
            <a:lvl1pPr defTabSz="868680">
              <a:defRPr sz="1710">
                <a:solidFill>
                  <a:srgbClr val="3A2A22"/>
                </a:solidFill>
                <a:latin typeface="Arial"/>
                <a:ea typeface="Arial"/>
                <a:cs typeface="Arial"/>
                <a:sym typeface="Arial"/>
              </a:defRPr>
            </a:lvl1pPr>
          </a:lstStyle>
          <a:p>
            <a:pPr/>
            <a:r>
              <a:t>Rewards vs Non-Rewards</a:t>
            </a:r>
          </a:p>
        </p:txBody>
      </p:sp>
      <p:sp>
        <p:nvSpPr>
          <p:cNvPr id="269" name="Shape 33"/>
          <p:cNvSpPr/>
          <p:nvPr/>
        </p:nvSpPr>
        <p:spPr>
          <a:xfrm>
            <a:off x="11161215" y="4096196"/>
            <a:ext cx="1247776" cy="1152526"/>
          </a:xfrm>
          <a:prstGeom prst="rect">
            <a:avLst/>
          </a:prstGeom>
          <a:solidFill>
            <a:srgbClr val="E8DCCB"/>
          </a:solidFill>
          <a:ln w="12700">
            <a:miter lim="400000"/>
          </a:ln>
        </p:spPr>
        <p:txBody>
          <a:bodyPr lIns="45719" rIns="45719"/>
          <a:lstStyle/>
          <a:p>
            <a:pPr/>
          </a:p>
        </p:txBody>
      </p:sp>
      <p:sp>
        <p:nvSpPr>
          <p:cNvPr id="270" name="Shape 34"/>
          <p:cNvSpPr/>
          <p:nvPr/>
        </p:nvSpPr>
        <p:spPr>
          <a:xfrm>
            <a:off x="11161215" y="5237608"/>
            <a:ext cx="1247776" cy="12701"/>
          </a:xfrm>
          <a:prstGeom prst="rect">
            <a:avLst/>
          </a:prstGeom>
          <a:solidFill>
            <a:srgbClr val="7D4C3D">
              <a:alpha val="18000"/>
            </a:srgbClr>
          </a:solidFill>
          <a:ln w="12700">
            <a:miter lim="400000"/>
          </a:ln>
        </p:spPr>
        <p:txBody>
          <a:bodyPr lIns="45719" rIns="45719"/>
          <a:lstStyle/>
          <a:p>
            <a:pPr/>
          </a:p>
        </p:txBody>
      </p:sp>
      <p:sp>
        <p:nvSpPr>
          <p:cNvPr id="271" name="Text 35"/>
          <p:cNvSpPr txBox="1"/>
          <p:nvPr/>
        </p:nvSpPr>
        <p:spPr>
          <a:xfrm>
            <a:off x="11313615" y="4267646"/>
            <a:ext cx="866776" cy="8382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chor="ctr">
            <a:normAutofit fontScale="100000" lnSpcReduction="0"/>
          </a:bodyPr>
          <a:lstStyle>
            <a:lvl1pPr algn="r">
              <a:defRPr b="1">
                <a:solidFill>
                  <a:srgbClr val="5D3527"/>
                </a:solidFill>
                <a:latin typeface="Arial"/>
                <a:ea typeface="Arial"/>
                <a:cs typeface="Arial"/>
                <a:sym typeface="Arial"/>
              </a:defRPr>
            </a:lvl1pPr>
          </a:lstStyle>
          <a:p>
            <a:pPr/>
            <a:r>
              <a:t>$1.63</a:t>
            </a:r>
          </a:p>
        </p:txBody>
      </p:sp>
      <p:sp>
        <p:nvSpPr>
          <p:cNvPr id="272" name="Shape 36"/>
          <p:cNvSpPr/>
          <p:nvPr/>
        </p:nvSpPr>
        <p:spPr>
          <a:xfrm>
            <a:off x="12408990" y="4096196"/>
            <a:ext cx="1490068" cy="1152526"/>
          </a:xfrm>
          <a:prstGeom prst="rect">
            <a:avLst/>
          </a:prstGeom>
          <a:solidFill>
            <a:srgbClr val="E8DCCB"/>
          </a:solidFill>
          <a:ln w="12700">
            <a:miter lim="400000"/>
          </a:ln>
        </p:spPr>
        <p:txBody>
          <a:bodyPr lIns="45719" rIns="45719"/>
          <a:lstStyle/>
          <a:p>
            <a:pPr/>
          </a:p>
        </p:txBody>
      </p:sp>
      <p:sp>
        <p:nvSpPr>
          <p:cNvPr id="273" name="Shape 37"/>
          <p:cNvSpPr/>
          <p:nvPr/>
        </p:nvSpPr>
        <p:spPr>
          <a:xfrm>
            <a:off x="12408990" y="5237608"/>
            <a:ext cx="1490068" cy="12701"/>
          </a:xfrm>
          <a:prstGeom prst="rect">
            <a:avLst/>
          </a:prstGeom>
          <a:solidFill>
            <a:srgbClr val="7D4C3D">
              <a:alpha val="18000"/>
            </a:srgbClr>
          </a:solidFill>
          <a:ln w="12700">
            <a:miter lim="400000"/>
          </a:ln>
        </p:spPr>
        <p:txBody>
          <a:bodyPr lIns="45719" rIns="45719"/>
          <a:lstStyle/>
          <a:p>
            <a:pPr/>
          </a:p>
        </p:txBody>
      </p:sp>
      <p:sp>
        <p:nvSpPr>
          <p:cNvPr id="274" name="Text 38"/>
          <p:cNvSpPr txBox="1"/>
          <p:nvPr/>
        </p:nvSpPr>
        <p:spPr>
          <a:xfrm>
            <a:off x="12561390" y="4267646"/>
            <a:ext cx="1109068" cy="8382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chor="ctr">
            <a:normAutofit fontScale="100000" lnSpcReduction="0"/>
          </a:bodyPr>
          <a:lstStyle>
            <a:lvl1pPr algn="r">
              <a:defRPr b="1">
                <a:solidFill>
                  <a:srgbClr val="5D3527"/>
                </a:solidFill>
                <a:latin typeface="Arial"/>
                <a:ea typeface="Arial"/>
                <a:cs typeface="Arial"/>
                <a:sym typeface="Arial"/>
              </a:defRPr>
            </a:lvl1pPr>
          </a:lstStyle>
          <a:p>
            <a:pPr/>
            <a:r>
              <a:t>t=47.08</a:t>
            </a:r>
          </a:p>
        </p:txBody>
      </p:sp>
      <p:sp>
        <p:nvSpPr>
          <p:cNvPr id="275" name="Shape 39"/>
          <p:cNvSpPr/>
          <p:nvPr/>
        </p:nvSpPr>
        <p:spPr>
          <a:xfrm>
            <a:off x="13899058" y="4096196"/>
            <a:ext cx="962472" cy="1152526"/>
          </a:xfrm>
          <a:prstGeom prst="rect">
            <a:avLst/>
          </a:prstGeom>
          <a:solidFill>
            <a:srgbClr val="E8DCCB"/>
          </a:solidFill>
          <a:ln w="12700">
            <a:miter lim="400000"/>
          </a:ln>
        </p:spPr>
        <p:txBody>
          <a:bodyPr lIns="45719" rIns="45719"/>
          <a:lstStyle/>
          <a:p>
            <a:pPr/>
          </a:p>
        </p:txBody>
      </p:sp>
      <p:sp>
        <p:nvSpPr>
          <p:cNvPr id="276" name="Shape 40"/>
          <p:cNvSpPr/>
          <p:nvPr/>
        </p:nvSpPr>
        <p:spPr>
          <a:xfrm>
            <a:off x="13899058" y="5237608"/>
            <a:ext cx="962472" cy="12701"/>
          </a:xfrm>
          <a:prstGeom prst="rect">
            <a:avLst/>
          </a:prstGeom>
          <a:solidFill>
            <a:srgbClr val="7D4C3D">
              <a:alpha val="18000"/>
            </a:srgbClr>
          </a:solidFill>
          <a:ln w="12700">
            <a:miter lim="400000"/>
          </a:ln>
        </p:spPr>
        <p:txBody>
          <a:bodyPr lIns="45719" rIns="45719"/>
          <a:lstStyle/>
          <a:p>
            <a:pPr/>
          </a:p>
        </p:txBody>
      </p:sp>
      <p:sp>
        <p:nvSpPr>
          <p:cNvPr id="277" name="Text 41"/>
          <p:cNvSpPr txBox="1"/>
          <p:nvPr/>
        </p:nvSpPr>
        <p:spPr>
          <a:xfrm>
            <a:off x="14051458" y="4267646"/>
            <a:ext cx="581472" cy="8382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chor="ctr">
            <a:normAutofit fontScale="100000" lnSpcReduction="0"/>
          </a:bodyPr>
          <a:lstStyle>
            <a:lvl1pPr algn="r">
              <a:defRPr b="1">
                <a:solidFill>
                  <a:srgbClr val="5D3527"/>
                </a:solidFill>
                <a:latin typeface="Arial"/>
                <a:ea typeface="Arial"/>
                <a:cs typeface="Arial"/>
                <a:sym typeface="Arial"/>
              </a:defRPr>
            </a:lvl1pPr>
          </a:lstStyle>
          <a:p>
            <a:pPr/>
            <a:r>
              <a:t>≈ 0</a:t>
            </a:r>
          </a:p>
        </p:txBody>
      </p:sp>
      <p:sp>
        <p:nvSpPr>
          <p:cNvPr id="278" name="Shape 42"/>
          <p:cNvSpPr/>
          <p:nvPr/>
        </p:nvSpPr>
        <p:spPr>
          <a:xfrm>
            <a:off x="14861530" y="4096196"/>
            <a:ext cx="2854971" cy="1152526"/>
          </a:xfrm>
          <a:prstGeom prst="rect">
            <a:avLst/>
          </a:prstGeom>
          <a:solidFill>
            <a:srgbClr val="E8DCCB"/>
          </a:solidFill>
          <a:ln w="12700">
            <a:miter lim="400000"/>
          </a:ln>
        </p:spPr>
        <p:txBody>
          <a:bodyPr lIns="45719" rIns="45719"/>
          <a:lstStyle/>
          <a:p>
            <a:pPr/>
          </a:p>
        </p:txBody>
      </p:sp>
      <p:sp>
        <p:nvSpPr>
          <p:cNvPr id="279" name="Shape 43"/>
          <p:cNvSpPr/>
          <p:nvPr/>
        </p:nvSpPr>
        <p:spPr>
          <a:xfrm>
            <a:off x="14861530" y="5237608"/>
            <a:ext cx="2854971" cy="12701"/>
          </a:xfrm>
          <a:prstGeom prst="rect">
            <a:avLst/>
          </a:prstGeom>
          <a:solidFill>
            <a:srgbClr val="7D4C3D">
              <a:alpha val="18000"/>
            </a:srgbClr>
          </a:solidFill>
          <a:ln w="12700">
            <a:miter lim="400000"/>
          </a:ln>
        </p:spPr>
        <p:txBody>
          <a:bodyPr lIns="45719" rIns="45719"/>
          <a:lstStyle/>
          <a:p>
            <a:pPr/>
          </a:p>
        </p:txBody>
      </p:sp>
      <p:sp>
        <p:nvSpPr>
          <p:cNvPr id="280" name="Shape 44"/>
          <p:cNvSpPr/>
          <p:nvPr/>
        </p:nvSpPr>
        <p:spPr>
          <a:xfrm>
            <a:off x="15090130" y="4496246"/>
            <a:ext cx="1644849" cy="352426"/>
          </a:xfrm>
          <a:prstGeom prst="roundRect">
            <a:avLst>
              <a:gd name="adj" fmla="val 50000"/>
            </a:avLst>
          </a:prstGeom>
          <a:solidFill>
            <a:srgbClr val="7D4C3D"/>
          </a:solidFill>
          <a:ln w="12700">
            <a:miter lim="400000"/>
          </a:ln>
        </p:spPr>
        <p:txBody>
          <a:bodyPr lIns="45719" rIns="45719"/>
          <a:lstStyle/>
          <a:p>
            <a:pPr/>
          </a:p>
        </p:txBody>
      </p:sp>
      <p:sp>
        <p:nvSpPr>
          <p:cNvPr id="281" name="Text 45"/>
          <p:cNvSpPr txBox="1"/>
          <p:nvPr/>
        </p:nvSpPr>
        <p:spPr>
          <a:xfrm>
            <a:off x="15204430" y="4534346"/>
            <a:ext cx="1492449" cy="314326"/>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86968">
              <a:defRPr b="1" spc="194" sz="1746">
                <a:solidFill>
                  <a:srgbClr val="FAF8ED"/>
                </a:solidFill>
                <a:latin typeface="Arial"/>
                <a:ea typeface="Arial"/>
                <a:cs typeface="Arial"/>
                <a:sym typeface="Arial"/>
              </a:defRPr>
            </a:lvl1pPr>
          </a:lstStyle>
          <a:p>
            <a:pPr/>
            <a:r>
              <a:t>REJECT H₀</a:t>
            </a:r>
          </a:p>
        </p:txBody>
      </p:sp>
      <p:sp>
        <p:nvSpPr>
          <p:cNvPr id="282" name="Shape 46"/>
          <p:cNvSpPr/>
          <p:nvPr/>
        </p:nvSpPr>
        <p:spPr>
          <a:xfrm>
            <a:off x="9410699" y="5248721"/>
            <a:ext cx="1750518" cy="1152526"/>
          </a:xfrm>
          <a:prstGeom prst="rect">
            <a:avLst/>
          </a:prstGeom>
          <a:solidFill>
            <a:srgbClr val="FFFDF7">
              <a:alpha val="55000"/>
            </a:srgbClr>
          </a:solidFill>
          <a:ln w="12700">
            <a:miter lim="400000"/>
          </a:ln>
        </p:spPr>
        <p:txBody>
          <a:bodyPr lIns="45719" rIns="45719"/>
          <a:lstStyle/>
          <a:p>
            <a:pPr/>
          </a:p>
        </p:txBody>
      </p:sp>
      <p:sp>
        <p:nvSpPr>
          <p:cNvPr id="283" name="Shape 47"/>
          <p:cNvSpPr/>
          <p:nvPr/>
        </p:nvSpPr>
        <p:spPr>
          <a:xfrm>
            <a:off x="9410699" y="6390133"/>
            <a:ext cx="1750518" cy="12701"/>
          </a:xfrm>
          <a:prstGeom prst="rect">
            <a:avLst/>
          </a:prstGeom>
          <a:solidFill>
            <a:srgbClr val="7D4C3D">
              <a:alpha val="18000"/>
            </a:srgbClr>
          </a:solidFill>
          <a:ln w="12700">
            <a:miter lim="400000"/>
          </a:ln>
        </p:spPr>
        <p:txBody>
          <a:bodyPr lIns="45719" rIns="45719"/>
          <a:lstStyle/>
          <a:p>
            <a:pPr/>
          </a:p>
        </p:txBody>
      </p:sp>
      <p:sp>
        <p:nvSpPr>
          <p:cNvPr id="284" name="Text 48"/>
          <p:cNvSpPr txBox="1"/>
          <p:nvPr/>
        </p:nvSpPr>
        <p:spPr>
          <a:xfrm>
            <a:off x="9639299" y="5420171"/>
            <a:ext cx="1369518" cy="846597"/>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chor="ctr">
            <a:normAutofit fontScale="100000" lnSpcReduction="0"/>
          </a:bodyPr>
          <a:lstStyle>
            <a:lvl1pPr defTabSz="868680">
              <a:defRPr sz="1710">
                <a:solidFill>
                  <a:srgbClr val="3A2A22"/>
                </a:solidFill>
                <a:latin typeface="Arial"/>
                <a:ea typeface="Arial"/>
                <a:cs typeface="Arial"/>
                <a:sym typeface="Arial"/>
              </a:defRPr>
            </a:lvl1pPr>
          </a:lstStyle>
          <a:p>
            <a:pPr/>
            <a:r>
              <a:t>First vs Latest (paired)</a:t>
            </a:r>
          </a:p>
        </p:txBody>
      </p:sp>
      <p:sp>
        <p:nvSpPr>
          <p:cNvPr id="285" name="Shape 49"/>
          <p:cNvSpPr/>
          <p:nvPr/>
        </p:nvSpPr>
        <p:spPr>
          <a:xfrm>
            <a:off x="11161215" y="5248721"/>
            <a:ext cx="1247776" cy="1152526"/>
          </a:xfrm>
          <a:prstGeom prst="rect">
            <a:avLst/>
          </a:prstGeom>
          <a:solidFill>
            <a:srgbClr val="FFFDF7">
              <a:alpha val="55000"/>
            </a:srgbClr>
          </a:solidFill>
          <a:ln w="12700">
            <a:miter lim="400000"/>
          </a:ln>
        </p:spPr>
        <p:txBody>
          <a:bodyPr lIns="45719" rIns="45719"/>
          <a:lstStyle/>
          <a:p>
            <a:pPr/>
          </a:p>
        </p:txBody>
      </p:sp>
      <p:sp>
        <p:nvSpPr>
          <p:cNvPr id="286" name="Shape 50"/>
          <p:cNvSpPr/>
          <p:nvPr/>
        </p:nvSpPr>
        <p:spPr>
          <a:xfrm>
            <a:off x="11161215" y="6390133"/>
            <a:ext cx="1247776" cy="12701"/>
          </a:xfrm>
          <a:prstGeom prst="rect">
            <a:avLst/>
          </a:prstGeom>
          <a:solidFill>
            <a:srgbClr val="7D4C3D">
              <a:alpha val="18000"/>
            </a:srgbClr>
          </a:solidFill>
          <a:ln w="12700">
            <a:miter lim="400000"/>
          </a:ln>
        </p:spPr>
        <p:txBody>
          <a:bodyPr lIns="45719" rIns="45719"/>
          <a:lstStyle/>
          <a:p>
            <a:pPr/>
          </a:p>
        </p:txBody>
      </p:sp>
      <p:sp>
        <p:nvSpPr>
          <p:cNvPr id="287" name="Text 51"/>
          <p:cNvSpPr txBox="1"/>
          <p:nvPr/>
        </p:nvSpPr>
        <p:spPr>
          <a:xfrm>
            <a:off x="11313615" y="5420171"/>
            <a:ext cx="866776" cy="8382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chor="ctr">
            <a:normAutofit fontScale="100000" lnSpcReduction="0"/>
          </a:bodyPr>
          <a:lstStyle>
            <a:lvl1pPr algn="r">
              <a:defRPr b="1">
                <a:solidFill>
                  <a:srgbClr val="5D3527"/>
                </a:solidFill>
                <a:latin typeface="Arial"/>
                <a:ea typeface="Arial"/>
                <a:cs typeface="Arial"/>
                <a:sym typeface="Arial"/>
              </a:defRPr>
            </a:lvl1pPr>
          </a:lstStyle>
          <a:p>
            <a:pPr/>
            <a:r>
              <a:t>~ 0</a:t>
            </a:r>
          </a:p>
        </p:txBody>
      </p:sp>
      <p:sp>
        <p:nvSpPr>
          <p:cNvPr id="288" name="Shape 52"/>
          <p:cNvSpPr/>
          <p:nvPr/>
        </p:nvSpPr>
        <p:spPr>
          <a:xfrm>
            <a:off x="12408990" y="5248721"/>
            <a:ext cx="1490068" cy="1152526"/>
          </a:xfrm>
          <a:prstGeom prst="rect">
            <a:avLst/>
          </a:prstGeom>
          <a:solidFill>
            <a:srgbClr val="FFFDF7">
              <a:alpha val="55000"/>
            </a:srgbClr>
          </a:solidFill>
          <a:ln w="12700">
            <a:miter lim="400000"/>
          </a:ln>
        </p:spPr>
        <p:txBody>
          <a:bodyPr lIns="45719" rIns="45719"/>
          <a:lstStyle/>
          <a:p>
            <a:pPr/>
          </a:p>
        </p:txBody>
      </p:sp>
      <p:sp>
        <p:nvSpPr>
          <p:cNvPr id="289" name="Shape 53"/>
          <p:cNvSpPr/>
          <p:nvPr/>
        </p:nvSpPr>
        <p:spPr>
          <a:xfrm>
            <a:off x="12408990" y="6390133"/>
            <a:ext cx="1490068" cy="12701"/>
          </a:xfrm>
          <a:prstGeom prst="rect">
            <a:avLst/>
          </a:prstGeom>
          <a:solidFill>
            <a:srgbClr val="7D4C3D">
              <a:alpha val="18000"/>
            </a:srgbClr>
          </a:solidFill>
          <a:ln w="12700">
            <a:miter lim="400000"/>
          </a:ln>
        </p:spPr>
        <p:txBody>
          <a:bodyPr lIns="45719" rIns="45719"/>
          <a:lstStyle/>
          <a:p>
            <a:pPr/>
          </a:p>
        </p:txBody>
      </p:sp>
      <p:sp>
        <p:nvSpPr>
          <p:cNvPr id="290" name="Text 54"/>
          <p:cNvSpPr txBox="1"/>
          <p:nvPr/>
        </p:nvSpPr>
        <p:spPr>
          <a:xfrm>
            <a:off x="12561390" y="5420171"/>
            <a:ext cx="1109068" cy="8382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chor="ctr">
            <a:normAutofit fontScale="100000" lnSpcReduction="0"/>
          </a:bodyPr>
          <a:lstStyle>
            <a:lvl1pPr algn="r">
              <a:defRPr b="1">
                <a:solidFill>
                  <a:srgbClr val="5D3527"/>
                </a:solidFill>
                <a:latin typeface="Arial"/>
                <a:ea typeface="Arial"/>
                <a:cs typeface="Arial"/>
                <a:sym typeface="Arial"/>
              </a:defRPr>
            </a:lvl1pPr>
          </a:lstStyle>
          <a:p>
            <a:pPr/>
            <a:r>
              <a:t>-</a:t>
            </a:r>
          </a:p>
        </p:txBody>
      </p:sp>
      <p:sp>
        <p:nvSpPr>
          <p:cNvPr id="291" name="Shape 55"/>
          <p:cNvSpPr/>
          <p:nvPr/>
        </p:nvSpPr>
        <p:spPr>
          <a:xfrm>
            <a:off x="13899058" y="5248721"/>
            <a:ext cx="962472" cy="1152526"/>
          </a:xfrm>
          <a:prstGeom prst="rect">
            <a:avLst/>
          </a:prstGeom>
          <a:solidFill>
            <a:srgbClr val="FFFDF7">
              <a:alpha val="55000"/>
            </a:srgbClr>
          </a:solidFill>
          <a:ln w="12700">
            <a:miter lim="400000"/>
          </a:ln>
        </p:spPr>
        <p:txBody>
          <a:bodyPr lIns="45719" rIns="45719"/>
          <a:lstStyle/>
          <a:p>
            <a:pPr/>
          </a:p>
        </p:txBody>
      </p:sp>
      <p:sp>
        <p:nvSpPr>
          <p:cNvPr id="292" name="Shape 56"/>
          <p:cNvSpPr/>
          <p:nvPr/>
        </p:nvSpPr>
        <p:spPr>
          <a:xfrm>
            <a:off x="13899058" y="6390133"/>
            <a:ext cx="962472" cy="12701"/>
          </a:xfrm>
          <a:prstGeom prst="rect">
            <a:avLst/>
          </a:prstGeom>
          <a:solidFill>
            <a:srgbClr val="7D4C3D">
              <a:alpha val="18000"/>
            </a:srgbClr>
          </a:solidFill>
          <a:ln w="12700">
            <a:miter lim="400000"/>
          </a:ln>
        </p:spPr>
        <p:txBody>
          <a:bodyPr lIns="45719" rIns="45719"/>
          <a:lstStyle/>
          <a:p>
            <a:pPr/>
          </a:p>
        </p:txBody>
      </p:sp>
      <p:sp>
        <p:nvSpPr>
          <p:cNvPr id="293" name="Text 57"/>
          <p:cNvSpPr txBox="1"/>
          <p:nvPr/>
        </p:nvSpPr>
        <p:spPr>
          <a:xfrm>
            <a:off x="14051458" y="5420171"/>
            <a:ext cx="581472" cy="8382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chor="ctr">
            <a:normAutofit fontScale="100000" lnSpcReduction="0"/>
          </a:bodyPr>
          <a:lstStyle>
            <a:lvl1pPr algn="r">
              <a:defRPr b="1">
                <a:solidFill>
                  <a:srgbClr val="5D3527"/>
                </a:solidFill>
                <a:latin typeface="Arial"/>
                <a:ea typeface="Arial"/>
                <a:cs typeface="Arial"/>
                <a:sym typeface="Arial"/>
              </a:defRPr>
            </a:lvl1pPr>
          </a:lstStyle>
          <a:p>
            <a:pPr/>
            <a:r>
              <a:t>0.44</a:t>
            </a:r>
          </a:p>
        </p:txBody>
      </p:sp>
      <p:sp>
        <p:nvSpPr>
          <p:cNvPr id="294" name="Shape 58"/>
          <p:cNvSpPr/>
          <p:nvPr/>
        </p:nvSpPr>
        <p:spPr>
          <a:xfrm>
            <a:off x="14861530" y="5248721"/>
            <a:ext cx="2854971" cy="1152526"/>
          </a:xfrm>
          <a:prstGeom prst="rect">
            <a:avLst/>
          </a:prstGeom>
          <a:solidFill>
            <a:srgbClr val="FFFDF7">
              <a:alpha val="55000"/>
            </a:srgbClr>
          </a:solidFill>
          <a:ln w="12700">
            <a:miter lim="400000"/>
          </a:ln>
        </p:spPr>
        <p:txBody>
          <a:bodyPr lIns="45719" rIns="45719"/>
          <a:lstStyle/>
          <a:p>
            <a:pPr/>
          </a:p>
        </p:txBody>
      </p:sp>
      <p:sp>
        <p:nvSpPr>
          <p:cNvPr id="295" name="Shape 59"/>
          <p:cNvSpPr/>
          <p:nvPr/>
        </p:nvSpPr>
        <p:spPr>
          <a:xfrm>
            <a:off x="14861530" y="6390133"/>
            <a:ext cx="2854971" cy="12701"/>
          </a:xfrm>
          <a:prstGeom prst="rect">
            <a:avLst/>
          </a:prstGeom>
          <a:solidFill>
            <a:srgbClr val="7D4C3D">
              <a:alpha val="18000"/>
            </a:srgbClr>
          </a:solidFill>
          <a:ln w="12700">
            <a:miter lim="400000"/>
          </a:ln>
        </p:spPr>
        <p:txBody>
          <a:bodyPr lIns="45719" rIns="45719"/>
          <a:lstStyle/>
          <a:p>
            <a:pPr/>
          </a:p>
        </p:txBody>
      </p:sp>
      <p:sp>
        <p:nvSpPr>
          <p:cNvPr id="296" name="Shape 60"/>
          <p:cNvSpPr/>
          <p:nvPr/>
        </p:nvSpPr>
        <p:spPr>
          <a:xfrm>
            <a:off x="15090130" y="5648771"/>
            <a:ext cx="2397622" cy="352426"/>
          </a:xfrm>
          <a:prstGeom prst="roundRect">
            <a:avLst>
              <a:gd name="adj" fmla="val 50000"/>
            </a:avLst>
          </a:prstGeom>
          <a:solidFill>
            <a:srgbClr val="DBCBBB"/>
          </a:solidFill>
          <a:ln w="12700">
            <a:miter lim="400000"/>
          </a:ln>
        </p:spPr>
        <p:txBody>
          <a:bodyPr lIns="45719" rIns="45719"/>
          <a:lstStyle/>
          <a:p>
            <a:pPr/>
          </a:p>
        </p:txBody>
      </p:sp>
      <p:sp>
        <p:nvSpPr>
          <p:cNvPr id="297" name="Text 61"/>
          <p:cNvSpPr txBox="1"/>
          <p:nvPr/>
        </p:nvSpPr>
        <p:spPr>
          <a:xfrm>
            <a:off x="15204430" y="5686871"/>
            <a:ext cx="2245222" cy="314326"/>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b="1" spc="200">
                <a:solidFill>
                  <a:srgbClr val="5D3527"/>
                </a:solidFill>
                <a:latin typeface="Arial"/>
                <a:ea typeface="Arial"/>
                <a:cs typeface="Arial"/>
                <a:sym typeface="Arial"/>
              </a:defRPr>
            </a:lvl1pPr>
          </a:lstStyle>
          <a:p>
            <a:pPr/>
            <a:r>
              <a:t>FAIL TO REJECT</a:t>
            </a:r>
          </a:p>
        </p:txBody>
      </p:sp>
      <p:sp>
        <p:nvSpPr>
          <p:cNvPr id="298" name="Shape 62"/>
          <p:cNvSpPr/>
          <p:nvPr/>
        </p:nvSpPr>
        <p:spPr>
          <a:xfrm>
            <a:off x="9410699" y="6401246"/>
            <a:ext cx="1750518" cy="1419226"/>
          </a:xfrm>
          <a:prstGeom prst="rect">
            <a:avLst/>
          </a:prstGeom>
          <a:solidFill>
            <a:srgbClr val="E8DCCB"/>
          </a:solidFill>
          <a:ln w="12700">
            <a:miter lim="400000"/>
          </a:ln>
        </p:spPr>
        <p:txBody>
          <a:bodyPr lIns="45719" rIns="45719"/>
          <a:lstStyle/>
          <a:p>
            <a:pPr/>
          </a:p>
        </p:txBody>
      </p:sp>
      <p:sp>
        <p:nvSpPr>
          <p:cNvPr id="299" name="Shape 63"/>
          <p:cNvSpPr/>
          <p:nvPr/>
        </p:nvSpPr>
        <p:spPr>
          <a:xfrm>
            <a:off x="9410699" y="7809358"/>
            <a:ext cx="1750518" cy="12701"/>
          </a:xfrm>
          <a:prstGeom prst="rect">
            <a:avLst/>
          </a:prstGeom>
          <a:solidFill>
            <a:srgbClr val="7D4C3D">
              <a:alpha val="18000"/>
            </a:srgbClr>
          </a:solidFill>
          <a:ln w="12700">
            <a:miter lim="400000"/>
          </a:ln>
        </p:spPr>
        <p:txBody>
          <a:bodyPr lIns="45719" rIns="45719"/>
          <a:lstStyle/>
          <a:p>
            <a:pPr/>
          </a:p>
        </p:txBody>
      </p:sp>
      <p:sp>
        <p:nvSpPr>
          <p:cNvPr id="300" name="Text 64"/>
          <p:cNvSpPr txBox="1"/>
          <p:nvPr/>
        </p:nvSpPr>
        <p:spPr>
          <a:xfrm>
            <a:off x="9639299" y="6572695"/>
            <a:ext cx="1369518" cy="111329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chor="ctr">
            <a:normAutofit fontScale="100000" lnSpcReduction="0"/>
          </a:bodyPr>
          <a:lstStyle>
            <a:lvl1pPr defTabSz="868680">
              <a:defRPr sz="1710">
                <a:solidFill>
                  <a:srgbClr val="3A2A22"/>
                </a:solidFill>
                <a:latin typeface="Arial"/>
                <a:ea typeface="Arial"/>
                <a:cs typeface="Arial"/>
                <a:sym typeface="Arial"/>
              </a:defRPr>
            </a:lvl1pPr>
          </a:lstStyle>
          <a:p>
            <a:pPr/>
            <a:r>
              <a:t>&gt;$20 high-spender Rewards vs Non</a:t>
            </a:r>
          </a:p>
        </p:txBody>
      </p:sp>
      <p:sp>
        <p:nvSpPr>
          <p:cNvPr id="301" name="Shape 65"/>
          <p:cNvSpPr/>
          <p:nvPr/>
        </p:nvSpPr>
        <p:spPr>
          <a:xfrm>
            <a:off x="11161215" y="6401246"/>
            <a:ext cx="1247776" cy="1419226"/>
          </a:xfrm>
          <a:prstGeom prst="rect">
            <a:avLst/>
          </a:prstGeom>
          <a:solidFill>
            <a:srgbClr val="E8DCCB"/>
          </a:solidFill>
          <a:ln w="12700">
            <a:miter lim="400000"/>
          </a:ln>
        </p:spPr>
        <p:txBody>
          <a:bodyPr lIns="45719" rIns="45719"/>
          <a:lstStyle/>
          <a:p>
            <a:pPr/>
          </a:p>
        </p:txBody>
      </p:sp>
      <p:sp>
        <p:nvSpPr>
          <p:cNvPr id="302" name="Shape 66"/>
          <p:cNvSpPr/>
          <p:nvPr/>
        </p:nvSpPr>
        <p:spPr>
          <a:xfrm>
            <a:off x="11161215" y="7809358"/>
            <a:ext cx="1247776" cy="12701"/>
          </a:xfrm>
          <a:prstGeom prst="rect">
            <a:avLst/>
          </a:prstGeom>
          <a:solidFill>
            <a:srgbClr val="7D4C3D">
              <a:alpha val="18000"/>
            </a:srgbClr>
          </a:solidFill>
          <a:ln w="12700">
            <a:miter lim="400000"/>
          </a:ln>
        </p:spPr>
        <p:txBody>
          <a:bodyPr lIns="45719" rIns="45719"/>
          <a:lstStyle/>
          <a:p>
            <a:pPr/>
          </a:p>
        </p:txBody>
      </p:sp>
      <p:sp>
        <p:nvSpPr>
          <p:cNvPr id="303" name="Text 67"/>
          <p:cNvSpPr txBox="1"/>
          <p:nvPr/>
        </p:nvSpPr>
        <p:spPr>
          <a:xfrm>
            <a:off x="11313615" y="6572695"/>
            <a:ext cx="866776" cy="11049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chor="ctr">
            <a:normAutofit fontScale="100000" lnSpcReduction="0"/>
          </a:bodyPr>
          <a:lstStyle>
            <a:lvl1pPr algn="r">
              <a:defRPr b="1">
                <a:solidFill>
                  <a:srgbClr val="5D3527"/>
                </a:solidFill>
                <a:latin typeface="Arial"/>
                <a:ea typeface="Arial"/>
                <a:cs typeface="Arial"/>
                <a:sym typeface="Arial"/>
              </a:defRPr>
            </a:lvl1pPr>
          </a:lstStyle>
          <a:p>
            <a:pPr/>
            <a:r>
              <a:t>+8.6pp</a:t>
            </a:r>
          </a:p>
        </p:txBody>
      </p:sp>
      <p:sp>
        <p:nvSpPr>
          <p:cNvPr id="304" name="Shape 68"/>
          <p:cNvSpPr/>
          <p:nvPr/>
        </p:nvSpPr>
        <p:spPr>
          <a:xfrm>
            <a:off x="12408990" y="6401246"/>
            <a:ext cx="1490068" cy="1419226"/>
          </a:xfrm>
          <a:prstGeom prst="rect">
            <a:avLst/>
          </a:prstGeom>
          <a:solidFill>
            <a:srgbClr val="E8DCCB"/>
          </a:solidFill>
          <a:ln w="12700">
            <a:miter lim="400000"/>
          </a:ln>
        </p:spPr>
        <p:txBody>
          <a:bodyPr lIns="45719" rIns="45719"/>
          <a:lstStyle/>
          <a:p>
            <a:pPr/>
          </a:p>
        </p:txBody>
      </p:sp>
      <p:sp>
        <p:nvSpPr>
          <p:cNvPr id="305" name="Shape 69"/>
          <p:cNvSpPr/>
          <p:nvPr/>
        </p:nvSpPr>
        <p:spPr>
          <a:xfrm>
            <a:off x="12408990" y="7809358"/>
            <a:ext cx="1490068" cy="12701"/>
          </a:xfrm>
          <a:prstGeom prst="rect">
            <a:avLst/>
          </a:prstGeom>
          <a:solidFill>
            <a:srgbClr val="7D4C3D">
              <a:alpha val="18000"/>
            </a:srgbClr>
          </a:solidFill>
          <a:ln w="12700">
            <a:miter lim="400000"/>
          </a:ln>
        </p:spPr>
        <p:txBody>
          <a:bodyPr lIns="45719" rIns="45719"/>
          <a:lstStyle/>
          <a:p>
            <a:pPr/>
          </a:p>
        </p:txBody>
      </p:sp>
      <p:sp>
        <p:nvSpPr>
          <p:cNvPr id="306" name="Text 70"/>
          <p:cNvSpPr txBox="1"/>
          <p:nvPr/>
        </p:nvSpPr>
        <p:spPr>
          <a:xfrm>
            <a:off x="12561390" y="6572695"/>
            <a:ext cx="1109068" cy="11049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chor="ctr">
            <a:normAutofit fontScale="100000" lnSpcReduction="0"/>
          </a:bodyPr>
          <a:lstStyle>
            <a:lvl1pPr algn="r">
              <a:defRPr b="1">
                <a:solidFill>
                  <a:srgbClr val="5D3527"/>
                </a:solidFill>
                <a:latin typeface="Arial"/>
                <a:ea typeface="Arial"/>
                <a:cs typeface="Arial"/>
                <a:sym typeface="Arial"/>
              </a:defRPr>
            </a:lvl1pPr>
          </a:lstStyle>
          <a:p>
            <a:pPr/>
            <a:r>
              <a:t>z = 35.92</a:t>
            </a:r>
          </a:p>
        </p:txBody>
      </p:sp>
      <p:sp>
        <p:nvSpPr>
          <p:cNvPr id="307" name="Shape 71"/>
          <p:cNvSpPr/>
          <p:nvPr/>
        </p:nvSpPr>
        <p:spPr>
          <a:xfrm>
            <a:off x="13899058" y="6401246"/>
            <a:ext cx="962472" cy="1419226"/>
          </a:xfrm>
          <a:prstGeom prst="rect">
            <a:avLst/>
          </a:prstGeom>
          <a:solidFill>
            <a:srgbClr val="E8DCCB"/>
          </a:solidFill>
          <a:ln w="12700">
            <a:miter lim="400000"/>
          </a:ln>
        </p:spPr>
        <p:txBody>
          <a:bodyPr lIns="45719" rIns="45719"/>
          <a:lstStyle/>
          <a:p>
            <a:pPr/>
          </a:p>
        </p:txBody>
      </p:sp>
      <p:sp>
        <p:nvSpPr>
          <p:cNvPr id="308" name="Shape 72"/>
          <p:cNvSpPr/>
          <p:nvPr/>
        </p:nvSpPr>
        <p:spPr>
          <a:xfrm>
            <a:off x="13899058" y="7809358"/>
            <a:ext cx="962472" cy="12701"/>
          </a:xfrm>
          <a:prstGeom prst="rect">
            <a:avLst/>
          </a:prstGeom>
          <a:solidFill>
            <a:srgbClr val="7D4C3D">
              <a:alpha val="18000"/>
            </a:srgbClr>
          </a:solidFill>
          <a:ln w="12700">
            <a:miter lim="400000"/>
          </a:ln>
        </p:spPr>
        <p:txBody>
          <a:bodyPr lIns="45719" rIns="45719"/>
          <a:lstStyle/>
          <a:p>
            <a:pPr/>
          </a:p>
        </p:txBody>
      </p:sp>
      <p:sp>
        <p:nvSpPr>
          <p:cNvPr id="309" name="Text 73"/>
          <p:cNvSpPr txBox="1"/>
          <p:nvPr/>
        </p:nvSpPr>
        <p:spPr>
          <a:xfrm>
            <a:off x="14051458" y="6572695"/>
            <a:ext cx="581472" cy="11049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chor="ctr">
            <a:normAutofit fontScale="100000" lnSpcReduction="0"/>
          </a:bodyPr>
          <a:lstStyle>
            <a:lvl1pPr algn="r">
              <a:defRPr b="1">
                <a:solidFill>
                  <a:srgbClr val="5D3527"/>
                </a:solidFill>
                <a:latin typeface="Arial"/>
                <a:ea typeface="Arial"/>
                <a:cs typeface="Arial"/>
                <a:sym typeface="Arial"/>
              </a:defRPr>
            </a:lvl1pPr>
          </a:lstStyle>
          <a:p>
            <a:pPr/>
            <a:r>
              <a:t>≈ 0</a:t>
            </a:r>
          </a:p>
        </p:txBody>
      </p:sp>
      <p:sp>
        <p:nvSpPr>
          <p:cNvPr id="310" name="Shape 74"/>
          <p:cNvSpPr/>
          <p:nvPr/>
        </p:nvSpPr>
        <p:spPr>
          <a:xfrm>
            <a:off x="14861530" y="6401246"/>
            <a:ext cx="2854971" cy="1419226"/>
          </a:xfrm>
          <a:prstGeom prst="rect">
            <a:avLst/>
          </a:prstGeom>
          <a:solidFill>
            <a:srgbClr val="E8DCCB"/>
          </a:solidFill>
          <a:ln w="12700">
            <a:miter lim="400000"/>
          </a:ln>
        </p:spPr>
        <p:txBody>
          <a:bodyPr lIns="45719" rIns="45719"/>
          <a:lstStyle/>
          <a:p>
            <a:pPr/>
          </a:p>
        </p:txBody>
      </p:sp>
      <p:sp>
        <p:nvSpPr>
          <p:cNvPr id="311" name="Shape 75"/>
          <p:cNvSpPr/>
          <p:nvPr/>
        </p:nvSpPr>
        <p:spPr>
          <a:xfrm>
            <a:off x="14861530" y="7809358"/>
            <a:ext cx="2854971" cy="12701"/>
          </a:xfrm>
          <a:prstGeom prst="rect">
            <a:avLst/>
          </a:prstGeom>
          <a:solidFill>
            <a:srgbClr val="7D4C3D">
              <a:alpha val="18000"/>
            </a:srgbClr>
          </a:solidFill>
          <a:ln w="12700">
            <a:miter lim="400000"/>
          </a:ln>
        </p:spPr>
        <p:txBody>
          <a:bodyPr lIns="45719" rIns="45719"/>
          <a:lstStyle/>
          <a:p>
            <a:pPr/>
          </a:p>
        </p:txBody>
      </p:sp>
      <p:sp>
        <p:nvSpPr>
          <p:cNvPr id="312" name="Shape 76"/>
          <p:cNvSpPr/>
          <p:nvPr/>
        </p:nvSpPr>
        <p:spPr>
          <a:xfrm>
            <a:off x="15090130" y="6934645"/>
            <a:ext cx="1644849" cy="352426"/>
          </a:xfrm>
          <a:prstGeom prst="roundRect">
            <a:avLst>
              <a:gd name="adj" fmla="val 50000"/>
            </a:avLst>
          </a:prstGeom>
          <a:solidFill>
            <a:srgbClr val="7D4C3D"/>
          </a:solidFill>
          <a:ln w="12700">
            <a:miter lim="400000"/>
          </a:ln>
        </p:spPr>
        <p:txBody>
          <a:bodyPr lIns="45719" rIns="45719"/>
          <a:lstStyle/>
          <a:p>
            <a:pPr/>
          </a:p>
        </p:txBody>
      </p:sp>
      <p:sp>
        <p:nvSpPr>
          <p:cNvPr id="313" name="Text 77"/>
          <p:cNvSpPr txBox="1"/>
          <p:nvPr/>
        </p:nvSpPr>
        <p:spPr>
          <a:xfrm>
            <a:off x="15204430" y="6972745"/>
            <a:ext cx="1492449" cy="314326"/>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86968">
              <a:defRPr b="1" spc="194" sz="1746">
                <a:solidFill>
                  <a:srgbClr val="FAF8ED"/>
                </a:solidFill>
                <a:latin typeface="Arial"/>
                <a:ea typeface="Arial"/>
                <a:cs typeface="Arial"/>
                <a:sym typeface="Arial"/>
              </a:defRPr>
            </a:lvl1pPr>
          </a:lstStyle>
          <a:p>
            <a:pPr/>
            <a:r>
              <a:t>REJECT H₀</a:t>
            </a:r>
          </a:p>
        </p:txBody>
      </p:sp>
      <p:sp>
        <p:nvSpPr>
          <p:cNvPr id="314" name="Text 78"/>
          <p:cNvSpPr txBox="1"/>
          <p:nvPr/>
        </p:nvSpPr>
        <p:spPr>
          <a:xfrm>
            <a:off x="9410700" y="8053833"/>
            <a:ext cx="8554974" cy="805757"/>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p>
            <a:pPr>
              <a:lnSpc>
                <a:spcPct val="155000"/>
              </a:lnSpc>
              <a:defRPr sz="1900">
                <a:solidFill>
                  <a:srgbClr val="3A2A22"/>
                </a:solidFill>
                <a:latin typeface="Arial"/>
                <a:ea typeface="Arial"/>
                <a:cs typeface="Arial"/>
                <a:sym typeface="Arial"/>
              </a:defRPr>
            </a:pPr>
            <a:r>
              <a:t>Mobile and Rewards differences are </a:t>
            </a:r>
            <a:r>
              <a:rPr b="1"/>
              <a:t>statistically significant </a:t>
            </a:r>
            <a:r>
              <a:t>. Repeat-customer spend is </a:t>
            </a:r>
            <a:r>
              <a:rPr b="1"/>
              <a:t>stable over time</a:t>
            </a:r>
            <a:r>
              <a:t>.</a:t>
            </a:r>
          </a:p>
        </p:txBody>
      </p:sp>
      <p:sp>
        <p:nvSpPr>
          <p:cNvPr id="315" name="Text 79"/>
          <p:cNvSpPr txBox="1"/>
          <p:nvPr/>
        </p:nvSpPr>
        <p:spPr>
          <a:xfrm>
            <a:off x="16570672" y="9572625"/>
            <a:ext cx="1222029" cy="333375"/>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z="1900">
                <a:solidFill>
                  <a:srgbClr val="7D4C3D">
                    <a:alpha val="85000"/>
                  </a:srgbClr>
                </a:solidFill>
                <a:latin typeface="Arial"/>
                <a:ea typeface="Arial"/>
                <a:cs typeface="Arial"/>
                <a:sym typeface="Arial"/>
              </a:defRPr>
            </a:lvl1pPr>
          </a:lstStyle>
          <a:p>
            <a:pPr/>
            <a:r>
              <a:t>Starbucks</a:t>
            </a:r>
          </a:p>
        </p:txBody>
      </p:sp>
      <p:sp>
        <p:nvSpPr>
          <p:cNvPr id="316" name="Text 80"/>
          <p:cNvSpPr txBox="1"/>
          <p:nvPr/>
        </p:nvSpPr>
        <p:spPr>
          <a:xfrm>
            <a:off x="571499" y="9591675"/>
            <a:ext cx="1100884" cy="314325"/>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pc="300">
                <a:solidFill>
                  <a:srgbClr val="7D4C3D">
                    <a:alpha val="55000"/>
                  </a:srgbClr>
                </a:solidFill>
                <a:latin typeface="Arial"/>
                <a:ea typeface="Arial"/>
                <a:cs typeface="Arial"/>
                <a:sym typeface="Arial"/>
              </a:defRPr>
            </a:lvl1pPr>
          </a:lstStyle>
          <a:p>
            <a:pPr/>
            <a:r>
              <a:t>08 / 16</a:t>
            </a:r>
          </a:p>
        </p:txBody>
      </p:sp>
    </p:spTree>
  </p:cSld>
  <p:clrMapOvr>
    <a:masterClrMapping/>
  </p:clrMapOvr>
  <p:transition xmlns:p14="http://schemas.microsoft.com/office/powerpoint/2010/main" spd="med" advClick="1"/>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5D3527"/>
        </a:solidFill>
      </p:bgPr>
    </p:bg>
    <p:spTree>
      <p:nvGrpSpPr>
        <p:cNvPr id="1" name=""/>
        <p:cNvGrpSpPr/>
        <p:nvPr/>
      </p:nvGrpSpPr>
      <p:grpSpPr>
        <a:xfrm>
          <a:off x="0" y="0"/>
          <a:ext cx="0" cy="0"/>
          <a:chOff x="0" y="0"/>
          <a:chExt cx="0" cy="0"/>
        </a:xfrm>
      </p:grpSpPr>
      <p:sp>
        <p:nvSpPr>
          <p:cNvPr id="320" name="Text 0"/>
          <p:cNvSpPr txBox="1"/>
          <p:nvPr/>
        </p:nvSpPr>
        <p:spPr>
          <a:xfrm>
            <a:off x="1143000" y="1143000"/>
            <a:ext cx="7221938" cy="314325"/>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pc="300">
                <a:solidFill>
                  <a:srgbClr val="E8DCCB">
                    <a:alpha val="85000"/>
                  </a:srgbClr>
                </a:solidFill>
                <a:latin typeface="Arial"/>
                <a:ea typeface="Arial"/>
                <a:cs typeface="Arial"/>
                <a:sym typeface="Arial"/>
              </a:defRPr>
            </a:lvl1pPr>
          </a:lstStyle>
          <a:p>
            <a:pPr/>
            <a:r>
              <a:t>CHAPTER EIGHT · PROBABILITY &amp; BAYES</a:t>
            </a:r>
          </a:p>
        </p:txBody>
      </p:sp>
      <p:sp>
        <p:nvSpPr>
          <p:cNvPr id="321" name="Text 1"/>
          <p:cNvSpPr txBox="1"/>
          <p:nvPr/>
        </p:nvSpPr>
        <p:spPr>
          <a:xfrm>
            <a:off x="571500" y="1523999"/>
            <a:ext cx="14716125" cy="1305820"/>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04000"/>
              </a:lnSpc>
              <a:defRPr b="1" spc="-100" sz="4800">
                <a:solidFill>
                  <a:srgbClr val="FAF8ED"/>
                </a:solidFill>
                <a:latin typeface="Arial"/>
                <a:ea typeface="Arial"/>
                <a:cs typeface="Arial"/>
                <a:sym typeface="Arial"/>
              </a:defRPr>
            </a:lvl1pPr>
          </a:lstStyle>
          <a:p>
            <a:pPr/>
            <a:r>
              <a:t>High spenders are almost always Mobile.</a:t>
            </a:r>
          </a:p>
        </p:txBody>
      </p:sp>
      <p:sp>
        <p:nvSpPr>
          <p:cNvPr id="322" name="Shape 2"/>
          <p:cNvSpPr/>
          <p:nvPr/>
        </p:nvSpPr>
        <p:spPr>
          <a:xfrm>
            <a:off x="571500" y="2944117"/>
            <a:ext cx="762000" cy="19051"/>
          </a:xfrm>
          <a:prstGeom prst="rect">
            <a:avLst/>
          </a:prstGeom>
          <a:solidFill>
            <a:srgbClr val="FAF8ED"/>
          </a:solidFill>
          <a:ln w="12700">
            <a:miter lim="400000"/>
          </a:ln>
        </p:spPr>
        <p:txBody>
          <a:bodyPr lIns="45719" rIns="45719"/>
          <a:lstStyle/>
          <a:p>
            <a:pPr/>
          </a:p>
        </p:txBody>
      </p:sp>
      <p:sp>
        <p:nvSpPr>
          <p:cNvPr id="323" name="Shape 3"/>
          <p:cNvSpPr/>
          <p:nvPr/>
        </p:nvSpPr>
        <p:spPr>
          <a:xfrm>
            <a:off x="571500" y="3248917"/>
            <a:ext cx="8305800" cy="5810251"/>
          </a:xfrm>
          <a:prstGeom prst="roundRect">
            <a:avLst>
              <a:gd name="adj" fmla="val 2295"/>
            </a:avLst>
          </a:prstGeom>
          <a:solidFill>
            <a:srgbClr val="FAF8ED"/>
          </a:solidFill>
          <a:ln>
            <a:solidFill>
              <a:srgbClr val="7D4C3D">
                <a:alpha val="18000"/>
              </a:srgbClr>
            </a:solidFill>
          </a:ln>
          <a:effectLst>
            <a:outerShdw sx="100000" sy="100000" kx="0" ky="0" algn="b" rotWithShape="0" blurRad="228600" dist="76200" dir="5400000">
              <a:srgbClr val="7D4C3D">
                <a:alpha val="8000"/>
              </a:srgbClr>
            </a:outerShdw>
          </a:effectLst>
        </p:spPr>
        <p:txBody>
          <a:bodyPr lIns="45719" rIns="45719"/>
          <a:lstStyle/>
          <a:p>
            <a:pPr/>
          </a:p>
        </p:txBody>
      </p:sp>
      <p:pic>
        <p:nvPicPr>
          <p:cNvPr id="324" name="Image 0" descr="Image 0"/>
          <p:cNvPicPr>
            <a:picLocks noChangeAspect="1"/>
          </p:cNvPicPr>
          <p:nvPr/>
        </p:nvPicPr>
        <p:blipFill>
          <a:blip r:embed="rId3">
            <a:extLst/>
          </a:blip>
          <a:stretch>
            <a:fillRect/>
          </a:stretch>
        </p:blipFill>
        <p:spPr>
          <a:xfrm>
            <a:off x="809625" y="3487042"/>
            <a:ext cx="7829550" cy="5334001"/>
          </a:xfrm>
          <a:prstGeom prst="rect">
            <a:avLst/>
          </a:prstGeom>
          <a:ln w="12700">
            <a:miter lim="400000"/>
          </a:ln>
        </p:spPr>
      </p:pic>
      <p:sp>
        <p:nvSpPr>
          <p:cNvPr id="325" name="Shape 4"/>
          <p:cNvSpPr/>
          <p:nvPr/>
        </p:nvSpPr>
        <p:spPr>
          <a:xfrm>
            <a:off x="9410700" y="3248917"/>
            <a:ext cx="4048125" cy="2030612"/>
          </a:xfrm>
          <a:prstGeom prst="roundRect">
            <a:avLst>
              <a:gd name="adj" fmla="val 6567"/>
            </a:avLst>
          </a:prstGeom>
          <a:solidFill>
            <a:srgbClr val="FAF8ED">
              <a:alpha val="10000"/>
            </a:srgbClr>
          </a:solidFill>
          <a:ln>
            <a:solidFill>
              <a:srgbClr val="FAF8ED">
                <a:alpha val="25000"/>
              </a:srgbClr>
            </a:solidFill>
          </a:ln>
        </p:spPr>
        <p:txBody>
          <a:bodyPr lIns="45719" rIns="45719"/>
          <a:lstStyle/>
          <a:p>
            <a:pPr/>
          </a:p>
        </p:txBody>
      </p:sp>
      <p:sp>
        <p:nvSpPr>
          <p:cNvPr id="326" name="Text 5"/>
          <p:cNvSpPr txBox="1"/>
          <p:nvPr/>
        </p:nvSpPr>
        <p:spPr>
          <a:xfrm>
            <a:off x="9763125" y="3563242"/>
            <a:ext cx="3443573" cy="6477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04672">
              <a:defRPr spc="-88" sz="4224">
                <a:solidFill>
                  <a:srgbClr val="FAF8ED"/>
                </a:solidFill>
                <a:latin typeface="Arial"/>
                <a:ea typeface="Arial"/>
                <a:cs typeface="Arial"/>
                <a:sym typeface="Arial"/>
              </a:defRPr>
            </a:lvl1pPr>
          </a:lstStyle>
          <a:p>
            <a:pPr/>
            <a:r>
              <a:t>5.11%</a:t>
            </a:r>
          </a:p>
        </p:txBody>
      </p:sp>
      <p:sp>
        <p:nvSpPr>
          <p:cNvPr id="327" name="Text 6"/>
          <p:cNvSpPr txBox="1"/>
          <p:nvPr/>
        </p:nvSpPr>
        <p:spPr>
          <a:xfrm>
            <a:off x="9763125" y="4325242"/>
            <a:ext cx="3443573" cy="35808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p>
            <a:pPr>
              <a:lnSpc>
                <a:spcPct val="140000"/>
              </a:lnSpc>
              <a:defRPr>
                <a:solidFill>
                  <a:srgbClr val="E8DCCB"/>
                </a:solidFill>
                <a:latin typeface="Arial"/>
                <a:ea typeface="Arial"/>
                <a:cs typeface="Arial"/>
                <a:sym typeface="Arial"/>
              </a:defRPr>
            </a:pPr>
            <a:r>
              <a:t>P(spend &gt; $25) </a:t>
            </a:r>
            <a:r>
              <a:rPr i="1"/>
              <a:t>empirical</a:t>
            </a:r>
          </a:p>
        </p:txBody>
      </p:sp>
      <p:sp>
        <p:nvSpPr>
          <p:cNvPr id="328" name="Shape 7"/>
          <p:cNvSpPr/>
          <p:nvPr/>
        </p:nvSpPr>
        <p:spPr>
          <a:xfrm>
            <a:off x="13668375" y="3248917"/>
            <a:ext cx="4048125" cy="2030612"/>
          </a:xfrm>
          <a:prstGeom prst="roundRect">
            <a:avLst>
              <a:gd name="adj" fmla="val 6567"/>
            </a:avLst>
          </a:prstGeom>
          <a:solidFill>
            <a:srgbClr val="FAF8ED">
              <a:alpha val="6000"/>
            </a:srgbClr>
          </a:solidFill>
          <a:ln>
            <a:solidFill>
              <a:srgbClr val="FAF8ED">
                <a:alpha val="18000"/>
              </a:srgbClr>
            </a:solidFill>
          </a:ln>
        </p:spPr>
        <p:txBody>
          <a:bodyPr lIns="45719" rIns="45719"/>
          <a:lstStyle/>
          <a:p>
            <a:pPr/>
          </a:p>
        </p:txBody>
      </p:sp>
      <p:sp>
        <p:nvSpPr>
          <p:cNvPr id="329" name="Text 8"/>
          <p:cNvSpPr txBox="1"/>
          <p:nvPr/>
        </p:nvSpPr>
        <p:spPr>
          <a:xfrm>
            <a:off x="14020800" y="3563242"/>
            <a:ext cx="3443573" cy="6477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04672">
              <a:defRPr spc="-88" sz="4224">
                <a:solidFill>
                  <a:srgbClr val="E8DCCB"/>
                </a:solidFill>
                <a:latin typeface="Arial"/>
                <a:ea typeface="Arial"/>
                <a:cs typeface="Arial"/>
                <a:sym typeface="Arial"/>
              </a:defRPr>
            </a:lvl1pPr>
          </a:lstStyle>
          <a:p>
            <a:pPr/>
            <a:r>
              <a:t>3.29%</a:t>
            </a:r>
          </a:p>
        </p:txBody>
      </p:sp>
      <p:sp>
        <p:nvSpPr>
          <p:cNvPr id="330" name="Text 9"/>
          <p:cNvSpPr txBox="1"/>
          <p:nvPr/>
        </p:nvSpPr>
        <p:spPr>
          <a:xfrm>
            <a:off x="14020800" y="4325242"/>
            <a:ext cx="3443573" cy="683586"/>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68680">
              <a:lnSpc>
                <a:spcPct val="140000"/>
              </a:lnSpc>
              <a:defRPr sz="1710">
                <a:solidFill>
                  <a:srgbClr val="E8DCCB"/>
                </a:solidFill>
                <a:latin typeface="Arial"/>
                <a:ea typeface="Arial"/>
                <a:cs typeface="Arial"/>
                <a:sym typeface="Arial"/>
              </a:defRPr>
            </a:lvl1pPr>
          </a:lstStyle>
          <a:p>
            <a:pPr/>
            <a:r>
              <a:t>Normal approximation (underestimates tail)</a:t>
            </a:r>
          </a:p>
        </p:txBody>
      </p:sp>
      <p:sp>
        <p:nvSpPr>
          <p:cNvPr id="331" name="Shape 10"/>
          <p:cNvSpPr/>
          <p:nvPr/>
        </p:nvSpPr>
        <p:spPr>
          <a:xfrm>
            <a:off x="9410700" y="5489078"/>
            <a:ext cx="4048125" cy="1710631"/>
          </a:xfrm>
          <a:prstGeom prst="roundRect">
            <a:avLst>
              <a:gd name="adj" fmla="val 7795"/>
            </a:avLst>
          </a:prstGeom>
          <a:solidFill>
            <a:srgbClr val="FAF8ED">
              <a:alpha val="10000"/>
            </a:srgbClr>
          </a:solidFill>
          <a:ln>
            <a:solidFill>
              <a:srgbClr val="FAF8ED">
                <a:alpha val="25000"/>
              </a:srgbClr>
            </a:solidFill>
          </a:ln>
        </p:spPr>
        <p:txBody>
          <a:bodyPr lIns="45719" rIns="45719"/>
          <a:lstStyle/>
          <a:p>
            <a:pPr/>
          </a:p>
        </p:txBody>
      </p:sp>
      <p:sp>
        <p:nvSpPr>
          <p:cNvPr id="332" name="Text 11"/>
          <p:cNvSpPr txBox="1"/>
          <p:nvPr/>
        </p:nvSpPr>
        <p:spPr>
          <a:xfrm>
            <a:off x="9763125" y="5803403"/>
            <a:ext cx="3443573" cy="6477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04672">
              <a:defRPr spc="-88" sz="4224">
                <a:solidFill>
                  <a:srgbClr val="FAF8ED"/>
                </a:solidFill>
                <a:latin typeface="Arial"/>
                <a:ea typeface="Arial"/>
                <a:cs typeface="Arial"/>
                <a:sym typeface="Arial"/>
              </a:defRPr>
            </a:lvl1pPr>
          </a:lstStyle>
          <a:p>
            <a:pPr/>
            <a:r>
              <a:t>11.27%</a:t>
            </a:r>
          </a:p>
        </p:txBody>
      </p:sp>
      <p:sp>
        <p:nvSpPr>
          <p:cNvPr id="333" name="Text 12"/>
          <p:cNvSpPr txBox="1"/>
          <p:nvPr/>
        </p:nvSpPr>
        <p:spPr>
          <a:xfrm>
            <a:off x="9763125" y="6565403"/>
            <a:ext cx="3443573" cy="35808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40000"/>
              </a:lnSpc>
              <a:defRPr>
                <a:solidFill>
                  <a:srgbClr val="E8DCCB"/>
                </a:solidFill>
                <a:latin typeface="Arial"/>
                <a:ea typeface="Arial"/>
                <a:cs typeface="Arial"/>
                <a:sym typeface="Arial"/>
              </a:defRPr>
            </a:lvl1pPr>
          </a:lstStyle>
          <a:p>
            <a:pPr/>
            <a:r>
              <a:t>P(spend &gt; $25 | Mobile)</a:t>
            </a:r>
          </a:p>
        </p:txBody>
      </p:sp>
      <p:sp>
        <p:nvSpPr>
          <p:cNvPr id="334" name="Shape 13"/>
          <p:cNvSpPr/>
          <p:nvPr/>
        </p:nvSpPr>
        <p:spPr>
          <a:xfrm>
            <a:off x="13668375" y="5489078"/>
            <a:ext cx="4048125" cy="1710631"/>
          </a:xfrm>
          <a:prstGeom prst="roundRect">
            <a:avLst>
              <a:gd name="adj" fmla="val 7795"/>
            </a:avLst>
          </a:prstGeom>
          <a:solidFill>
            <a:srgbClr val="FAF8ED">
              <a:alpha val="10000"/>
            </a:srgbClr>
          </a:solidFill>
          <a:ln>
            <a:solidFill>
              <a:srgbClr val="FAF8ED">
                <a:alpha val="25000"/>
              </a:srgbClr>
            </a:solidFill>
          </a:ln>
        </p:spPr>
        <p:txBody>
          <a:bodyPr lIns="45719" rIns="45719"/>
          <a:lstStyle/>
          <a:p>
            <a:pPr/>
          </a:p>
        </p:txBody>
      </p:sp>
      <p:sp>
        <p:nvSpPr>
          <p:cNvPr id="335" name="Text 14"/>
          <p:cNvSpPr txBox="1"/>
          <p:nvPr/>
        </p:nvSpPr>
        <p:spPr>
          <a:xfrm>
            <a:off x="14020800" y="5803403"/>
            <a:ext cx="3443573" cy="6477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04672">
              <a:defRPr spc="-88" sz="4224">
                <a:solidFill>
                  <a:srgbClr val="FAF8ED"/>
                </a:solidFill>
                <a:latin typeface="Arial"/>
                <a:ea typeface="Arial"/>
                <a:cs typeface="Arial"/>
                <a:sym typeface="Arial"/>
              </a:defRPr>
            </a:lvl1pPr>
          </a:lstStyle>
          <a:p>
            <a:pPr/>
            <a:r>
              <a:t>93.85%</a:t>
            </a:r>
          </a:p>
        </p:txBody>
      </p:sp>
      <p:sp>
        <p:nvSpPr>
          <p:cNvPr id="336" name="Text 15"/>
          <p:cNvSpPr txBox="1"/>
          <p:nvPr/>
        </p:nvSpPr>
        <p:spPr>
          <a:xfrm>
            <a:off x="14020800" y="6565403"/>
            <a:ext cx="3443573" cy="35808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p>
            <a:pPr>
              <a:lnSpc>
                <a:spcPct val="140000"/>
              </a:lnSpc>
              <a:defRPr>
                <a:solidFill>
                  <a:srgbClr val="E8DCCB"/>
                </a:solidFill>
                <a:latin typeface="Arial"/>
                <a:ea typeface="Arial"/>
                <a:cs typeface="Arial"/>
                <a:sym typeface="Arial"/>
              </a:defRPr>
            </a:pPr>
            <a:r>
              <a:t>P(Mobile | spend &gt; $25) </a:t>
            </a:r>
            <a:r>
              <a:rPr i="1"/>
              <a:t>Bayes</a:t>
            </a:r>
          </a:p>
        </p:txBody>
      </p:sp>
      <p:sp>
        <p:nvSpPr>
          <p:cNvPr id="337" name="Shape 16"/>
          <p:cNvSpPr/>
          <p:nvPr/>
        </p:nvSpPr>
        <p:spPr>
          <a:xfrm>
            <a:off x="9410700" y="7409259"/>
            <a:ext cx="28575" cy="1110556"/>
          </a:xfrm>
          <a:prstGeom prst="rect">
            <a:avLst/>
          </a:prstGeom>
          <a:solidFill>
            <a:srgbClr val="FAF8ED"/>
          </a:solidFill>
          <a:ln w="12700">
            <a:miter lim="400000"/>
          </a:ln>
        </p:spPr>
        <p:txBody>
          <a:bodyPr lIns="45719" rIns="45719"/>
          <a:lstStyle/>
          <a:p>
            <a:pPr/>
          </a:p>
        </p:txBody>
      </p:sp>
      <p:sp>
        <p:nvSpPr>
          <p:cNvPr id="338" name="Text 17"/>
          <p:cNvSpPr txBox="1"/>
          <p:nvPr/>
        </p:nvSpPr>
        <p:spPr>
          <a:xfrm>
            <a:off x="9686925" y="7599759"/>
            <a:ext cx="8031099" cy="767656"/>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p>
            <a:pPr>
              <a:lnSpc>
                <a:spcPct val="135000"/>
              </a:lnSpc>
              <a:defRPr i="1" sz="2100">
                <a:solidFill>
                  <a:srgbClr val="FAF8ED"/>
                </a:solidFill>
                <a:latin typeface="Arial"/>
                <a:ea typeface="Arial"/>
                <a:cs typeface="Arial"/>
                <a:sym typeface="Arial"/>
              </a:defRPr>
            </a:pPr>
            <a:r>
              <a:t>And P(Rewards | spend &gt; $25) = </a:t>
            </a:r>
            <a:r>
              <a:rPr b="1" i="0"/>
              <a:t>62.74% </a:t>
            </a:r>
            <a:r>
              <a:t>- high spenders are disproportionately Mobile, Rewards customers.</a:t>
            </a:r>
          </a:p>
        </p:txBody>
      </p:sp>
      <p:sp>
        <p:nvSpPr>
          <p:cNvPr id="339" name="Text 18"/>
          <p:cNvSpPr txBox="1"/>
          <p:nvPr/>
        </p:nvSpPr>
        <p:spPr>
          <a:xfrm>
            <a:off x="16570672" y="9572625"/>
            <a:ext cx="1222029" cy="333375"/>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z="1900">
                <a:solidFill>
                  <a:srgbClr val="FAF8ED">
                    <a:alpha val="70000"/>
                  </a:srgbClr>
                </a:solidFill>
                <a:latin typeface="Arial"/>
                <a:ea typeface="Arial"/>
                <a:cs typeface="Arial"/>
                <a:sym typeface="Arial"/>
              </a:defRPr>
            </a:lvl1pPr>
          </a:lstStyle>
          <a:p>
            <a:pPr/>
            <a:r>
              <a:t>Starbucks</a:t>
            </a:r>
          </a:p>
        </p:txBody>
      </p:sp>
      <p:sp>
        <p:nvSpPr>
          <p:cNvPr id="340" name="Text 19"/>
          <p:cNvSpPr txBox="1"/>
          <p:nvPr/>
        </p:nvSpPr>
        <p:spPr>
          <a:xfrm>
            <a:off x="571500" y="9591675"/>
            <a:ext cx="1101030" cy="314325"/>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pc="300">
                <a:solidFill>
                  <a:srgbClr val="FAF8ED">
                    <a:alpha val="50000"/>
                  </a:srgbClr>
                </a:solidFill>
                <a:latin typeface="Arial"/>
                <a:ea typeface="Arial"/>
                <a:cs typeface="Arial"/>
                <a:sym typeface="Arial"/>
              </a:defRPr>
            </a:lvl1pPr>
          </a:lstStyle>
          <a:p>
            <a:pPr/>
            <a:r>
              <a:t>09 / 16</a:t>
            </a:r>
          </a:p>
        </p:txBody>
      </p:sp>
    </p:spTree>
  </p:cSld>
  <p:clrMapOvr>
    <a:masterClrMapping/>
  </p:clrMapOvr>
  <p:transition xmlns:p14="http://schemas.microsoft.com/office/powerpoint/2010/main" spd="med" advClick="1"/>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AF8ED"/>
        </a:solidFill>
      </p:bgPr>
    </p:bg>
    <p:spTree>
      <p:nvGrpSpPr>
        <p:cNvPr id="1" name=""/>
        <p:cNvGrpSpPr/>
        <p:nvPr/>
      </p:nvGrpSpPr>
      <p:grpSpPr>
        <a:xfrm>
          <a:off x="0" y="0"/>
          <a:ext cx="0" cy="0"/>
          <a:chOff x="0" y="0"/>
          <a:chExt cx="0" cy="0"/>
        </a:xfrm>
      </p:grpSpPr>
      <p:sp>
        <p:nvSpPr>
          <p:cNvPr id="344" name="Text 0"/>
          <p:cNvSpPr txBox="1"/>
          <p:nvPr/>
        </p:nvSpPr>
        <p:spPr>
          <a:xfrm>
            <a:off x="1142999" y="1143000"/>
            <a:ext cx="8497338" cy="314325"/>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pc="300">
                <a:solidFill>
                  <a:srgbClr val="7D4C3D">
                    <a:alpha val="70000"/>
                  </a:srgbClr>
                </a:solidFill>
                <a:latin typeface="Arial"/>
                <a:ea typeface="Arial"/>
                <a:cs typeface="Arial"/>
                <a:sym typeface="Arial"/>
              </a:defRPr>
            </a:lvl1pPr>
          </a:lstStyle>
          <a:p>
            <a:pPr/>
            <a:r>
              <a:t>CHAPTER NINE · A DISCRETE RANDOM VARIABLE</a:t>
            </a:r>
          </a:p>
        </p:txBody>
      </p:sp>
      <p:sp>
        <p:nvSpPr>
          <p:cNvPr id="345" name="Text 1"/>
          <p:cNvSpPr txBox="1"/>
          <p:nvPr/>
        </p:nvSpPr>
        <p:spPr>
          <a:xfrm>
            <a:off x="571500" y="1523999"/>
            <a:ext cx="14716125" cy="67196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50391">
              <a:lnSpc>
                <a:spcPct val="104000"/>
              </a:lnSpc>
              <a:defRPr b="1" spc="-93" sz="4464">
                <a:solidFill>
                  <a:srgbClr val="5D3527"/>
                </a:solidFill>
                <a:latin typeface="Arial"/>
                <a:ea typeface="Arial"/>
                <a:cs typeface="Arial"/>
                <a:sym typeface="Arial"/>
              </a:defRPr>
            </a:lvl1pPr>
          </a:lstStyle>
          <a:p>
            <a:pPr/>
            <a:r>
              <a:t>Cart size, formally.</a:t>
            </a:r>
          </a:p>
        </p:txBody>
      </p:sp>
      <p:sp>
        <p:nvSpPr>
          <p:cNvPr id="346" name="Shape 2"/>
          <p:cNvSpPr/>
          <p:nvPr/>
        </p:nvSpPr>
        <p:spPr>
          <a:xfrm>
            <a:off x="571500" y="2310258"/>
            <a:ext cx="762000" cy="19051"/>
          </a:xfrm>
          <a:prstGeom prst="rect">
            <a:avLst/>
          </a:prstGeom>
          <a:solidFill>
            <a:srgbClr val="7D4C3D"/>
          </a:solidFill>
          <a:ln w="12700">
            <a:miter lim="400000"/>
          </a:ln>
        </p:spPr>
        <p:txBody>
          <a:bodyPr lIns="45719" rIns="45719"/>
          <a:lstStyle/>
          <a:p>
            <a:pPr/>
          </a:p>
        </p:txBody>
      </p:sp>
      <p:sp>
        <p:nvSpPr>
          <p:cNvPr id="347" name="Text 3"/>
          <p:cNvSpPr txBox="1"/>
          <p:nvPr/>
        </p:nvSpPr>
        <p:spPr>
          <a:xfrm>
            <a:off x="571500" y="2596008"/>
            <a:ext cx="12753975" cy="390526"/>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i="1" sz="2200">
                <a:solidFill>
                  <a:srgbClr val="7D4C3D"/>
                </a:solidFill>
                <a:latin typeface="Arial"/>
                <a:ea typeface="Arial"/>
                <a:cs typeface="Arial"/>
                <a:sym typeface="Arial"/>
              </a:defRPr>
            </a:lvl1pPr>
          </a:lstStyle>
          <a:p>
            <a:pPr/>
            <a:r>
              <a:t>A discrete RV over {1, 2, … 10} - the unit of work behind every dollar of spend.</a:t>
            </a:r>
          </a:p>
        </p:txBody>
      </p:sp>
      <p:sp>
        <p:nvSpPr>
          <p:cNvPr id="348" name="Shape 4"/>
          <p:cNvSpPr/>
          <p:nvPr/>
        </p:nvSpPr>
        <p:spPr>
          <a:xfrm>
            <a:off x="571500" y="3481833"/>
            <a:ext cx="10012561" cy="5619751"/>
          </a:xfrm>
          <a:prstGeom prst="roundRect">
            <a:avLst>
              <a:gd name="adj" fmla="val 2373"/>
            </a:avLst>
          </a:prstGeom>
          <a:solidFill>
            <a:srgbClr val="FFFFFF"/>
          </a:solidFill>
          <a:ln>
            <a:solidFill>
              <a:srgbClr val="7D4C3D">
                <a:alpha val="18000"/>
              </a:srgbClr>
            </a:solidFill>
          </a:ln>
          <a:effectLst>
            <a:outerShdw sx="100000" sy="100000" kx="0" ky="0" algn="b" rotWithShape="0" blurRad="228600" dist="76200" dir="5400000">
              <a:srgbClr val="7D4C3D">
                <a:alpha val="8000"/>
              </a:srgbClr>
            </a:outerShdw>
          </a:effectLst>
        </p:spPr>
        <p:txBody>
          <a:bodyPr lIns="45719" rIns="45719"/>
          <a:lstStyle/>
          <a:p>
            <a:pPr/>
          </a:p>
        </p:txBody>
      </p:sp>
      <p:pic>
        <p:nvPicPr>
          <p:cNvPr id="349" name="Image 0" descr="Image 0"/>
          <p:cNvPicPr>
            <a:picLocks noChangeAspect="1"/>
          </p:cNvPicPr>
          <p:nvPr/>
        </p:nvPicPr>
        <p:blipFill>
          <a:blip r:embed="rId3">
            <a:extLst/>
          </a:blip>
          <a:stretch>
            <a:fillRect/>
          </a:stretch>
        </p:blipFill>
        <p:spPr>
          <a:xfrm>
            <a:off x="809625" y="3719958"/>
            <a:ext cx="9536311" cy="5143501"/>
          </a:xfrm>
          <a:prstGeom prst="rect">
            <a:avLst/>
          </a:prstGeom>
          <a:ln w="12700">
            <a:miter lim="400000"/>
          </a:ln>
        </p:spPr>
      </p:pic>
      <p:sp>
        <p:nvSpPr>
          <p:cNvPr id="350" name="Shape 5"/>
          <p:cNvSpPr/>
          <p:nvPr/>
        </p:nvSpPr>
        <p:spPr>
          <a:xfrm>
            <a:off x="11041260" y="3643312"/>
            <a:ext cx="6675092" cy="1710631"/>
          </a:xfrm>
          <a:prstGeom prst="roundRect">
            <a:avLst>
              <a:gd name="adj" fmla="val 7795"/>
            </a:avLst>
          </a:prstGeom>
          <a:solidFill>
            <a:srgbClr val="E8DCCB"/>
          </a:solidFill>
          <a:ln>
            <a:solidFill>
              <a:srgbClr val="7D4C3D">
                <a:alpha val="18000"/>
              </a:srgbClr>
            </a:solidFill>
          </a:ln>
        </p:spPr>
        <p:txBody>
          <a:bodyPr lIns="45719" rIns="45719"/>
          <a:lstStyle/>
          <a:p>
            <a:pPr/>
          </a:p>
        </p:txBody>
      </p:sp>
      <p:sp>
        <p:nvSpPr>
          <p:cNvPr id="351" name="Text 6"/>
          <p:cNvSpPr txBox="1"/>
          <p:nvPr/>
        </p:nvSpPr>
        <p:spPr>
          <a:xfrm>
            <a:off x="11393685" y="3957637"/>
            <a:ext cx="6149349" cy="6477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04672">
              <a:defRPr spc="-88" sz="4224">
                <a:solidFill>
                  <a:srgbClr val="5D3527"/>
                </a:solidFill>
                <a:latin typeface="Arial"/>
                <a:ea typeface="Arial"/>
                <a:cs typeface="Arial"/>
                <a:sym typeface="Arial"/>
              </a:defRPr>
            </a:lvl1pPr>
          </a:lstStyle>
          <a:p>
            <a:pPr/>
            <a:r>
              <a:t>3.7415</a:t>
            </a:r>
          </a:p>
        </p:txBody>
      </p:sp>
      <p:sp>
        <p:nvSpPr>
          <p:cNvPr id="352" name="Text 7"/>
          <p:cNvSpPr txBox="1"/>
          <p:nvPr/>
        </p:nvSpPr>
        <p:spPr>
          <a:xfrm>
            <a:off x="11393685" y="4719637"/>
            <a:ext cx="6149349" cy="35808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40000"/>
              </a:lnSpc>
              <a:defRPr>
                <a:solidFill>
                  <a:srgbClr val="7D4C3D"/>
                </a:solidFill>
                <a:latin typeface="Arial"/>
                <a:ea typeface="Arial"/>
                <a:cs typeface="Arial"/>
                <a:sym typeface="Arial"/>
              </a:defRPr>
            </a:lvl1pPr>
          </a:lstStyle>
          <a:p>
            <a:pPr/>
            <a:r>
              <a:t>E[cart_size] · expected items per order</a:t>
            </a:r>
          </a:p>
        </p:txBody>
      </p:sp>
      <p:sp>
        <p:nvSpPr>
          <p:cNvPr id="353" name="Shape 8"/>
          <p:cNvSpPr/>
          <p:nvPr/>
        </p:nvSpPr>
        <p:spPr>
          <a:xfrm>
            <a:off x="11041260" y="5582542"/>
            <a:ext cx="6675092" cy="1710632"/>
          </a:xfrm>
          <a:prstGeom prst="roundRect">
            <a:avLst>
              <a:gd name="adj" fmla="val 7795"/>
            </a:avLst>
          </a:prstGeom>
          <a:solidFill>
            <a:srgbClr val="E8DCCB"/>
          </a:solidFill>
          <a:ln>
            <a:solidFill>
              <a:srgbClr val="7D4C3D">
                <a:alpha val="18000"/>
              </a:srgbClr>
            </a:solidFill>
          </a:ln>
        </p:spPr>
        <p:txBody>
          <a:bodyPr lIns="45719" rIns="45719"/>
          <a:lstStyle/>
          <a:p>
            <a:pPr/>
          </a:p>
        </p:txBody>
      </p:sp>
      <p:sp>
        <p:nvSpPr>
          <p:cNvPr id="354" name="Text 9"/>
          <p:cNvSpPr txBox="1"/>
          <p:nvPr/>
        </p:nvSpPr>
        <p:spPr>
          <a:xfrm>
            <a:off x="11393685" y="5896867"/>
            <a:ext cx="6149349" cy="6477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04672">
              <a:defRPr spc="-88" sz="4224">
                <a:solidFill>
                  <a:srgbClr val="5D3527"/>
                </a:solidFill>
                <a:latin typeface="Arial"/>
                <a:ea typeface="Arial"/>
                <a:cs typeface="Arial"/>
                <a:sym typeface="Arial"/>
              </a:defRPr>
            </a:lvl1pPr>
          </a:lstStyle>
          <a:p>
            <a:pPr/>
            <a:r>
              <a:t>2.8826</a:t>
            </a:r>
          </a:p>
        </p:txBody>
      </p:sp>
      <p:sp>
        <p:nvSpPr>
          <p:cNvPr id="355" name="Text 10"/>
          <p:cNvSpPr txBox="1"/>
          <p:nvPr/>
        </p:nvSpPr>
        <p:spPr>
          <a:xfrm>
            <a:off x="11393685" y="6658867"/>
            <a:ext cx="6149349" cy="35808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40000"/>
              </a:lnSpc>
              <a:defRPr>
                <a:solidFill>
                  <a:srgbClr val="7D4C3D"/>
                </a:solidFill>
                <a:latin typeface="Arial"/>
                <a:ea typeface="Arial"/>
                <a:cs typeface="Arial"/>
                <a:sym typeface="Arial"/>
              </a:defRPr>
            </a:lvl1pPr>
          </a:lstStyle>
          <a:p>
            <a:pPr/>
            <a:r>
              <a:t>Var(cart_size)</a:t>
            </a:r>
          </a:p>
        </p:txBody>
      </p:sp>
      <p:sp>
        <p:nvSpPr>
          <p:cNvPr id="356" name="Text 11"/>
          <p:cNvSpPr txBox="1"/>
          <p:nvPr/>
        </p:nvSpPr>
        <p:spPr>
          <a:xfrm>
            <a:off x="11041260" y="7540822"/>
            <a:ext cx="6875345" cy="1189584"/>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55000"/>
              </a:lnSpc>
              <a:defRPr sz="1900">
                <a:solidFill>
                  <a:srgbClr val="3A2A22"/>
                </a:solidFill>
                <a:latin typeface="Arial"/>
                <a:ea typeface="Arial"/>
                <a:cs typeface="Arial"/>
                <a:sym typeface="Arial"/>
              </a:defRPr>
            </a:lvl1pPr>
          </a:lstStyle>
          <a:p>
            <a:pPr/>
            <a:r>
              <a:t>Mode at 3 items, right-skewed tail to 10. Treating cart size as an RV ties the descriptive picture directly to the linear model on the next slide.</a:t>
            </a:r>
          </a:p>
        </p:txBody>
      </p:sp>
      <p:sp>
        <p:nvSpPr>
          <p:cNvPr id="357" name="Text 12"/>
          <p:cNvSpPr txBox="1"/>
          <p:nvPr/>
        </p:nvSpPr>
        <p:spPr>
          <a:xfrm>
            <a:off x="16570672" y="9572625"/>
            <a:ext cx="1222029" cy="333375"/>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z="1900">
                <a:solidFill>
                  <a:srgbClr val="7D4C3D">
                    <a:alpha val="85000"/>
                  </a:srgbClr>
                </a:solidFill>
                <a:latin typeface="Arial"/>
                <a:ea typeface="Arial"/>
                <a:cs typeface="Arial"/>
                <a:sym typeface="Arial"/>
              </a:defRPr>
            </a:lvl1pPr>
          </a:lstStyle>
          <a:p>
            <a:pPr/>
            <a:r>
              <a:t>Starbucks</a:t>
            </a:r>
          </a:p>
        </p:txBody>
      </p:sp>
      <p:sp>
        <p:nvSpPr>
          <p:cNvPr id="358" name="Text 13"/>
          <p:cNvSpPr txBox="1"/>
          <p:nvPr/>
        </p:nvSpPr>
        <p:spPr>
          <a:xfrm>
            <a:off x="571500" y="9591675"/>
            <a:ext cx="1051917" cy="314325"/>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pc="300">
                <a:solidFill>
                  <a:srgbClr val="7D4C3D">
                    <a:alpha val="55000"/>
                  </a:srgbClr>
                </a:solidFill>
                <a:latin typeface="Arial"/>
                <a:ea typeface="Arial"/>
                <a:cs typeface="Arial"/>
                <a:sym typeface="Arial"/>
              </a:defRPr>
            </a:lvl1pPr>
          </a:lstStyle>
          <a:p>
            <a:pPr/>
            <a:r>
              <a:t>10 / 16</a:t>
            </a:r>
          </a:p>
        </p:txBody>
      </p:sp>
    </p:spTree>
  </p:cSld>
  <p:clrMapOvr>
    <a:masterClrMapping/>
  </p:clrMapOvr>
  <p:transition xmlns:p14="http://schemas.microsoft.com/office/powerpoint/2010/main" spd="med" advClick="1"/>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DBCBBB"/>
        </a:solidFill>
      </p:bgPr>
    </p:bg>
    <p:spTree>
      <p:nvGrpSpPr>
        <p:cNvPr id="1" name=""/>
        <p:cNvGrpSpPr/>
        <p:nvPr/>
      </p:nvGrpSpPr>
      <p:grpSpPr>
        <a:xfrm>
          <a:off x="0" y="0"/>
          <a:ext cx="0" cy="0"/>
          <a:chOff x="0" y="0"/>
          <a:chExt cx="0" cy="0"/>
        </a:xfrm>
      </p:grpSpPr>
      <p:sp>
        <p:nvSpPr>
          <p:cNvPr id="362" name="Text 0"/>
          <p:cNvSpPr txBox="1"/>
          <p:nvPr/>
        </p:nvSpPr>
        <p:spPr>
          <a:xfrm>
            <a:off x="1142999" y="1143000"/>
            <a:ext cx="8781696" cy="314325"/>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pc="300">
                <a:solidFill>
                  <a:srgbClr val="5D3527">
                    <a:alpha val="70000"/>
                  </a:srgbClr>
                </a:solidFill>
                <a:latin typeface="Arial"/>
                <a:ea typeface="Arial"/>
                <a:cs typeface="Arial"/>
                <a:sym typeface="Arial"/>
              </a:defRPr>
            </a:lvl1pPr>
          </a:lstStyle>
          <a:p>
            <a:pPr/>
            <a:r>
              <a:t>CHAPTER TEN · LINEAR ALGEBRA &amp; OPTIMIZATION</a:t>
            </a:r>
          </a:p>
        </p:txBody>
      </p:sp>
      <p:sp>
        <p:nvSpPr>
          <p:cNvPr id="363" name="Text 1"/>
          <p:cNvSpPr txBox="1"/>
          <p:nvPr/>
        </p:nvSpPr>
        <p:spPr>
          <a:xfrm>
            <a:off x="571500" y="1523999"/>
            <a:ext cx="14716125" cy="1305820"/>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04000"/>
              </a:lnSpc>
              <a:defRPr b="1" spc="-100" sz="4800">
                <a:solidFill>
                  <a:srgbClr val="5D3527"/>
                </a:solidFill>
                <a:latin typeface="Arial"/>
                <a:ea typeface="Arial"/>
                <a:cs typeface="Arial"/>
                <a:sym typeface="Arial"/>
              </a:defRPr>
            </a:lvl1pPr>
          </a:lstStyle>
          <a:p>
            <a:pPr/>
            <a:r>
              <a:t>A 3-feature model that explains 95% of spend.</a:t>
            </a:r>
          </a:p>
        </p:txBody>
      </p:sp>
      <p:sp>
        <p:nvSpPr>
          <p:cNvPr id="364" name="Shape 2"/>
          <p:cNvSpPr/>
          <p:nvPr/>
        </p:nvSpPr>
        <p:spPr>
          <a:xfrm>
            <a:off x="571500" y="2944117"/>
            <a:ext cx="762000" cy="19051"/>
          </a:xfrm>
          <a:prstGeom prst="rect">
            <a:avLst/>
          </a:prstGeom>
          <a:solidFill>
            <a:srgbClr val="7D4C3D"/>
          </a:solidFill>
          <a:ln w="12700">
            <a:miter lim="400000"/>
          </a:ln>
        </p:spPr>
        <p:txBody>
          <a:bodyPr lIns="45719" rIns="45719"/>
          <a:lstStyle/>
          <a:p>
            <a:pPr/>
          </a:p>
        </p:txBody>
      </p:sp>
      <p:sp>
        <p:nvSpPr>
          <p:cNvPr id="365" name="Text 3"/>
          <p:cNvSpPr txBox="1"/>
          <p:nvPr/>
        </p:nvSpPr>
        <p:spPr>
          <a:xfrm>
            <a:off x="571499" y="3229867"/>
            <a:ext cx="8962275" cy="346076"/>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905255">
              <a:defRPr i="1" sz="1881">
                <a:solidFill>
                  <a:srgbClr val="7D4C3D"/>
                </a:solidFill>
                <a:latin typeface="Arial"/>
                <a:ea typeface="Arial"/>
                <a:cs typeface="Arial"/>
                <a:sym typeface="Arial"/>
              </a:defRPr>
            </a:lvl1pPr>
          </a:lstStyle>
          <a:p>
            <a:pPr/>
            <a:r>
              <a:t>ŷ = β₀ + β₁·cart_size + β₂·customizations + β₃·mobile_app</a:t>
            </a:r>
          </a:p>
        </p:txBody>
      </p:sp>
      <p:sp>
        <p:nvSpPr>
          <p:cNvPr id="366" name="Shape 4"/>
          <p:cNvSpPr/>
          <p:nvPr/>
        </p:nvSpPr>
        <p:spPr>
          <a:xfrm>
            <a:off x="571500" y="3658492"/>
            <a:ext cx="8701237" cy="676276"/>
          </a:xfrm>
          <a:prstGeom prst="roundRect">
            <a:avLst>
              <a:gd name="adj" fmla="val 14085"/>
            </a:avLst>
          </a:prstGeom>
          <a:solidFill>
            <a:srgbClr val="FFFDF7">
              <a:alpha val="70000"/>
            </a:srgbClr>
          </a:solidFill>
          <a:ln w="12700">
            <a:miter lim="400000"/>
          </a:ln>
        </p:spPr>
        <p:txBody>
          <a:bodyPr lIns="45719" rIns="45719"/>
          <a:lstStyle/>
          <a:p>
            <a:pPr/>
          </a:p>
        </p:txBody>
      </p:sp>
      <p:sp>
        <p:nvSpPr>
          <p:cNvPr id="367" name="Text 5"/>
          <p:cNvSpPr txBox="1"/>
          <p:nvPr/>
        </p:nvSpPr>
        <p:spPr>
          <a:xfrm>
            <a:off x="838199" y="3848992"/>
            <a:ext cx="1471168" cy="346076"/>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905255">
              <a:defRPr sz="1881">
                <a:solidFill>
                  <a:srgbClr val="5D3527"/>
                </a:solidFill>
                <a:latin typeface="Arial"/>
                <a:ea typeface="Arial"/>
                <a:cs typeface="Arial"/>
                <a:sym typeface="Arial"/>
              </a:defRPr>
            </a:lvl1pPr>
          </a:lstStyle>
          <a:p>
            <a:pPr/>
            <a:r>
              <a:t>intercept (β₀)</a:t>
            </a:r>
          </a:p>
        </p:txBody>
      </p:sp>
      <p:sp>
        <p:nvSpPr>
          <p:cNvPr id="368" name="Shape 6"/>
          <p:cNvSpPr/>
          <p:nvPr/>
        </p:nvSpPr>
        <p:spPr>
          <a:xfrm>
            <a:off x="2461766" y="3929955"/>
            <a:ext cx="1608833" cy="133351"/>
          </a:xfrm>
          <a:prstGeom prst="roundRect">
            <a:avLst>
              <a:gd name="adj" fmla="val 50000"/>
            </a:avLst>
          </a:prstGeom>
          <a:solidFill>
            <a:srgbClr val="A48C7E">
              <a:alpha val="85000"/>
            </a:srgbClr>
          </a:solidFill>
          <a:ln w="12700">
            <a:miter lim="400000"/>
          </a:ln>
        </p:spPr>
        <p:txBody>
          <a:bodyPr lIns="45719" rIns="45719"/>
          <a:lstStyle/>
          <a:p>
            <a:pPr/>
          </a:p>
        </p:txBody>
      </p:sp>
      <p:sp>
        <p:nvSpPr>
          <p:cNvPr id="369" name="Text 7"/>
          <p:cNvSpPr txBox="1"/>
          <p:nvPr/>
        </p:nvSpPr>
        <p:spPr>
          <a:xfrm>
            <a:off x="7977336" y="3858517"/>
            <a:ext cx="1028701" cy="314326"/>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gn="r">
              <a:defRPr b="1">
                <a:solidFill>
                  <a:srgbClr val="5D3527"/>
                </a:solidFill>
                <a:latin typeface="Arial"/>
                <a:ea typeface="Arial"/>
                <a:cs typeface="Arial"/>
                <a:sym typeface="Arial"/>
              </a:defRPr>
            </a:lvl1pPr>
          </a:lstStyle>
          <a:p>
            <a:pPr/>
            <a:r>
              <a:t>+ 2.16</a:t>
            </a:r>
          </a:p>
        </p:txBody>
      </p:sp>
      <p:sp>
        <p:nvSpPr>
          <p:cNvPr id="370" name="Shape 8"/>
          <p:cNvSpPr/>
          <p:nvPr/>
        </p:nvSpPr>
        <p:spPr>
          <a:xfrm>
            <a:off x="571500" y="4468117"/>
            <a:ext cx="8701237" cy="676276"/>
          </a:xfrm>
          <a:prstGeom prst="roundRect">
            <a:avLst>
              <a:gd name="adj" fmla="val 14085"/>
            </a:avLst>
          </a:prstGeom>
          <a:solidFill>
            <a:srgbClr val="FFFDF7">
              <a:alpha val="70000"/>
            </a:srgbClr>
          </a:solidFill>
          <a:ln w="12700">
            <a:miter lim="400000"/>
          </a:ln>
        </p:spPr>
        <p:txBody>
          <a:bodyPr lIns="45719" rIns="45719"/>
          <a:lstStyle/>
          <a:p>
            <a:pPr/>
          </a:p>
        </p:txBody>
      </p:sp>
      <p:sp>
        <p:nvSpPr>
          <p:cNvPr id="371" name="Text 9"/>
          <p:cNvSpPr txBox="1"/>
          <p:nvPr/>
        </p:nvSpPr>
        <p:spPr>
          <a:xfrm>
            <a:off x="838200" y="4658617"/>
            <a:ext cx="1067246" cy="333376"/>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z="1900">
                <a:solidFill>
                  <a:srgbClr val="5D3527"/>
                </a:solidFill>
                <a:latin typeface="Arial"/>
                <a:ea typeface="Arial"/>
                <a:cs typeface="Arial"/>
                <a:sym typeface="Arial"/>
              </a:defRPr>
            </a:lvl1pPr>
          </a:lstStyle>
          <a:p>
            <a:pPr/>
            <a:r>
              <a:t>cart_size</a:t>
            </a:r>
          </a:p>
        </p:txBody>
      </p:sp>
      <p:sp>
        <p:nvSpPr>
          <p:cNvPr id="372" name="Shape 10"/>
          <p:cNvSpPr/>
          <p:nvPr/>
        </p:nvSpPr>
        <p:spPr>
          <a:xfrm>
            <a:off x="2057846" y="4739580"/>
            <a:ext cx="4784676" cy="133351"/>
          </a:xfrm>
          <a:prstGeom prst="roundRect">
            <a:avLst>
              <a:gd name="adj" fmla="val 50000"/>
            </a:avLst>
          </a:prstGeom>
          <a:solidFill>
            <a:srgbClr val="5D3527">
              <a:alpha val="85000"/>
            </a:srgbClr>
          </a:solidFill>
          <a:ln w="12700">
            <a:miter lim="400000"/>
          </a:ln>
        </p:spPr>
        <p:txBody>
          <a:bodyPr lIns="45719" rIns="45719"/>
          <a:lstStyle/>
          <a:p>
            <a:pPr/>
          </a:p>
        </p:txBody>
      </p:sp>
      <p:sp>
        <p:nvSpPr>
          <p:cNvPr id="373" name="Text 11"/>
          <p:cNvSpPr txBox="1"/>
          <p:nvPr/>
        </p:nvSpPr>
        <p:spPr>
          <a:xfrm>
            <a:off x="7526684" y="4668142"/>
            <a:ext cx="1479353" cy="314326"/>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gn="r">
              <a:defRPr b="1">
                <a:solidFill>
                  <a:srgbClr val="5D3527"/>
                </a:solidFill>
                <a:latin typeface="Arial"/>
                <a:ea typeface="Arial"/>
                <a:cs typeface="Arial"/>
                <a:sym typeface="Arial"/>
              </a:defRPr>
            </a:lvl1pPr>
          </a:lstStyle>
          <a:p>
            <a:pPr/>
            <a:r>
              <a:t>+ 2.69 / item</a:t>
            </a:r>
          </a:p>
        </p:txBody>
      </p:sp>
      <p:sp>
        <p:nvSpPr>
          <p:cNvPr id="374" name="Shape 12"/>
          <p:cNvSpPr/>
          <p:nvPr/>
        </p:nvSpPr>
        <p:spPr>
          <a:xfrm>
            <a:off x="571500" y="5277742"/>
            <a:ext cx="8701237" cy="676276"/>
          </a:xfrm>
          <a:prstGeom prst="roundRect">
            <a:avLst>
              <a:gd name="adj" fmla="val 14085"/>
            </a:avLst>
          </a:prstGeom>
          <a:solidFill>
            <a:srgbClr val="FFFDF7">
              <a:alpha val="70000"/>
            </a:srgbClr>
          </a:solidFill>
          <a:ln w="12700">
            <a:miter lim="400000"/>
          </a:ln>
        </p:spPr>
        <p:txBody>
          <a:bodyPr lIns="45719" rIns="45719"/>
          <a:lstStyle/>
          <a:p>
            <a:pPr/>
          </a:p>
        </p:txBody>
      </p:sp>
      <p:sp>
        <p:nvSpPr>
          <p:cNvPr id="375" name="Text 13"/>
          <p:cNvSpPr txBox="1"/>
          <p:nvPr/>
        </p:nvSpPr>
        <p:spPr>
          <a:xfrm>
            <a:off x="838200" y="5468242"/>
            <a:ext cx="2333625" cy="333376"/>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z="1900">
                <a:solidFill>
                  <a:srgbClr val="5D3527"/>
                </a:solidFill>
                <a:latin typeface="Arial"/>
                <a:ea typeface="Arial"/>
                <a:cs typeface="Arial"/>
                <a:sym typeface="Arial"/>
              </a:defRPr>
            </a:lvl1pPr>
          </a:lstStyle>
          <a:p>
            <a:pPr/>
            <a:r>
              <a:t>num_customizations</a:t>
            </a:r>
          </a:p>
        </p:txBody>
      </p:sp>
      <p:sp>
        <p:nvSpPr>
          <p:cNvPr id="376" name="Shape 14"/>
          <p:cNvSpPr/>
          <p:nvPr/>
        </p:nvSpPr>
        <p:spPr>
          <a:xfrm>
            <a:off x="3324225" y="5549205"/>
            <a:ext cx="1414463" cy="133351"/>
          </a:xfrm>
          <a:prstGeom prst="roundRect">
            <a:avLst>
              <a:gd name="adj" fmla="val 50000"/>
            </a:avLst>
          </a:prstGeom>
          <a:solidFill>
            <a:srgbClr val="7D4C3D">
              <a:alpha val="85000"/>
            </a:srgbClr>
          </a:solidFill>
          <a:ln w="12700">
            <a:miter lim="400000"/>
          </a:ln>
        </p:spPr>
        <p:txBody>
          <a:bodyPr lIns="45719" rIns="45719"/>
          <a:lstStyle/>
          <a:p>
            <a:pPr/>
          </a:p>
        </p:txBody>
      </p:sp>
      <p:sp>
        <p:nvSpPr>
          <p:cNvPr id="377" name="Text 15"/>
          <p:cNvSpPr txBox="1"/>
          <p:nvPr/>
        </p:nvSpPr>
        <p:spPr>
          <a:xfrm>
            <a:off x="7518202" y="5477767"/>
            <a:ext cx="1487836" cy="314326"/>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gn="r">
              <a:defRPr b="1">
                <a:solidFill>
                  <a:srgbClr val="5D3527"/>
                </a:solidFill>
                <a:latin typeface="Arial"/>
                <a:ea typeface="Arial"/>
                <a:cs typeface="Arial"/>
                <a:sym typeface="Arial"/>
              </a:defRPr>
            </a:lvl1pPr>
          </a:lstStyle>
          <a:p>
            <a:pPr/>
            <a:r>
              <a:t>+ 0.92 / mod</a:t>
            </a:r>
          </a:p>
        </p:txBody>
      </p:sp>
      <p:sp>
        <p:nvSpPr>
          <p:cNvPr id="378" name="Shape 16"/>
          <p:cNvSpPr/>
          <p:nvPr/>
        </p:nvSpPr>
        <p:spPr>
          <a:xfrm>
            <a:off x="571500" y="6087367"/>
            <a:ext cx="8701237" cy="676276"/>
          </a:xfrm>
          <a:prstGeom prst="roundRect">
            <a:avLst>
              <a:gd name="adj" fmla="val 14085"/>
            </a:avLst>
          </a:prstGeom>
          <a:solidFill>
            <a:srgbClr val="FFFDF7">
              <a:alpha val="70000"/>
            </a:srgbClr>
          </a:solidFill>
          <a:ln w="12700">
            <a:miter lim="400000"/>
          </a:ln>
        </p:spPr>
        <p:txBody>
          <a:bodyPr lIns="45719" rIns="45719"/>
          <a:lstStyle/>
          <a:p>
            <a:pPr/>
          </a:p>
        </p:txBody>
      </p:sp>
      <p:sp>
        <p:nvSpPr>
          <p:cNvPr id="379" name="Text 17"/>
          <p:cNvSpPr txBox="1"/>
          <p:nvPr/>
        </p:nvSpPr>
        <p:spPr>
          <a:xfrm>
            <a:off x="838200" y="6277867"/>
            <a:ext cx="1356717" cy="333376"/>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z="1900">
                <a:solidFill>
                  <a:srgbClr val="5D3527"/>
                </a:solidFill>
                <a:latin typeface="Arial"/>
                <a:ea typeface="Arial"/>
                <a:cs typeface="Arial"/>
                <a:sym typeface="Arial"/>
              </a:defRPr>
            </a:lvl1pPr>
          </a:lstStyle>
          <a:p>
            <a:pPr/>
            <a:r>
              <a:t>mobile_app</a:t>
            </a:r>
          </a:p>
        </p:txBody>
      </p:sp>
      <p:sp>
        <p:nvSpPr>
          <p:cNvPr id="380" name="Shape 18"/>
          <p:cNvSpPr/>
          <p:nvPr/>
        </p:nvSpPr>
        <p:spPr>
          <a:xfrm>
            <a:off x="2347316" y="6358830"/>
            <a:ext cx="4272410" cy="133351"/>
          </a:xfrm>
          <a:prstGeom prst="roundRect">
            <a:avLst>
              <a:gd name="adj" fmla="val 50000"/>
            </a:avLst>
          </a:prstGeom>
          <a:solidFill>
            <a:srgbClr val="1E5631">
              <a:alpha val="85000"/>
            </a:srgbClr>
          </a:solidFill>
          <a:ln w="12700">
            <a:miter lim="400000"/>
          </a:ln>
        </p:spPr>
        <p:txBody>
          <a:bodyPr lIns="45719" rIns="45719"/>
          <a:lstStyle/>
          <a:p>
            <a:pPr/>
          </a:p>
        </p:txBody>
      </p:sp>
      <p:sp>
        <p:nvSpPr>
          <p:cNvPr id="381" name="Text 19"/>
          <p:cNvSpPr txBox="1"/>
          <p:nvPr/>
        </p:nvSpPr>
        <p:spPr>
          <a:xfrm>
            <a:off x="7977336" y="6287392"/>
            <a:ext cx="1028701" cy="314326"/>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gn="r">
              <a:defRPr b="1">
                <a:solidFill>
                  <a:srgbClr val="5D3527"/>
                </a:solidFill>
                <a:latin typeface="Arial"/>
                <a:ea typeface="Arial"/>
                <a:cs typeface="Arial"/>
                <a:sym typeface="Arial"/>
              </a:defRPr>
            </a:lvl1pPr>
          </a:lstStyle>
          <a:p>
            <a:pPr/>
            <a:r>
              <a:t>+ 2.33</a:t>
            </a:r>
          </a:p>
        </p:txBody>
      </p:sp>
      <p:sp>
        <p:nvSpPr>
          <p:cNvPr id="382" name="Shape 20"/>
          <p:cNvSpPr/>
          <p:nvPr/>
        </p:nvSpPr>
        <p:spPr>
          <a:xfrm>
            <a:off x="571500" y="6973192"/>
            <a:ext cx="8701237" cy="1710632"/>
          </a:xfrm>
          <a:prstGeom prst="roundRect">
            <a:avLst>
              <a:gd name="adj" fmla="val 7795"/>
            </a:avLst>
          </a:prstGeom>
          <a:solidFill>
            <a:srgbClr val="5D3527"/>
          </a:solidFill>
          <a:ln w="12700">
            <a:miter lim="400000"/>
          </a:ln>
        </p:spPr>
        <p:txBody>
          <a:bodyPr lIns="45719" rIns="45719"/>
          <a:lstStyle/>
          <a:p>
            <a:pPr/>
          </a:p>
        </p:txBody>
      </p:sp>
      <p:sp>
        <p:nvSpPr>
          <p:cNvPr id="383" name="Text 21"/>
          <p:cNvSpPr txBox="1"/>
          <p:nvPr/>
        </p:nvSpPr>
        <p:spPr>
          <a:xfrm>
            <a:off x="923925" y="7287517"/>
            <a:ext cx="8236278" cy="6477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04672">
              <a:defRPr spc="-88" sz="4224">
                <a:solidFill>
                  <a:srgbClr val="FAF8ED"/>
                </a:solidFill>
                <a:latin typeface="Arial"/>
                <a:ea typeface="Arial"/>
                <a:cs typeface="Arial"/>
                <a:sym typeface="Arial"/>
              </a:defRPr>
            </a:lvl1pPr>
          </a:lstStyle>
          <a:p>
            <a:pPr/>
            <a:r>
              <a:t>R² = 0.9505</a:t>
            </a:r>
          </a:p>
        </p:txBody>
      </p:sp>
      <p:sp>
        <p:nvSpPr>
          <p:cNvPr id="384" name="Text 22"/>
          <p:cNvSpPr txBox="1"/>
          <p:nvPr/>
        </p:nvSpPr>
        <p:spPr>
          <a:xfrm>
            <a:off x="923925" y="8049517"/>
            <a:ext cx="8236278" cy="35808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40000"/>
              </a:lnSpc>
              <a:defRPr>
                <a:solidFill>
                  <a:srgbClr val="E8DCCB"/>
                </a:solidFill>
                <a:latin typeface="Arial"/>
                <a:ea typeface="Arial"/>
                <a:cs typeface="Arial"/>
                <a:sym typeface="Arial"/>
              </a:defRPr>
            </a:lvl1pPr>
          </a:lstStyle>
          <a:p>
            <a:pPr/>
            <a:r>
              <a:t>95% of variance in total_spend explained</a:t>
            </a:r>
          </a:p>
        </p:txBody>
      </p:sp>
      <p:sp>
        <p:nvSpPr>
          <p:cNvPr id="385" name="Shape 23"/>
          <p:cNvSpPr/>
          <p:nvPr/>
        </p:nvSpPr>
        <p:spPr>
          <a:xfrm>
            <a:off x="9806136" y="3229867"/>
            <a:ext cx="7910364" cy="5810251"/>
          </a:xfrm>
          <a:prstGeom prst="roundRect">
            <a:avLst>
              <a:gd name="adj" fmla="val 2295"/>
            </a:avLst>
          </a:prstGeom>
          <a:solidFill>
            <a:srgbClr val="FAF8ED"/>
          </a:solidFill>
          <a:ln>
            <a:solidFill>
              <a:srgbClr val="7D4C3D">
                <a:alpha val="18000"/>
              </a:srgbClr>
            </a:solidFill>
          </a:ln>
          <a:effectLst>
            <a:outerShdw sx="100000" sy="100000" kx="0" ky="0" algn="b" rotWithShape="0" blurRad="228600" dist="76200" dir="5400000">
              <a:srgbClr val="7D4C3D">
                <a:alpha val="8000"/>
              </a:srgbClr>
            </a:outerShdw>
          </a:effectLst>
        </p:spPr>
        <p:txBody>
          <a:bodyPr lIns="45719" rIns="45719"/>
          <a:lstStyle/>
          <a:p>
            <a:pPr/>
          </a:p>
        </p:txBody>
      </p:sp>
      <p:pic>
        <p:nvPicPr>
          <p:cNvPr id="386" name="Image 0" descr="Image 0"/>
          <p:cNvPicPr>
            <a:picLocks noChangeAspect="1"/>
          </p:cNvPicPr>
          <p:nvPr/>
        </p:nvPicPr>
        <p:blipFill>
          <a:blip r:embed="rId3">
            <a:extLst/>
          </a:blip>
          <a:stretch>
            <a:fillRect/>
          </a:stretch>
        </p:blipFill>
        <p:spPr>
          <a:xfrm>
            <a:off x="10044261" y="3467992"/>
            <a:ext cx="7434114" cy="5334001"/>
          </a:xfrm>
          <a:prstGeom prst="rect">
            <a:avLst/>
          </a:prstGeom>
          <a:ln w="12700">
            <a:miter lim="400000"/>
          </a:ln>
        </p:spPr>
      </p:pic>
      <p:sp>
        <p:nvSpPr>
          <p:cNvPr id="387" name="Text 24"/>
          <p:cNvSpPr txBox="1"/>
          <p:nvPr/>
        </p:nvSpPr>
        <p:spPr>
          <a:xfrm>
            <a:off x="397114" y="9151590"/>
            <a:ext cx="16482062" cy="314326"/>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i="1">
                <a:solidFill>
                  <a:srgbClr val="7D4C3D"/>
                </a:solidFill>
                <a:latin typeface="Arial"/>
                <a:ea typeface="Arial"/>
                <a:cs typeface="Arial"/>
                <a:sym typeface="Arial"/>
              </a:defRPr>
            </a:lvl1pPr>
          </a:lstStyle>
          <a:p>
            <a:pPr/>
            <a:r>
              <a:t>Solved two ways - closed-form via the normal equations, iteratively via gradient descent. Both converge to the same coefficients.</a:t>
            </a:r>
          </a:p>
        </p:txBody>
      </p:sp>
      <p:sp>
        <p:nvSpPr>
          <p:cNvPr id="388" name="Text 25"/>
          <p:cNvSpPr txBox="1"/>
          <p:nvPr/>
        </p:nvSpPr>
        <p:spPr>
          <a:xfrm>
            <a:off x="16570672" y="9572625"/>
            <a:ext cx="1222029" cy="333375"/>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z="1900">
                <a:solidFill>
                  <a:srgbClr val="5D3527">
                    <a:alpha val="85000"/>
                  </a:srgbClr>
                </a:solidFill>
                <a:latin typeface="Arial"/>
                <a:ea typeface="Arial"/>
                <a:cs typeface="Arial"/>
                <a:sym typeface="Arial"/>
              </a:defRPr>
            </a:lvl1pPr>
          </a:lstStyle>
          <a:p>
            <a:pPr/>
            <a:r>
              <a:t>Starbucks</a:t>
            </a:r>
          </a:p>
        </p:txBody>
      </p:sp>
      <p:sp>
        <p:nvSpPr>
          <p:cNvPr id="389" name="Text 26"/>
          <p:cNvSpPr txBox="1"/>
          <p:nvPr/>
        </p:nvSpPr>
        <p:spPr>
          <a:xfrm>
            <a:off x="571499" y="9591675"/>
            <a:ext cx="999234" cy="314325"/>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pc="300">
                <a:solidFill>
                  <a:srgbClr val="7D4C3D">
                    <a:alpha val="55000"/>
                  </a:srgbClr>
                </a:solidFill>
                <a:latin typeface="Arial"/>
                <a:ea typeface="Arial"/>
                <a:cs typeface="Arial"/>
                <a:sym typeface="Arial"/>
              </a:defRPr>
            </a:lvl1pPr>
          </a:lstStyle>
          <a:p>
            <a:pPr/>
            <a:r>
              <a:t>11 / 16</a:t>
            </a:r>
          </a:p>
        </p:txBody>
      </p:sp>
    </p:spTree>
  </p:cSld>
  <p:clrMapOvr>
    <a:masterClrMapping/>
  </p:clrMapOvr>
  <p:transition xmlns:p14="http://schemas.microsoft.com/office/powerpoint/2010/main" spd="med" advClick="1"/>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AF8ED"/>
        </a:solidFill>
      </p:bgPr>
    </p:bg>
    <p:spTree>
      <p:nvGrpSpPr>
        <p:cNvPr id="1" name=""/>
        <p:cNvGrpSpPr/>
        <p:nvPr/>
      </p:nvGrpSpPr>
      <p:grpSpPr>
        <a:xfrm>
          <a:off x="0" y="0"/>
          <a:ext cx="0" cy="0"/>
          <a:chOff x="0" y="0"/>
          <a:chExt cx="0" cy="0"/>
        </a:xfrm>
      </p:grpSpPr>
      <p:sp>
        <p:nvSpPr>
          <p:cNvPr id="393" name="Text 0"/>
          <p:cNvSpPr txBox="1"/>
          <p:nvPr/>
        </p:nvSpPr>
        <p:spPr>
          <a:xfrm>
            <a:off x="1142999" y="1143000"/>
            <a:ext cx="8314613" cy="314325"/>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pc="300">
                <a:solidFill>
                  <a:srgbClr val="7D4C3D">
                    <a:alpha val="70000"/>
                  </a:srgbClr>
                </a:solidFill>
                <a:latin typeface="Arial"/>
                <a:ea typeface="Arial"/>
                <a:cs typeface="Arial"/>
                <a:sym typeface="Arial"/>
              </a:defRPr>
            </a:lvl1pPr>
          </a:lstStyle>
          <a:p>
            <a:pPr/>
            <a:r>
              <a:t>CHAPTER ELEVEN · BUSINESS INTERPRETATION</a:t>
            </a:r>
          </a:p>
        </p:txBody>
      </p:sp>
      <p:sp>
        <p:nvSpPr>
          <p:cNvPr id="394" name="Text 1"/>
          <p:cNvSpPr txBox="1"/>
          <p:nvPr/>
        </p:nvSpPr>
        <p:spPr>
          <a:xfrm>
            <a:off x="571500" y="1523999"/>
            <a:ext cx="14716125" cy="1305820"/>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04000"/>
              </a:lnSpc>
              <a:defRPr b="1" spc="-100" sz="4800">
                <a:solidFill>
                  <a:srgbClr val="5D3527"/>
                </a:solidFill>
                <a:latin typeface="Arial"/>
                <a:ea typeface="Arial"/>
                <a:cs typeface="Arial"/>
                <a:sym typeface="Arial"/>
              </a:defRPr>
            </a:lvl1pPr>
          </a:lstStyle>
          <a:p>
            <a:pPr/>
            <a:r>
              <a:t>From coefficients to revenue levers.</a:t>
            </a:r>
          </a:p>
        </p:txBody>
      </p:sp>
      <p:sp>
        <p:nvSpPr>
          <p:cNvPr id="395" name="Shape 2"/>
          <p:cNvSpPr/>
          <p:nvPr/>
        </p:nvSpPr>
        <p:spPr>
          <a:xfrm>
            <a:off x="571500" y="2944117"/>
            <a:ext cx="762000" cy="19051"/>
          </a:xfrm>
          <a:prstGeom prst="rect">
            <a:avLst/>
          </a:prstGeom>
          <a:solidFill>
            <a:srgbClr val="7D4C3D"/>
          </a:solidFill>
          <a:ln w="12700">
            <a:miter lim="400000"/>
          </a:ln>
        </p:spPr>
        <p:txBody>
          <a:bodyPr lIns="45719" rIns="45719"/>
          <a:lstStyle/>
          <a:p>
            <a:pPr/>
          </a:p>
        </p:txBody>
      </p:sp>
      <p:sp>
        <p:nvSpPr>
          <p:cNvPr id="396" name="Shape 3"/>
          <p:cNvSpPr/>
          <p:nvPr/>
        </p:nvSpPr>
        <p:spPr>
          <a:xfrm>
            <a:off x="571500" y="3306067"/>
            <a:ext cx="8382000" cy="2786957"/>
          </a:xfrm>
          <a:prstGeom prst="roundRect">
            <a:avLst>
              <a:gd name="adj" fmla="val 4785"/>
            </a:avLst>
          </a:prstGeom>
          <a:solidFill>
            <a:srgbClr val="5D3527"/>
          </a:solidFill>
          <a:ln w="12700">
            <a:miter lim="400000"/>
          </a:ln>
        </p:spPr>
        <p:txBody>
          <a:bodyPr lIns="45719" rIns="45719"/>
          <a:lstStyle/>
          <a:p>
            <a:pPr/>
          </a:p>
        </p:txBody>
      </p:sp>
      <p:sp>
        <p:nvSpPr>
          <p:cNvPr id="397" name="Text 4"/>
          <p:cNvSpPr txBox="1"/>
          <p:nvPr/>
        </p:nvSpPr>
        <p:spPr>
          <a:xfrm>
            <a:off x="962025" y="3696592"/>
            <a:ext cx="7828978" cy="958156"/>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04999"/>
              </a:lnSpc>
              <a:defRPr sz="3400">
                <a:solidFill>
                  <a:srgbClr val="FAF8ED"/>
                </a:solidFill>
                <a:latin typeface="Arial"/>
                <a:ea typeface="Arial"/>
                <a:cs typeface="Arial"/>
                <a:sym typeface="Arial"/>
              </a:defRPr>
            </a:lvl1pPr>
          </a:lstStyle>
          <a:p>
            <a:pPr/>
            <a:r>
              <a:t>Mobile App is the largest lever.</a:t>
            </a:r>
          </a:p>
        </p:txBody>
      </p:sp>
      <p:sp>
        <p:nvSpPr>
          <p:cNvPr id="398" name="Text 5"/>
          <p:cNvSpPr txBox="1"/>
          <p:nvPr/>
        </p:nvSpPr>
        <p:spPr>
          <a:xfrm>
            <a:off x="962025" y="4788098"/>
            <a:ext cx="7828978" cy="7239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50000"/>
              </a:lnSpc>
              <a:defRPr>
                <a:solidFill>
                  <a:srgbClr val="E8DCCB"/>
                </a:solidFill>
                <a:latin typeface="Arial"/>
                <a:ea typeface="Arial"/>
                <a:cs typeface="Arial"/>
                <a:sym typeface="Arial"/>
              </a:defRPr>
            </a:lvl1pPr>
          </a:lstStyle>
          <a:p>
            <a:pPr/>
            <a:r>
              <a:t>+$5.58 vs every other channel. 93.85% of high-spender orders come through Mobile.</a:t>
            </a:r>
          </a:p>
        </p:txBody>
      </p:sp>
      <p:sp>
        <p:nvSpPr>
          <p:cNvPr id="399" name="Shape 6"/>
          <p:cNvSpPr/>
          <p:nvPr/>
        </p:nvSpPr>
        <p:spPr>
          <a:xfrm>
            <a:off x="9334500" y="3306067"/>
            <a:ext cx="8382000" cy="2786957"/>
          </a:xfrm>
          <a:prstGeom prst="roundRect">
            <a:avLst>
              <a:gd name="adj" fmla="val 4785"/>
            </a:avLst>
          </a:prstGeom>
          <a:solidFill>
            <a:srgbClr val="1E5631"/>
          </a:solidFill>
          <a:ln w="12700">
            <a:miter lim="400000"/>
          </a:ln>
        </p:spPr>
        <p:txBody>
          <a:bodyPr lIns="45719" rIns="45719"/>
          <a:lstStyle/>
          <a:p>
            <a:pPr/>
          </a:p>
        </p:txBody>
      </p:sp>
      <p:sp>
        <p:nvSpPr>
          <p:cNvPr id="400" name="Text 7"/>
          <p:cNvSpPr txBox="1"/>
          <p:nvPr/>
        </p:nvSpPr>
        <p:spPr>
          <a:xfrm>
            <a:off x="9725025" y="3696592"/>
            <a:ext cx="7828978" cy="958156"/>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04999"/>
              </a:lnSpc>
              <a:defRPr sz="3400">
                <a:solidFill>
                  <a:srgbClr val="FAF8ED"/>
                </a:solidFill>
                <a:latin typeface="Arial"/>
                <a:ea typeface="Arial"/>
                <a:cs typeface="Arial"/>
                <a:sym typeface="Arial"/>
              </a:defRPr>
            </a:lvl1pPr>
          </a:lstStyle>
          <a:p>
            <a:pPr/>
            <a:r>
              <a:t>Cart size is the strongest predictor.</a:t>
            </a:r>
          </a:p>
        </p:txBody>
      </p:sp>
      <p:sp>
        <p:nvSpPr>
          <p:cNvPr id="401" name="Text 8"/>
          <p:cNvSpPr txBox="1"/>
          <p:nvPr/>
        </p:nvSpPr>
        <p:spPr>
          <a:xfrm>
            <a:off x="9725025" y="4788098"/>
            <a:ext cx="7828978" cy="3810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50000"/>
              </a:lnSpc>
              <a:defRPr>
                <a:solidFill>
                  <a:srgbClr val="FAF8ED">
                    <a:alpha val="85000"/>
                  </a:srgbClr>
                </a:solidFill>
                <a:latin typeface="Arial"/>
                <a:ea typeface="Arial"/>
                <a:cs typeface="Arial"/>
                <a:sym typeface="Arial"/>
              </a:defRPr>
            </a:lvl1pPr>
          </a:lstStyle>
          <a:p>
            <a:pPr/>
            <a:r>
              <a:t>r = 0.900 with spend. Each extra item adds $2.69 in the linear model.</a:t>
            </a:r>
          </a:p>
        </p:txBody>
      </p:sp>
      <p:sp>
        <p:nvSpPr>
          <p:cNvPr id="402" name="Shape 9"/>
          <p:cNvSpPr/>
          <p:nvPr/>
        </p:nvSpPr>
        <p:spPr>
          <a:xfrm>
            <a:off x="571500" y="6474023"/>
            <a:ext cx="8382000" cy="2786956"/>
          </a:xfrm>
          <a:prstGeom prst="roundRect">
            <a:avLst>
              <a:gd name="adj" fmla="val 4785"/>
            </a:avLst>
          </a:prstGeom>
          <a:solidFill>
            <a:srgbClr val="E8DCCB"/>
          </a:solidFill>
          <a:ln>
            <a:solidFill>
              <a:srgbClr val="7D4C3D">
                <a:alpha val="18000"/>
              </a:srgbClr>
            </a:solidFill>
          </a:ln>
        </p:spPr>
        <p:txBody>
          <a:bodyPr lIns="45719" rIns="45719"/>
          <a:lstStyle/>
          <a:p>
            <a:pPr/>
          </a:p>
        </p:txBody>
      </p:sp>
      <p:sp>
        <p:nvSpPr>
          <p:cNvPr id="403" name="Text 10"/>
          <p:cNvSpPr txBox="1"/>
          <p:nvPr/>
        </p:nvSpPr>
        <p:spPr>
          <a:xfrm>
            <a:off x="962025" y="6864547"/>
            <a:ext cx="7828978" cy="958156"/>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04999"/>
              </a:lnSpc>
              <a:defRPr sz="3400">
                <a:solidFill>
                  <a:srgbClr val="5D3527"/>
                </a:solidFill>
                <a:latin typeface="Arial"/>
                <a:ea typeface="Arial"/>
                <a:cs typeface="Arial"/>
                <a:sym typeface="Arial"/>
              </a:defRPr>
            </a:lvl1pPr>
          </a:lstStyle>
          <a:p>
            <a:pPr/>
            <a:r>
              <a:t>Rewards is smaller but real.</a:t>
            </a:r>
          </a:p>
        </p:txBody>
      </p:sp>
      <p:sp>
        <p:nvSpPr>
          <p:cNvPr id="404" name="Text 11"/>
          <p:cNvSpPr txBox="1"/>
          <p:nvPr/>
        </p:nvSpPr>
        <p:spPr>
          <a:xfrm>
            <a:off x="962025" y="7956053"/>
            <a:ext cx="7828978" cy="7239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50000"/>
              </a:lnSpc>
              <a:defRPr>
                <a:solidFill>
                  <a:srgbClr val="7D4C3D"/>
                </a:solidFill>
                <a:latin typeface="Arial"/>
                <a:ea typeface="Arial"/>
                <a:cs typeface="Arial"/>
                <a:sym typeface="Arial"/>
              </a:defRPr>
            </a:lvl1pPr>
          </a:lstStyle>
          <a:p>
            <a:pPr/>
            <a:r>
              <a:t>+$1.63 per order, statistically significant. Rewards members are 62.74% of high spenders.</a:t>
            </a:r>
          </a:p>
        </p:txBody>
      </p:sp>
      <p:sp>
        <p:nvSpPr>
          <p:cNvPr id="405" name="Shape 12"/>
          <p:cNvSpPr/>
          <p:nvPr/>
        </p:nvSpPr>
        <p:spPr>
          <a:xfrm>
            <a:off x="9334500" y="6474023"/>
            <a:ext cx="8382000" cy="2786956"/>
          </a:xfrm>
          <a:prstGeom prst="roundRect">
            <a:avLst>
              <a:gd name="adj" fmla="val 4785"/>
            </a:avLst>
          </a:prstGeom>
          <a:solidFill>
            <a:srgbClr val="E8DCCB"/>
          </a:solidFill>
          <a:ln>
            <a:solidFill>
              <a:srgbClr val="7D4C3D">
                <a:alpha val="18000"/>
              </a:srgbClr>
            </a:solidFill>
          </a:ln>
        </p:spPr>
        <p:txBody>
          <a:bodyPr lIns="45719" rIns="45719"/>
          <a:lstStyle/>
          <a:p>
            <a:pPr/>
          </a:p>
        </p:txBody>
      </p:sp>
      <p:sp>
        <p:nvSpPr>
          <p:cNvPr id="406" name="Text 13"/>
          <p:cNvSpPr txBox="1"/>
          <p:nvPr/>
        </p:nvSpPr>
        <p:spPr>
          <a:xfrm>
            <a:off x="9725025" y="6864547"/>
            <a:ext cx="7828978" cy="958156"/>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77823">
              <a:lnSpc>
                <a:spcPct val="104999"/>
              </a:lnSpc>
              <a:defRPr sz="3264">
                <a:solidFill>
                  <a:srgbClr val="5D3527"/>
                </a:solidFill>
                <a:latin typeface="Arial"/>
                <a:ea typeface="Arial"/>
                <a:cs typeface="Arial"/>
                <a:sym typeface="Arial"/>
              </a:defRPr>
            </a:lvl1pPr>
          </a:lstStyle>
          <a:p>
            <a:pPr/>
            <a:r>
              <a:t>High spenders are a Mobile phenomenon.</a:t>
            </a:r>
          </a:p>
        </p:txBody>
      </p:sp>
      <p:sp>
        <p:nvSpPr>
          <p:cNvPr id="407" name="Text 14"/>
          <p:cNvSpPr txBox="1"/>
          <p:nvPr/>
        </p:nvSpPr>
        <p:spPr>
          <a:xfrm>
            <a:off x="9725025" y="7956053"/>
            <a:ext cx="7828978" cy="3810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50000"/>
              </a:lnSpc>
              <a:defRPr>
                <a:solidFill>
                  <a:srgbClr val="7D4C3D"/>
                </a:solidFill>
                <a:latin typeface="Arial"/>
                <a:ea typeface="Arial"/>
                <a:cs typeface="Arial"/>
                <a:sym typeface="Arial"/>
              </a:defRPr>
            </a:lvl1pPr>
          </a:lstStyle>
          <a:p>
            <a:pPr/>
            <a:r>
              <a:t>Channel mix - not just menu - is what unlocks above-$25 orders.</a:t>
            </a:r>
          </a:p>
        </p:txBody>
      </p:sp>
      <p:sp>
        <p:nvSpPr>
          <p:cNvPr id="408" name="Text 15"/>
          <p:cNvSpPr txBox="1"/>
          <p:nvPr/>
        </p:nvSpPr>
        <p:spPr>
          <a:xfrm>
            <a:off x="16570672" y="9572625"/>
            <a:ext cx="1222029" cy="333375"/>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z="1900">
                <a:solidFill>
                  <a:srgbClr val="7D4C3D">
                    <a:alpha val="85000"/>
                  </a:srgbClr>
                </a:solidFill>
                <a:latin typeface="Arial"/>
                <a:ea typeface="Arial"/>
                <a:cs typeface="Arial"/>
                <a:sym typeface="Arial"/>
              </a:defRPr>
            </a:lvl1pPr>
          </a:lstStyle>
          <a:p>
            <a:pPr/>
            <a:r>
              <a:t>Starbucks</a:t>
            </a:r>
          </a:p>
        </p:txBody>
      </p:sp>
      <p:sp>
        <p:nvSpPr>
          <p:cNvPr id="409" name="Text 16"/>
          <p:cNvSpPr txBox="1"/>
          <p:nvPr/>
        </p:nvSpPr>
        <p:spPr>
          <a:xfrm>
            <a:off x="571499" y="9591675"/>
            <a:ext cx="1045222" cy="314325"/>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pc="300">
                <a:solidFill>
                  <a:srgbClr val="7D4C3D">
                    <a:alpha val="55000"/>
                  </a:srgbClr>
                </a:solidFill>
                <a:latin typeface="Arial"/>
                <a:ea typeface="Arial"/>
                <a:cs typeface="Arial"/>
                <a:sym typeface="Arial"/>
              </a:defRPr>
            </a:lvl1pPr>
          </a:lstStyle>
          <a:p>
            <a:pPr/>
            <a:r>
              <a:t>12 / 16</a:t>
            </a:r>
          </a:p>
        </p:txBody>
      </p:sp>
    </p:spTree>
  </p:cSld>
  <p:clrMapOvr>
    <a:masterClrMapping/>
  </p:clrMapOvr>
  <p:transition xmlns:p14="http://schemas.microsoft.com/office/powerpoint/2010/main" spd="med" advClick="1"/>
</p:sld>
</file>

<file path=ppt/slides/slide1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AF8ED"/>
        </a:solidFill>
      </p:bgPr>
    </p:bg>
    <p:spTree>
      <p:nvGrpSpPr>
        <p:cNvPr id="1" name=""/>
        <p:cNvGrpSpPr/>
        <p:nvPr/>
      </p:nvGrpSpPr>
      <p:grpSpPr>
        <a:xfrm>
          <a:off x="0" y="0"/>
          <a:ext cx="0" cy="0"/>
          <a:chOff x="0" y="0"/>
          <a:chExt cx="0" cy="0"/>
        </a:xfrm>
      </p:grpSpPr>
      <p:sp>
        <p:nvSpPr>
          <p:cNvPr id="413" name="Text 0"/>
          <p:cNvSpPr txBox="1"/>
          <p:nvPr/>
        </p:nvSpPr>
        <p:spPr>
          <a:xfrm>
            <a:off x="1143000" y="1143000"/>
            <a:ext cx="6083278" cy="314325"/>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pc="300">
                <a:solidFill>
                  <a:srgbClr val="7D4C3D">
                    <a:alpha val="70000"/>
                  </a:srgbClr>
                </a:solidFill>
                <a:latin typeface="Arial"/>
                <a:ea typeface="Arial"/>
                <a:cs typeface="Arial"/>
                <a:sym typeface="Arial"/>
              </a:defRPr>
            </a:lvl1pPr>
          </a:lstStyle>
          <a:p>
            <a:pPr/>
            <a:r>
              <a:t>CHAPTER TWELVE · DEPLOYMENT</a:t>
            </a:r>
          </a:p>
        </p:txBody>
      </p:sp>
      <p:sp>
        <p:nvSpPr>
          <p:cNvPr id="414" name="Text 1"/>
          <p:cNvSpPr txBox="1"/>
          <p:nvPr/>
        </p:nvSpPr>
        <p:spPr>
          <a:xfrm>
            <a:off x="571500" y="1523999"/>
            <a:ext cx="14716125" cy="67196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50391">
              <a:lnSpc>
                <a:spcPct val="104000"/>
              </a:lnSpc>
              <a:defRPr b="1" spc="-93" sz="4464">
                <a:solidFill>
                  <a:srgbClr val="5D3527"/>
                </a:solidFill>
                <a:latin typeface="Arial"/>
                <a:ea typeface="Arial"/>
                <a:cs typeface="Arial"/>
                <a:sym typeface="Arial"/>
              </a:defRPr>
            </a:lvl1pPr>
          </a:lstStyle>
          <a:p>
            <a:pPr/>
            <a:r>
              <a:t>From notebook to production.</a:t>
            </a:r>
          </a:p>
        </p:txBody>
      </p:sp>
      <p:sp>
        <p:nvSpPr>
          <p:cNvPr id="415" name="Shape 2"/>
          <p:cNvSpPr/>
          <p:nvPr/>
        </p:nvSpPr>
        <p:spPr>
          <a:xfrm>
            <a:off x="571500" y="2310258"/>
            <a:ext cx="762000" cy="19051"/>
          </a:xfrm>
          <a:prstGeom prst="rect">
            <a:avLst/>
          </a:prstGeom>
          <a:solidFill>
            <a:srgbClr val="7D4C3D"/>
          </a:solidFill>
          <a:ln w="12700">
            <a:miter lim="400000"/>
          </a:ln>
        </p:spPr>
        <p:txBody>
          <a:bodyPr lIns="45719" rIns="45719"/>
          <a:lstStyle/>
          <a:p>
            <a:pPr/>
          </a:p>
        </p:txBody>
      </p:sp>
      <p:sp>
        <p:nvSpPr>
          <p:cNvPr id="416" name="Shape 3"/>
          <p:cNvSpPr/>
          <p:nvPr/>
        </p:nvSpPr>
        <p:spPr>
          <a:xfrm>
            <a:off x="571500" y="2786508"/>
            <a:ext cx="4086225" cy="2699298"/>
          </a:xfrm>
          <a:prstGeom prst="roundRect">
            <a:avLst>
              <a:gd name="adj" fmla="val 4940"/>
            </a:avLst>
          </a:prstGeom>
          <a:solidFill>
            <a:srgbClr val="E8DCCB"/>
          </a:solidFill>
          <a:ln>
            <a:solidFill>
              <a:srgbClr val="7D4C3D">
                <a:alpha val="18000"/>
              </a:srgbClr>
            </a:solidFill>
          </a:ln>
        </p:spPr>
        <p:txBody>
          <a:bodyPr lIns="45719" rIns="45719"/>
          <a:lstStyle/>
          <a:p>
            <a:pPr/>
          </a:p>
        </p:txBody>
      </p:sp>
      <p:sp>
        <p:nvSpPr>
          <p:cNvPr id="417" name="Text 4"/>
          <p:cNvSpPr txBox="1"/>
          <p:nvPr/>
        </p:nvSpPr>
        <p:spPr>
          <a:xfrm>
            <a:off x="885824" y="3100833"/>
            <a:ext cx="3561304" cy="399605"/>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96111">
              <a:defRPr sz="2352">
                <a:solidFill>
                  <a:srgbClr val="5D3527"/>
                </a:solidFill>
                <a:latin typeface="Arial"/>
                <a:ea typeface="Arial"/>
                <a:cs typeface="Arial"/>
                <a:sym typeface="Arial"/>
              </a:defRPr>
            </a:lvl1pPr>
          </a:lstStyle>
          <a:p>
            <a:pPr/>
            <a:r>
              <a:t>01</a:t>
            </a:r>
          </a:p>
        </p:txBody>
      </p:sp>
      <p:sp>
        <p:nvSpPr>
          <p:cNvPr id="418" name="Text 5"/>
          <p:cNvSpPr txBox="1"/>
          <p:nvPr/>
        </p:nvSpPr>
        <p:spPr>
          <a:xfrm>
            <a:off x="885824" y="3510408"/>
            <a:ext cx="3561304" cy="35005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86968">
              <a:defRPr sz="2037">
                <a:solidFill>
                  <a:srgbClr val="5D3527"/>
                </a:solidFill>
                <a:latin typeface="Arial"/>
                <a:ea typeface="Arial"/>
                <a:cs typeface="Arial"/>
                <a:sym typeface="Arial"/>
              </a:defRPr>
            </a:lvl1pPr>
          </a:lstStyle>
          <a:p>
            <a:pPr/>
            <a:r>
              <a:t>Batch refresh</a:t>
            </a:r>
          </a:p>
        </p:txBody>
      </p:sp>
      <p:sp>
        <p:nvSpPr>
          <p:cNvPr id="419" name="Text 6"/>
          <p:cNvSpPr txBox="1"/>
          <p:nvPr/>
        </p:nvSpPr>
        <p:spPr>
          <a:xfrm>
            <a:off x="885824" y="3948558"/>
            <a:ext cx="3561304" cy="1032422"/>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68680">
              <a:lnSpc>
                <a:spcPct val="145000"/>
              </a:lnSpc>
              <a:defRPr sz="1710">
                <a:solidFill>
                  <a:srgbClr val="7D4C3D"/>
                </a:solidFill>
                <a:latin typeface="Arial"/>
                <a:ea typeface="Arial"/>
                <a:cs typeface="Arial"/>
                <a:sym typeface="Arial"/>
              </a:defRPr>
            </a:lvl1pPr>
          </a:lstStyle>
          <a:p>
            <a:pPr/>
            <a:r>
              <a:t>Recompute descriptive stats and refit the model on a regular cadence.</a:t>
            </a:r>
          </a:p>
        </p:txBody>
      </p:sp>
      <p:sp>
        <p:nvSpPr>
          <p:cNvPr id="420" name="Shape 7"/>
          <p:cNvSpPr/>
          <p:nvPr/>
        </p:nvSpPr>
        <p:spPr>
          <a:xfrm>
            <a:off x="4924425" y="2786508"/>
            <a:ext cx="4086225" cy="2699298"/>
          </a:xfrm>
          <a:prstGeom prst="roundRect">
            <a:avLst>
              <a:gd name="adj" fmla="val 4940"/>
            </a:avLst>
          </a:prstGeom>
          <a:solidFill>
            <a:srgbClr val="E8DCCB"/>
          </a:solidFill>
          <a:ln>
            <a:solidFill>
              <a:srgbClr val="7D4C3D">
                <a:alpha val="18000"/>
              </a:srgbClr>
            </a:solidFill>
          </a:ln>
        </p:spPr>
        <p:txBody>
          <a:bodyPr lIns="45719" rIns="45719"/>
          <a:lstStyle/>
          <a:p>
            <a:pPr/>
          </a:p>
        </p:txBody>
      </p:sp>
      <p:sp>
        <p:nvSpPr>
          <p:cNvPr id="421" name="Text 8"/>
          <p:cNvSpPr txBox="1"/>
          <p:nvPr/>
        </p:nvSpPr>
        <p:spPr>
          <a:xfrm>
            <a:off x="5238749" y="3100833"/>
            <a:ext cx="3561304" cy="399605"/>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96111">
              <a:defRPr sz="2352">
                <a:solidFill>
                  <a:srgbClr val="5D3527"/>
                </a:solidFill>
                <a:latin typeface="Arial"/>
                <a:ea typeface="Arial"/>
                <a:cs typeface="Arial"/>
                <a:sym typeface="Arial"/>
              </a:defRPr>
            </a:lvl1pPr>
          </a:lstStyle>
          <a:p>
            <a:pPr/>
            <a:r>
              <a:t>02</a:t>
            </a:r>
          </a:p>
        </p:txBody>
      </p:sp>
      <p:sp>
        <p:nvSpPr>
          <p:cNvPr id="422" name="Text 9"/>
          <p:cNvSpPr txBox="1"/>
          <p:nvPr/>
        </p:nvSpPr>
        <p:spPr>
          <a:xfrm>
            <a:off x="5238749" y="3510408"/>
            <a:ext cx="3561304" cy="35005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86968">
              <a:defRPr sz="2037">
                <a:solidFill>
                  <a:srgbClr val="5D3527"/>
                </a:solidFill>
                <a:latin typeface="Arial"/>
                <a:ea typeface="Arial"/>
                <a:cs typeface="Arial"/>
                <a:sym typeface="Arial"/>
              </a:defRPr>
            </a:lvl1pPr>
          </a:lstStyle>
          <a:p>
            <a:pPr/>
            <a:r>
              <a:t>Online scoring</a:t>
            </a:r>
          </a:p>
        </p:txBody>
      </p:sp>
      <p:sp>
        <p:nvSpPr>
          <p:cNvPr id="423" name="Text 10"/>
          <p:cNvSpPr txBox="1"/>
          <p:nvPr/>
        </p:nvSpPr>
        <p:spPr>
          <a:xfrm>
            <a:off x="5238749" y="3948558"/>
            <a:ext cx="3561304" cy="700982"/>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45000"/>
              </a:lnSpc>
              <a:defRPr>
                <a:solidFill>
                  <a:srgbClr val="7D4C3D"/>
                </a:solidFill>
                <a:latin typeface="Arial"/>
                <a:ea typeface="Arial"/>
                <a:cs typeface="Arial"/>
                <a:sym typeface="Arial"/>
              </a:defRPr>
            </a:lvl1pPr>
          </a:lstStyle>
          <a:p>
            <a:pPr/>
            <a:r>
              <a:t>Predict expected spend at order time to drive personalized upsells.</a:t>
            </a:r>
          </a:p>
        </p:txBody>
      </p:sp>
      <p:sp>
        <p:nvSpPr>
          <p:cNvPr id="424" name="Shape 11"/>
          <p:cNvSpPr/>
          <p:nvPr/>
        </p:nvSpPr>
        <p:spPr>
          <a:xfrm>
            <a:off x="9277350" y="2786508"/>
            <a:ext cx="4086225" cy="2699298"/>
          </a:xfrm>
          <a:prstGeom prst="roundRect">
            <a:avLst>
              <a:gd name="adj" fmla="val 4940"/>
            </a:avLst>
          </a:prstGeom>
          <a:solidFill>
            <a:srgbClr val="E8DCCB"/>
          </a:solidFill>
          <a:ln>
            <a:solidFill>
              <a:srgbClr val="7D4C3D">
                <a:alpha val="18000"/>
              </a:srgbClr>
            </a:solidFill>
          </a:ln>
        </p:spPr>
        <p:txBody>
          <a:bodyPr lIns="45719" rIns="45719"/>
          <a:lstStyle/>
          <a:p>
            <a:pPr/>
          </a:p>
        </p:txBody>
      </p:sp>
      <p:sp>
        <p:nvSpPr>
          <p:cNvPr id="425" name="Text 12"/>
          <p:cNvSpPr txBox="1"/>
          <p:nvPr/>
        </p:nvSpPr>
        <p:spPr>
          <a:xfrm>
            <a:off x="9591674" y="3100833"/>
            <a:ext cx="3561304" cy="399605"/>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96111">
              <a:defRPr sz="2352">
                <a:solidFill>
                  <a:srgbClr val="5D3527"/>
                </a:solidFill>
                <a:latin typeface="Arial"/>
                <a:ea typeface="Arial"/>
                <a:cs typeface="Arial"/>
                <a:sym typeface="Arial"/>
              </a:defRPr>
            </a:lvl1pPr>
          </a:lstStyle>
          <a:p>
            <a:pPr/>
            <a:r>
              <a:t>03</a:t>
            </a:r>
          </a:p>
        </p:txBody>
      </p:sp>
      <p:sp>
        <p:nvSpPr>
          <p:cNvPr id="426" name="Text 13"/>
          <p:cNvSpPr txBox="1"/>
          <p:nvPr/>
        </p:nvSpPr>
        <p:spPr>
          <a:xfrm>
            <a:off x="9591674" y="3510408"/>
            <a:ext cx="3561304" cy="35005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86968">
              <a:defRPr sz="2037">
                <a:solidFill>
                  <a:srgbClr val="5D3527"/>
                </a:solidFill>
                <a:latin typeface="Arial"/>
                <a:ea typeface="Arial"/>
                <a:cs typeface="Arial"/>
                <a:sym typeface="Arial"/>
              </a:defRPr>
            </a:lvl1pPr>
          </a:lstStyle>
          <a:p>
            <a:pPr/>
            <a:r>
              <a:t>Drift monitoring</a:t>
            </a:r>
          </a:p>
        </p:txBody>
      </p:sp>
      <p:sp>
        <p:nvSpPr>
          <p:cNvPr id="427" name="Text 14"/>
          <p:cNvSpPr txBox="1"/>
          <p:nvPr/>
        </p:nvSpPr>
        <p:spPr>
          <a:xfrm>
            <a:off x="9591674" y="3948558"/>
            <a:ext cx="3561304" cy="1032422"/>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68680">
              <a:lnSpc>
                <a:spcPct val="145000"/>
              </a:lnSpc>
              <a:defRPr sz="1710">
                <a:solidFill>
                  <a:srgbClr val="7D4C3D"/>
                </a:solidFill>
                <a:latin typeface="Arial"/>
                <a:ea typeface="Arial"/>
                <a:cs typeface="Arial"/>
                <a:sym typeface="Arial"/>
              </a:defRPr>
            </a:lvl1pPr>
          </a:lstStyle>
          <a:p>
            <a:pPr/>
            <a:r>
              <a:t>Track Mobile share, Rewards effect, and high-spender probability over time.</a:t>
            </a:r>
          </a:p>
        </p:txBody>
      </p:sp>
      <p:sp>
        <p:nvSpPr>
          <p:cNvPr id="428" name="Shape 15"/>
          <p:cNvSpPr/>
          <p:nvPr/>
        </p:nvSpPr>
        <p:spPr>
          <a:xfrm>
            <a:off x="13630275" y="2786508"/>
            <a:ext cx="4086225" cy="2699298"/>
          </a:xfrm>
          <a:prstGeom prst="roundRect">
            <a:avLst>
              <a:gd name="adj" fmla="val 4940"/>
            </a:avLst>
          </a:prstGeom>
          <a:solidFill>
            <a:srgbClr val="E8DCCB"/>
          </a:solidFill>
          <a:ln>
            <a:solidFill>
              <a:srgbClr val="7D4C3D">
                <a:alpha val="18000"/>
              </a:srgbClr>
            </a:solidFill>
          </a:ln>
        </p:spPr>
        <p:txBody>
          <a:bodyPr lIns="45719" rIns="45719"/>
          <a:lstStyle/>
          <a:p>
            <a:pPr/>
          </a:p>
        </p:txBody>
      </p:sp>
      <p:sp>
        <p:nvSpPr>
          <p:cNvPr id="429" name="Text 16"/>
          <p:cNvSpPr txBox="1"/>
          <p:nvPr/>
        </p:nvSpPr>
        <p:spPr>
          <a:xfrm>
            <a:off x="13944599" y="3100833"/>
            <a:ext cx="3561304" cy="399605"/>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96111">
              <a:defRPr sz="2352">
                <a:solidFill>
                  <a:srgbClr val="5D3527"/>
                </a:solidFill>
                <a:latin typeface="Arial"/>
                <a:ea typeface="Arial"/>
                <a:cs typeface="Arial"/>
                <a:sym typeface="Arial"/>
              </a:defRPr>
            </a:lvl1pPr>
          </a:lstStyle>
          <a:p>
            <a:pPr/>
            <a:r>
              <a:t>04</a:t>
            </a:r>
          </a:p>
        </p:txBody>
      </p:sp>
      <p:sp>
        <p:nvSpPr>
          <p:cNvPr id="430" name="Text 17"/>
          <p:cNvSpPr txBox="1"/>
          <p:nvPr/>
        </p:nvSpPr>
        <p:spPr>
          <a:xfrm>
            <a:off x="13944599" y="3510408"/>
            <a:ext cx="3561304" cy="35005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86968">
              <a:defRPr sz="2037">
                <a:solidFill>
                  <a:srgbClr val="5D3527"/>
                </a:solidFill>
                <a:latin typeface="Arial"/>
                <a:ea typeface="Arial"/>
                <a:cs typeface="Arial"/>
                <a:sym typeface="Arial"/>
              </a:defRPr>
            </a:lvl1pPr>
          </a:lstStyle>
          <a:p>
            <a:pPr/>
            <a:r>
              <a:t>Scale</a:t>
            </a:r>
          </a:p>
        </p:txBody>
      </p:sp>
      <p:sp>
        <p:nvSpPr>
          <p:cNvPr id="431" name="Text 18"/>
          <p:cNvSpPr txBox="1"/>
          <p:nvPr/>
        </p:nvSpPr>
        <p:spPr>
          <a:xfrm>
            <a:off x="13944599" y="3948558"/>
            <a:ext cx="3561304" cy="700982"/>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45000"/>
              </a:lnSpc>
              <a:defRPr>
                <a:solidFill>
                  <a:srgbClr val="7D4C3D"/>
                </a:solidFill>
                <a:latin typeface="Arial"/>
                <a:ea typeface="Arial"/>
                <a:cs typeface="Arial"/>
                <a:sym typeface="Arial"/>
              </a:defRPr>
            </a:lvl1pPr>
          </a:lstStyle>
          <a:p>
            <a:pPr/>
            <a:r>
              <a:t>Re-fit by store or region; same recipe, finer granularity.</a:t>
            </a:r>
          </a:p>
        </p:txBody>
      </p:sp>
      <p:sp>
        <p:nvSpPr>
          <p:cNvPr id="432" name="Shape 19"/>
          <p:cNvSpPr/>
          <p:nvPr/>
        </p:nvSpPr>
        <p:spPr>
          <a:xfrm>
            <a:off x="571500" y="6057305"/>
            <a:ext cx="17145000" cy="920056"/>
          </a:xfrm>
          <a:prstGeom prst="roundRect">
            <a:avLst>
              <a:gd name="adj" fmla="val 14494"/>
            </a:avLst>
          </a:prstGeom>
          <a:solidFill>
            <a:srgbClr val="E8DCCB"/>
          </a:solidFill>
          <a:ln w="12700">
            <a:miter lim="400000"/>
          </a:ln>
        </p:spPr>
        <p:txBody>
          <a:bodyPr lIns="45719" rIns="45719"/>
          <a:lstStyle/>
          <a:p>
            <a:pPr/>
          </a:p>
        </p:txBody>
      </p:sp>
      <p:sp>
        <p:nvSpPr>
          <p:cNvPr id="433" name="Text 20"/>
          <p:cNvSpPr txBox="1"/>
          <p:nvPr/>
        </p:nvSpPr>
        <p:spPr>
          <a:xfrm>
            <a:off x="914400" y="6324005"/>
            <a:ext cx="16973550" cy="424755"/>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45000"/>
              </a:lnSpc>
              <a:defRPr i="1" sz="2100">
                <a:solidFill>
                  <a:srgbClr val="5D3527"/>
                </a:solidFill>
                <a:latin typeface="Arial"/>
                <a:ea typeface="Arial"/>
                <a:cs typeface="Arial"/>
                <a:sym typeface="Arial"/>
              </a:defRPr>
            </a:lvl1pPr>
          </a:lstStyle>
          <a:p>
            <a:pPr/>
            <a:r>
              <a:t>The same three coefficients that explained 95% of variance in our notebook can power live recommendations in the Starbucks app.</a:t>
            </a:r>
          </a:p>
        </p:txBody>
      </p:sp>
      <p:sp>
        <p:nvSpPr>
          <p:cNvPr id="434" name="Text 21"/>
          <p:cNvSpPr txBox="1"/>
          <p:nvPr/>
        </p:nvSpPr>
        <p:spPr>
          <a:xfrm>
            <a:off x="16570672" y="9572625"/>
            <a:ext cx="1222029" cy="333375"/>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z="1900">
                <a:solidFill>
                  <a:srgbClr val="7D4C3D">
                    <a:alpha val="85000"/>
                  </a:srgbClr>
                </a:solidFill>
                <a:latin typeface="Arial"/>
                <a:ea typeface="Arial"/>
                <a:cs typeface="Arial"/>
                <a:sym typeface="Arial"/>
              </a:defRPr>
            </a:lvl1pPr>
          </a:lstStyle>
          <a:p>
            <a:pPr/>
            <a:r>
              <a:t>Starbucks</a:t>
            </a:r>
          </a:p>
        </p:txBody>
      </p:sp>
      <p:sp>
        <p:nvSpPr>
          <p:cNvPr id="435" name="Text 22"/>
          <p:cNvSpPr txBox="1"/>
          <p:nvPr/>
        </p:nvSpPr>
        <p:spPr>
          <a:xfrm>
            <a:off x="571500" y="9591675"/>
            <a:ext cx="1047601" cy="314325"/>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pc="300">
                <a:solidFill>
                  <a:srgbClr val="7D4C3D">
                    <a:alpha val="55000"/>
                  </a:srgbClr>
                </a:solidFill>
                <a:latin typeface="Arial"/>
                <a:ea typeface="Arial"/>
                <a:cs typeface="Arial"/>
                <a:sym typeface="Arial"/>
              </a:defRPr>
            </a:lvl1pPr>
          </a:lstStyle>
          <a:p>
            <a:pPr/>
            <a:r>
              <a:t>13 / 16</a:t>
            </a:r>
          </a:p>
        </p:txBody>
      </p:sp>
    </p:spTree>
  </p:cSld>
  <p:clrMapOvr>
    <a:masterClrMapping/>
  </p:clrMapOvr>
  <p:transition xmlns:p14="http://schemas.microsoft.com/office/powerpoint/2010/main" spd="med" advClick="1"/>
</p:sld>
</file>

<file path=ppt/slides/slide1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DBCBBB"/>
        </a:solidFill>
      </p:bgPr>
    </p:bg>
    <p:spTree>
      <p:nvGrpSpPr>
        <p:cNvPr id="1" name=""/>
        <p:cNvGrpSpPr/>
        <p:nvPr/>
      </p:nvGrpSpPr>
      <p:grpSpPr>
        <a:xfrm>
          <a:off x="0" y="0"/>
          <a:ext cx="0" cy="0"/>
          <a:chOff x="0" y="0"/>
          <a:chExt cx="0" cy="0"/>
        </a:xfrm>
      </p:grpSpPr>
      <p:sp>
        <p:nvSpPr>
          <p:cNvPr id="439" name="Text 0"/>
          <p:cNvSpPr txBox="1"/>
          <p:nvPr/>
        </p:nvSpPr>
        <p:spPr>
          <a:xfrm>
            <a:off x="1143000" y="1143000"/>
            <a:ext cx="6313984" cy="314325"/>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pc="300">
                <a:solidFill>
                  <a:srgbClr val="5D3527">
                    <a:alpha val="70000"/>
                  </a:srgbClr>
                </a:solidFill>
                <a:latin typeface="Arial"/>
                <a:ea typeface="Arial"/>
                <a:cs typeface="Arial"/>
                <a:sym typeface="Arial"/>
              </a:defRPr>
            </a:lvl1pPr>
          </a:lstStyle>
          <a:p>
            <a:pPr/>
            <a:r>
              <a:t>CHAPTER THIRTEEN · LIMITATIONS</a:t>
            </a:r>
          </a:p>
        </p:txBody>
      </p:sp>
      <p:sp>
        <p:nvSpPr>
          <p:cNvPr id="440" name="Text 1"/>
          <p:cNvSpPr txBox="1"/>
          <p:nvPr/>
        </p:nvSpPr>
        <p:spPr>
          <a:xfrm>
            <a:off x="571500" y="1523999"/>
            <a:ext cx="14716125" cy="67196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50391">
              <a:lnSpc>
                <a:spcPct val="104000"/>
              </a:lnSpc>
              <a:defRPr b="1" spc="-93" sz="4464">
                <a:solidFill>
                  <a:srgbClr val="5D3527"/>
                </a:solidFill>
                <a:latin typeface="Arial"/>
                <a:ea typeface="Arial"/>
                <a:cs typeface="Arial"/>
                <a:sym typeface="Arial"/>
              </a:defRPr>
            </a:lvl1pPr>
          </a:lstStyle>
          <a:p>
            <a:pPr/>
            <a:r>
              <a:t>Honest about what we can't claim.</a:t>
            </a:r>
          </a:p>
        </p:txBody>
      </p:sp>
      <p:sp>
        <p:nvSpPr>
          <p:cNvPr id="441" name="Shape 2"/>
          <p:cNvSpPr/>
          <p:nvPr/>
        </p:nvSpPr>
        <p:spPr>
          <a:xfrm>
            <a:off x="571500" y="2310258"/>
            <a:ext cx="762000" cy="19051"/>
          </a:xfrm>
          <a:prstGeom prst="rect">
            <a:avLst/>
          </a:prstGeom>
          <a:solidFill>
            <a:srgbClr val="7D4C3D"/>
          </a:solidFill>
          <a:ln w="12700">
            <a:miter lim="400000"/>
          </a:ln>
        </p:spPr>
        <p:txBody>
          <a:bodyPr lIns="45719" rIns="45719"/>
          <a:lstStyle/>
          <a:p>
            <a:pPr/>
          </a:p>
        </p:txBody>
      </p:sp>
      <p:sp>
        <p:nvSpPr>
          <p:cNvPr id="442" name="Text 3"/>
          <p:cNvSpPr txBox="1"/>
          <p:nvPr/>
        </p:nvSpPr>
        <p:spPr>
          <a:xfrm>
            <a:off x="914400" y="2615058"/>
            <a:ext cx="8094344" cy="805757"/>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p>
            <a:pPr>
              <a:lnSpc>
                <a:spcPct val="155000"/>
              </a:lnSpc>
              <a:defRPr b="1" sz="1900">
                <a:solidFill>
                  <a:srgbClr val="5D3527"/>
                </a:solidFill>
                <a:latin typeface="Arial"/>
                <a:ea typeface="Arial"/>
                <a:cs typeface="Arial"/>
                <a:sym typeface="Arial"/>
              </a:defRPr>
            </a:pPr>
            <a:r>
              <a:t>Sample representativeness. </a:t>
            </a:r>
            <a:r>
              <a:rPr b="0">
                <a:solidFill>
                  <a:srgbClr val="3A2A22"/>
                </a:solidFill>
              </a:rPr>
              <a:t>Kaggle data may not cover every real Starbucks store or geography.</a:t>
            </a:r>
          </a:p>
        </p:txBody>
      </p:sp>
      <p:sp>
        <p:nvSpPr>
          <p:cNvPr id="443" name="Text 4"/>
          <p:cNvSpPr txBox="1"/>
          <p:nvPr/>
        </p:nvSpPr>
        <p:spPr>
          <a:xfrm>
            <a:off x="914400" y="3592264"/>
            <a:ext cx="8094344" cy="805756"/>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p>
            <a:pPr>
              <a:lnSpc>
                <a:spcPct val="155000"/>
              </a:lnSpc>
              <a:defRPr b="1" sz="1900">
                <a:solidFill>
                  <a:srgbClr val="5D3527"/>
                </a:solidFill>
                <a:latin typeface="Arial"/>
                <a:ea typeface="Arial"/>
                <a:cs typeface="Arial"/>
                <a:sym typeface="Arial"/>
              </a:defRPr>
            </a:pPr>
            <a:r>
              <a:t>Independence. </a:t>
            </a:r>
            <a:r>
              <a:rPr b="0">
                <a:solidFill>
                  <a:srgbClr val="3A2A22"/>
                </a:solidFill>
              </a:rPr>
              <a:t>Repeat customers weaken strict independence assumptions in t-tests.</a:t>
            </a:r>
          </a:p>
        </p:txBody>
      </p:sp>
      <p:sp>
        <p:nvSpPr>
          <p:cNvPr id="444" name="Text 5"/>
          <p:cNvSpPr txBox="1"/>
          <p:nvPr/>
        </p:nvSpPr>
        <p:spPr>
          <a:xfrm>
            <a:off x="914400" y="4569469"/>
            <a:ext cx="8094344" cy="805756"/>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p>
            <a:pPr>
              <a:lnSpc>
                <a:spcPct val="155000"/>
              </a:lnSpc>
              <a:defRPr b="1" sz="1900">
                <a:solidFill>
                  <a:srgbClr val="5D3527"/>
                </a:solidFill>
                <a:latin typeface="Arial"/>
                <a:ea typeface="Arial"/>
                <a:cs typeface="Arial"/>
                <a:sym typeface="Arial"/>
              </a:defRPr>
            </a:pPr>
            <a:r>
              <a:t>Normality testing. </a:t>
            </a:r>
            <a:r>
              <a:rPr b="0">
                <a:solidFill>
                  <a:srgbClr val="3A2A22"/>
                </a:solidFill>
              </a:rPr>
              <a:t>Shapiro–Wilk uses a 5,000-row subsample because of its sample-size cap.</a:t>
            </a:r>
          </a:p>
        </p:txBody>
      </p:sp>
      <p:sp>
        <p:nvSpPr>
          <p:cNvPr id="445" name="Text 6"/>
          <p:cNvSpPr txBox="1"/>
          <p:nvPr/>
        </p:nvSpPr>
        <p:spPr>
          <a:xfrm>
            <a:off x="9867900" y="2615058"/>
            <a:ext cx="8094344" cy="805757"/>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p>
            <a:pPr>
              <a:lnSpc>
                <a:spcPct val="155000"/>
              </a:lnSpc>
              <a:defRPr b="1" sz="1900">
                <a:solidFill>
                  <a:srgbClr val="5D3527"/>
                </a:solidFill>
                <a:latin typeface="Arial"/>
                <a:ea typeface="Arial"/>
                <a:cs typeface="Arial"/>
                <a:sym typeface="Arial"/>
              </a:defRPr>
            </a:pPr>
            <a:r>
              <a:t>Tail estimation. </a:t>
            </a:r>
            <a:r>
              <a:rPr b="0">
                <a:solidFill>
                  <a:srgbClr val="3A2A22"/>
                </a:solidFill>
              </a:rPr>
              <a:t>The Normal approximation underestimates the right tail of spend.</a:t>
            </a:r>
          </a:p>
        </p:txBody>
      </p:sp>
      <p:sp>
        <p:nvSpPr>
          <p:cNvPr id="446" name="Text 7"/>
          <p:cNvSpPr txBox="1"/>
          <p:nvPr/>
        </p:nvSpPr>
        <p:spPr>
          <a:xfrm>
            <a:off x="9867900" y="3592264"/>
            <a:ext cx="8094344" cy="805756"/>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p>
            <a:pPr>
              <a:lnSpc>
                <a:spcPct val="155000"/>
              </a:lnSpc>
              <a:defRPr b="1" sz="1900">
                <a:solidFill>
                  <a:srgbClr val="5D3527"/>
                </a:solidFill>
                <a:latin typeface="Arial"/>
                <a:ea typeface="Arial"/>
                <a:cs typeface="Arial"/>
                <a:sym typeface="Arial"/>
              </a:defRPr>
            </a:pPr>
            <a:r>
              <a:t>Paired test. </a:t>
            </a:r>
            <a:r>
              <a:rPr b="0">
                <a:solidFill>
                  <a:srgbClr val="3A2A22"/>
                </a:solidFill>
              </a:rPr>
              <a:t>Compares first vs latest order, ignoring unequal time gaps between them.</a:t>
            </a:r>
          </a:p>
        </p:txBody>
      </p:sp>
      <p:sp>
        <p:nvSpPr>
          <p:cNvPr id="447" name="Text 8"/>
          <p:cNvSpPr txBox="1"/>
          <p:nvPr/>
        </p:nvSpPr>
        <p:spPr>
          <a:xfrm>
            <a:off x="9867900" y="4569469"/>
            <a:ext cx="8094344" cy="805756"/>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p>
            <a:pPr>
              <a:lnSpc>
                <a:spcPct val="155000"/>
              </a:lnSpc>
              <a:defRPr b="1" sz="1900">
                <a:solidFill>
                  <a:srgbClr val="5D3527"/>
                </a:solidFill>
                <a:latin typeface="Arial"/>
                <a:ea typeface="Arial"/>
                <a:cs typeface="Arial"/>
                <a:sym typeface="Arial"/>
              </a:defRPr>
            </a:pPr>
            <a:r>
              <a:t>Model simplicity. </a:t>
            </a:r>
            <a:r>
              <a:rPr b="0">
                <a:solidFill>
                  <a:srgbClr val="3A2A22"/>
                </a:solidFill>
              </a:rPr>
              <a:t>Three predictors only - intentionally course-aligned, not state of the art.</a:t>
            </a:r>
          </a:p>
        </p:txBody>
      </p:sp>
      <p:sp>
        <p:nvSpPr>
          <p:cNvPr id="448" name="Text 9"/>
          <p:cNvSpPr txBox="1"/>
          <p:nvPr/>
        </p:nvSpPr>
        <p:spPr>
          <a:xfrm>
            <a:off x="16570672" y="9572625"/>
            <a:ext cx="1222029" cy="333375"/>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z="1900">
                <a:solidFill>
                  <a:srgbClr val="5D3527">
                    <a:alpha val="85000"/>
                  </a:srgbClr>
                </a:solidFill>
                <a:latin typeface="Arial"/>
                <a:ea typeface="Arial"/>
                <a:cs typeface="Arial"/>
                <a:sym typeface="Arial"/>
              </a:defRPr>
            </a:lvl1pPr>
          </a:lstStyle>
          <a:p>
            <a:pPr/>
            <a:r>
              <a:t>Starbucks</a:t>
            </a:r>
          </a:p>
        </p:txBody>
      </p:sp>
      <p:sp>
        <p:nvSpPr>
          <p:cNvPr id="449" name="Text 10"/>
          <p:cNvSpPr txBox="1"/>
          <p:nvPr/>
        </p:nvSpPr>
        <p:spPr>
          <a:xfrm>
            <a:off x="571500" y="9591675"/>
            <a:ext cx="1054298" cy="314325"/>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pc="300">
                <a:solidFill>
                  <a:srgbClr val="7D4C3D">
                    <a:alpha val="55000"/>
                  </a:srgbClr>
                </a:solidFill>
                <a:latin typeface="Arial"/>
                <a:ea typeface="Arial"/>
                <a:cs typeface="Arial"/>
                <a:sym typeface="Arial"/>
              </a:defRPr>
            </a:lvl1pPr>
          </a:lstStyle>
          <a:p>
            <a:pPr/>
            <a:r>
              <a:t>14 / 16</a:t>
            </a:r>
          </a:p>
        </p:txBody>
      </p:sp>
    </p:spTree>
  </p:cSld>
  <p:clrMapOvr>
    <a:masterClrMapping/>
  </p:clrMapOvr>
  <p:transition xmlns:p14="http://schemas.microsoft.com/office/powerpoint/2010/main" spd="med" advClick="1"/>
</p:sld>
</file>

<file path=ppt/slides/slide1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AF8ED"/>
        </a:solidFill>
      </p:bgPr>
    </p:bg>
    <p:spTree>
      <p:nvGrpSpPr>
        <p:cNvPr id="1" name=""/>
        <p:cNvGrpSpPr/>
        <p:nvPr/>
      </p:nvGrpSpPr>
      <p:grpSpPr>
        <a:xfrm>
          <a:off x="0" y="0"/>
          <a:ext cx="0" cy="0"/>
          <a:chOff x="0" y="0"/>
          <a:chExt cx="0" cy="0"/>
        </a:xfrm>
      </p:grpSpPr>
      <p:sp>
        <p:nvSpPr>
          <p:cNvPr id="453" name="Text 0"/>
          <p:cNvSpPr txBox="1"/>
          <p:nvPr/>
        </p:nvSpPr>
        <p:spPr>
          <a:xfrm>
            <a:off x="1142999" y="1143000"/>
            <a:ext cx="6463753" cy="314325"/>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pc="300">
                <a:solidFill>
                  <a:srgbClr val="7D4C3D">
                    <a:alpha val="70000"/>
                  </a:srgbClr>
                </a:solidFill>
                <a:latin typeface="Arial"/>
                <a:ea typeface="Arial"/>
                <a:cs typeface="Arial"/>
                <a:sym typeface="Arial"/>
              </a:defRPr>
            </a:lvl1pPr>
          </a:lstStyle>
          <a:p>
            <a:pPr/>
            <a:r>
              <a:t>CHAPTER FOURTEEN · CONCLUSION</a:t>
            </a:r>
          </a:p>
        </p:txBody>
      </p:sp>
      <p:sp>
        <p:nvSpPr>
          <p:cNvPr id="454" name="Text 1"/>
          <p:cNvSpPr txBox="1"/>
          <p:nvPr/>
        </p:nvSpPr>
        <p:spPr>
          <a:xfrm>
            <a:off x="571500" y="1523999"/>
            <a:ext cx="14716125" cy="1305820"/>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04000"/>
              </a:lnSpc>
              <a:defRPr b="1" spc="-100" sz="4800">
                <a:solidFill>
                  <a:srgbClr val="5D3527"/>
                </a:solidFill>
                <a:latin typeface="Arial"/>
                <a:ea typeface="Arial"/>
                <a:cs typeface="Arial"/>
                <a:sym typeface="Arial"/>
              </a:defRPr>
            </a:lvl1pPr>
          </a:lstStyle>
          <a:p>
            <a:pPr/>
            <a:r>
              <a:t>Mobile App and cart size drive spend.</a:t>
            </a:r>
          </a:p>
        </p:txBody>
      </p:sp>
      <p:sp>
        <p:nvSpPr>
          <p:cNvPr id="455" name="Shape 2"/>
          <p:cNvSpPr/>
          <p:nvPr/>
        </p:nvSpPr>
        <p:spPr>
          <a:xfrm>
            <a:off x="571500" y="2944117"/>
            <a:ext cx="762000" cy="19051"/>
          </a:xfrm>
          <a:prstGeom prst="rect">
            <a:avLst/>
          </a:prstGeom>
          <a:solidFill>
            <a:srgbClr val="7D4C3D"/>
          </a:solidFill>
          <a:ln w="12700">
            <a:miter lim="400000"/>
          </a:ln>
        </p:spPr>
        <p:txBody>
          <a:bodyPr lIns="45719" rIns="45719"/>
          <a:lstStyle/>
          <a:p>
            <a:pPr/>
          </a:p>
        </p:txBody>
      </p:sp>
      <p:sp>
        <p:nvSpPr>
          <p:cNvPr id="456" name="Text 3"/>
          <p:cNvSpPr txBox="1"/>
          <p:nvPr/>
        </p:nvSpPr>
        <p:spPr>
          <a:xfrm>
            <a:off x="571500" y="3229867"/>
            <a:ext cx="12753975" cy="390526"/>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i="1" sz="2200">
                <a:solidFill>
                  <a:srgbClr val="7D4C3D"/>
                </a:solidFill>
                <a:latin typeface="Arial"/>
                <a:ea typeface="Arial"/>
                <a:cs typeface="Arial"/>
                <a:sym typeface="Arial"/>
              </a:defRPr>
            </a:lvl1pPr>
          </a:lstStyle>
          <a:p>
            <a:pPr/>
            <a:r>
              <a:t>Four findings that hold across every method we ran.</a:t>
            </a:r>
          </a:p>
        </p:txBody>
      </p:sp>
      <p:sp>
        <p:nvSpPr>
          <p:cNvPr id="457" name="Text 4"/>
          <p:cNvSpPr txBox="1"/>
          <p:nvPr/>
        </p:nvSpPr>
        <p:spPr>
          <a:xfrm>
            <a:off x="1276349" y="4115692"/>
            <a:ext cx="7711252" cy="3810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p>
            <a:pPr>
              <a:lnSpc>
                <a:spcPct val="150000"/>
              </a:lnSpc>
              <a:defRPr b="1">
                <a:solidFill>
                  <a:srgbClr val="5D3527"/>
                </a:solidFill>
                <a:latin typeface="Arial"/>
                <a:ea typeface="Arial"/>
                <a:cs typeface="Arial"/>
                <a:sym typeface="Arial"/>
              </a:defRPr>
            </a:pPr>
            <a:r>
              <a:t>Mobile App and cart size </a:t>
            </a:r>
            <a:r>
              <a:rPr b="0">
                <a:solidFill>
                  <a:srgbClr val="3A2A22"/>
                </a:solidFill>
              </a:rPr>
              <a:t>are the dominant drivers of spend per order.</a:t>
            </a:r>
          </a:p>
        </p:txBody>
      </p:sp>
      <p:sp>
        <p:nvSpPr>
          <p:cNvPr id="458" name="Text 5"/>
          <p:cNvSpPr txBox="1"/>
          <p:nvPr/>
        </p:nvSpPr>
        <p:spPr>
          <a:xfrm>
            <a:off x="10229849" y="4115692"/>
            <a:ext cx="7711252" cy="3810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p>
            <a:pPr>
              <a:lnSpc>
                <a:spcPct val="150000"/>
              </a:lnSpc>
              <a:defRPr b="1">
                <a:solidFill>
                  <a:srgbClr val="5D3527"/>
                </a:solidFill>
                <a:latin typeface="Arial"/>
                <a:ea typeface="Arial"/>
                <a:cs typeface="Arial"/>
                <a:sym typeface="Arial"/>
              </a:defRPr>
            </a:pPr>
            <a:r>
              <a:t>Rewards membership </a:t>
            </a:r>
            <a:r>
              <a:rPr b="0">
                <a:solidFill>
                  <a:srgbClr val="3A2A22"/>
                </a:solidFill>
              </a:rPr>
              <a:t>is a smaller but statistically significant lift.</a:t>
            </a:r>
          </a:p>
        </p:txBody>
      </p:sp>
      <p:sp>
        <p:nvSpPr>
          <p:cNvPr id="459" name="Text 6"/>
          <p:cNvSpPr txBox="1"/>
          <p:nvPr/>
        </p:nvSpPr>
        <p:spPr>
          <a:xfrm>
            <a:off x="1276349" y="5011042"/>
            <a:ext cx="7711252" cy="7239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p>
            <a:pPr>
              <a:lnSpc>
                <a:spcPct val="150000"/>
              </a:lnSpc>
              <a:defRPr b="1">
                <a:solidFill>
                  <a:srgbClr val="5D3527"/>
                </a:solidFill>
                <a:latin typeface="Arial"/>
                <a:ea typeface="Arial"/>
                <a:cs typeface="Arial"/>
                <a:sym typeface="Arial"/>
              </a:defRPr>
            </a:pPr>
            <a:r>
              <a:t>Empirical tail probabilities </a:t>
            </a:r>
            <a:r>
              <a:rPr b="0">
                <a:solidFill>
                  <a:srgbClr val="3A2A22"/>
                </a:solidFill>
              </a:rPr>
              <a:t>are more honest than the normal approximation for high spenders.</a:t>
            </a:r>
          </a:p>
        </p:txBody>
      </p:sp>
      <p:sp>
        <p:nvSpPr>
          <p:cNvPr id="460" name="Text 7"/>
          <p:cNvSpPr txBox="1"/>
          <p:nvPr/>
        </p:nvSpPr>
        <p:spPr>
          <a:xfrm>
            <a:off x="10229849" y="5011042"/>
            <a:ext cx="7711252" cy="7239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p>
            <a:pPr>
              <a:lnSpc>
                <a:spcPct val="150000"/>
              </a:lnSpc>
              <a:defRPr b="1">
                <a:solidFill>
                  <a:srgbClr val="5D3527"/>
                </a:solidFill>
                <a:latin typeface="Arial"/>
                <a:ea typeface="Arial"/>
                <a:cs typeface="Arial"/>
                <a:sym typeface="Arial"/>
              </a:defRPr>
            </a:pPr>
            <a:r>
              <a:t>Methods align with DATA 202 </a:t>
            </a:r>
            <a:r>
              <a:rPr b="0">
                <a:solidFill>
                  <a:srgbClr val="3A2A22"/>
                </a:solidFill>
              </a:rPr>
              <a:t>- descriptives, correlation, hypothesis tests, Bayes, RVs, linear algebra, gradient descent.</a:t>
            </a:r>
          </a:p>
        </p:txBody>
      </p:sp>
      <p:sp>
        <p:nvSpPr>
          <p:cNvPr id="461" name="Shape 8"/>
          <p:cNvSpPr/>
          <p:nvPr/>
        </p:nvSpPr>
        <p:spPr>
          <a:xfrm>
            <a:off x="1143000" y="7448550"/>
            <a:ext cx="16002000" cy="933450"/>
          </a:xfrm>
          <a:prstGeom prst="roundRect">
            <a:avLst>
              <a:gd name="adj" fmla="val 14286"/>
            </a:avLst>
          </a:prstGeom>
          <a:solidFill>
            <a:srgbClr val="5D3527"/>
          </a:solidFill>
          <a:ln w="12700">
            <a:miter lim="400000"/>
          </a:ln>
        </p:spPr>
        <p:txBody>
          <a:bodyPr lIns="45719" rIns="45719"/>
          <a:lstStyle/>
          <a:p>
            <a:pPr/>
          </a:p>
        </p:txBody>
      </p:sp>
      <p:sp>
        <p:nvSpPr>
          <p:cNvPr id="462" name="Text 9"/>
          <p:cNvSpPr txBox="1"/>
          <p:nvPr/>
        </p:nvSpPr>
        <p:spPr>
          <a:xfrm>
            <a:off x="1485900" y="7715250"/>
            <a:ext cx="15796261" cy="438150"/>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40000"/>
              </a:lnSpc>
              <a:defRPr i="1" sz="2200">
                <a:solidFill>
                  <a:srgbClr val="FAF8ED"/>
                </a:solidFill>
                <a:latin typeface="Arial"/>
                <a:ea typeface="Arial"/>
                <a:cs typeface="Arial"/>
                <a:sym typeface="Arial"/>
              </a:defRPr>
            </a:lvl1pPr>
          </a:lstStyle>
          <a:p>
            <a:pPr/>
            <a:r>
              <a:t>Same conclusion from five different lenses - that's what makes the result trustworthy.</a:t>
            </a:r>
          </a:p>
        </p:txBody>
      </p:sp>
      <p:sp>
        <p:nvSpPr>
          <p:cNvPr id="463" name="Text 10"/>
          <p:cNvSpPr txBox="1"/>
          <p:nvPr/>
        </p:nvSpPr>
        <p:spPr>
          <a:xfrm>
            <a:off x="16570672" y="9572625"/>
            <a:ext cx="1222029" cy="333375"/>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z="1900">
                <a:solidFill>
                  <a:srgbClr val="7D4C3D">
                    <a:alpha val="85000"/>
                  </a:srgbClr>
                </a:solidFill>
                <a:latin typeface="Arial"/>
                <a:ea typeface="Arial"/>
                <a:cs typeface="Arial"/>
                <a:sym typeface="Arial"/>
              </a:defRPr>
            </a:lvl1pPr>
          </a:lstStyle>
          <a:p>
            <a:pPr/>
            <a:r>
              <a:t>Starbucks</a:t>
            </a:r>
          </a:p>
        </p:txBody>
      </p:sp>
      <p:sp>
        <p:nvSpPr>
          <p:cNvPr id="464" name="Text 11"/>
          <p:cNvSpPr txBox="1"/>
          <p:nvPr/>
        </p:nvSpPr>
        <p:spPr>
          <a:xfrm>
            <a:off x="571499" y="9591675"/>
            <a:ext cx="1042097" cy="314325"/>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pc="300">
                <a:solidFill>
                  <a:srgbClr val="7D4C3D">
                    <a:alpha val="55000"/>
                  </a:srgbClr>
                </a:solidFill>
                <a:latin typeface="Arial"/>
                <a:ea typeface="Arial"/>
                <a:cs typeface="Arial"/>
                <a:sym typeface="Arial"/>
              </a:defRPr>
            </a:lvl1pPr>
          </a:lstStyle>
          <a:p>
            <a:pPr/>
            <a:r>
              <a:t>15 / 16</a:t>
            </a:r>
          </a:p>
        </p:txBody>
      </p:sp>
    </p:spTree>
  </p:cSld>
  <p:clrMapOvr>
    <a:masterClrMapping/>
  </p:clrMapOvr>
  <p:transition xmlns:p14="http://schemas.microsoft.com/office/powerpoint/2010/main" spd="med" advClick="1"/>
</p:sld>
</file>

<file path=ppt/slides/slide1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AF8ED"/>
        </a:solidFill>
      </p:bgPr>
    </p:bg>
    <p:spTree>
      <p:nvGrpSpPr>
        <p:cNvPr id="1" name=""/>
        <p:cNvGrpSpPr/>
        <p:nvPr/>
      </p:nvGrpSpPr>
      <p:grpSpPr>
        <a:xfrm>
          <a:off x="0" y="0"/>
          <a:ext cx="0" cy="0"/>
          <a:chOff x="0" y="0"/>
          <a:chExt cx="0" cy="0"/>
        </a:xfrm>
      </p:grpSpPr>
      <p:sp>
        <p:nvSpPr>
          <p:cNvPr id="468" name="Shape 0"/>
          <p:cNvSpPr/>
          <p:nvPr/>
        </p:nvSpPr>
        <p:spPr>
          <a:xfrm>
            <a:off x="0" y="0"/>
            <a:ext cx="18288000" cy="10287000"/>
          </a:xfrm>
          <a:prstGeom prst="rect">
            <a:avLst/>
          </a:prstGeom>
          <a:solidFill>
            <a:srgbClr val="DBCBBB">
              <a:alpha val="55000"/>
            </a:srgbClr>
          </a:solidFill>
          <a:ln w="12700">
            <a:miter lim="400000"/>
          </a:ln>
        </p:spPr>
        <p:txBody>
          <a:bodyPr lIns="45719" rIns="45719"/>
          <a:lstStyle/>
          <a:p>
            <a:pPr/>
          </a:p>
        </p:txBody>
      </p:sp>
      <p:sp>
        <p:nvSpPr>
          <p:cNvPr id="469" name="Text 1"/>
          <p:cNvSpPr txBox="1"/>
          <p:nvPr/>
        </p:nvSpPr>
        <p:spPr>
          <a:xfrm>
            <a:off x="497426" y="571500"/>
            <a:ext cx="5086414" cy="313197"/>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gn="ctr" defTabSz="868680">
              <a:defRPr spc="475" sz="1710">
                <a:solidFill>
                  <a:srgbClr val="7D4C3D">
                    <a:alpha val="70000"/>
                  </a:srgbClr>
                </a:solidFill>
                <a:latin typeface="Arial"/>
                <a:ea typeface="Arial"/>
                <a:cs typeface="Arial"/>
                <a:sym typeface="Arial"/>
              </a:defRPr>
            </a:lvl1pPr>
          </a:lstStyle>
          <a:p>
            <a:pPr/>
            <a:r>
              <a:t>- END OF PRESENTATION -</a:t>
            </a:r>
          </a:p>
        </p:txBody>
      </p:sp>
      <p:pic>
        <p:nvPicPr>
          <p:cNvPr id="470" name="Image 0" descr="Image 0"/>
          <p:cNvPicPr>
            <a:picLocks noChangeAspect="1"/>
          </p:cNvPicPr>
          <p:nvPr/>
        </p:nvPicPr>
        <p:blipFill>
          <a:blip r:embed="rId3">
            <a:extLst/>
          </a:blip>
          <a:stretch>
            <a:fillRect/>
          </a:stretch>
        </p:blipFill>
        <p:spPr>
          <a:xfrm>
            <a:off x="3966864" y="3429000"/>
            <a:ext cx="4631235" cy="3429000"/>
          </a:xfrm>
          <a:prstGeom prst="rect">
            <a:avLst/>
          </a:prstGeom>
          <a:ln w="12700">
            <a:miter lim="400000"/>
          </a:ln>
        </p:spPr>
      </p:pic>
      <p:sp>
        <p:nvSpPr>
          <p:cNvPr id="471" name="Text 2"/>
          <p:cNvSpPr txBox="1"/>
          <p:nvPr/>
        </p:nvSpPr>
        <p:spPr>
          <a:xfrm>
            <a:off x="9169597" y="3200400"/>
            <a:ext cx="5306084" cy="3286125"/>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p>
            <a:pPr defTabSz="804672">
              <a:defRPr spc="-176" sz="11088">
                <a:solidFill>
                  <a:srgbClr val="5D3527"/>
                </a:solidFill>
                <a:latin typeface="Arial"/>
                <a:ea typeface="Arial"/>
                <a:cs typeface="Arial"/>
                <a:sym typeface="Arial"/>
              </a:defRPr>
            </a:pPr>
            <a:r>
              <a:t>Thanks </a:t>
            </a:r>
            <a:r>
              <a:rPr i="1">
                <a:solidFill>
                  <a:srgbClr val="7D4C3D"/>
                </a:solidFill>
              </a:rPr>
              <a:t>a </a:t>
            </a:r>
            <a:r>
              <a:t>latte.</a:t>
            </a:r>
          </a:p>
        </p:txBody>
      </p:sp>
      <p:sp>
        <p:nvSpPr>
          <p:cNvPr id="472" name="Text 3"/>
          <p:cNvSpPr txBox="1"/>
          <p:nvPr/>
        </p:nvSpPr>
        <p:spPr>
          <a:xfrm>
            <a:off x="9169597" y="6791325"/>
            <a:ext cx="5306084" cy="333375"/>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pc="500" sz="1900">
                <a:solidFill>
                  <a:srgbClr val="7D4C3D">
                    <a:alpha val="85000"/>
                  </a:srgbClr>
                </a:solidFill>
                <a:latin typeface="Arial"/>
                <a:ea typeface="Arial"/>
                <a:cs typeface="Arial"/>
                <a:sym typeface="Arial"/>
              </a:defRPr>
            </a:lvl1pPr>
          </a:lstStyle>
          <a:p>
            <a:pPr/>
            <a:r>
              <a:t>QUESTIONS · DISCUSSION</a:t>
            </a:r>
          </a:p>
        </p:txBody>
      </p:sp>
      <p:sp>
        <p:nvSpPr>
          <p:cNvPr id="473" name="Text 4"/>
          <p:cNvSpPr txBox="1"/>
          <p:nvPr/>
        </p:nvSpPr>
        <p:spPr>
          <a:xfrm>
            <a:off x="514388" y="9448800"/>
            <a:ext cx="3921694" cy="313197"/>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gn="ctr" defTabSz="868680">
              <a:defRPr sz="1710">
                <a:solidFill>
                  <a:srgbClr val="7D4C3D"/>
                </a:solidFill>
                <a:latin typeface="Arial"/>
                <a:ea typeface="Arial"/>
                <a:cs typeface="Arial"/>
                <a:sym typeface="Arial"/>
              </a:defRPr>
            </a:lvl1pPr>
          </a:lstStyle>
          <a:p>
            <a:pPr/>
            <a:r>
              <a:t>Naman · Priya · Sanjana · Varuna</a:t>
            </a:r>
          </a:p>
        </p:txBody>
      </p:sp>
      <p:sp>
        <p:nvSpPr>
          <p:cNvPr id="474" name="Text 5"/>
          <p:cNvSpPr txBox="1"/>
          <p:nvPr/>
        </p:nvSpPr>
        <p:spPr>
          <a:xfrm>
            <a:off x="13237252" y="9448800"/>
            <a:ext cx="4545444" cy="313197"/>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gn="ctr" defTabSz="868680">
              <a:defRPr sz="1710">
                <a:solidFill>
                  <a:srgbClr val="7D4C3D"/>
                </a:solidFill>
                <a:latin typeface="Arial"/>
                <a:ea typeface="Arial"/>
                <a:cs typeface="Arial"/>
                <a:sym typeface="Arial"/>
              </a:defRPr>
            </a:lvl1pPr>
          </a:lstStyle>
          <a:p>
            <a:pPr/>
            <a:r>
              <a:t>DATA 202 · Final Submission · May 2026</a:t>
            </a:r>
          </a:p>
        </p:txBody>
      </p:sp>
    </p:spTree>
  </p:cSld>
  <p:clrMapOvr>
    <a:masterClrMapping/>
  </p:clrMapOvr>
  <p:transition xmlns:p14="http://schemas.microsoft.com/office/powerpoint/2010/main" spd="med" advClick="1"/>
</p:sld>
</file>

<file path=ppt/theme/theme1.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A7A7A7"/>
      </a:dk2>
      <a:lt2>
        <a:srgbClr val="535353"/>
      </a:lt2>
      <a:accent1>
        <a:srgbClr val="4472C4"/>
      </a:accent1>
      <a:accent2>
        <a:srgbClr val="ED7D31"/>
      </a:accent2>
      <a:accent3>
        <a:srgbClr val="A5A5A5"/>
      </a:accent3>
      <a:accent4>
        <a:srgbClr val="FFC000"/>
      </a:accent4>
      <a:accent5>
        <a:srgbClr val="5B9BD5"/>
      </a:accent5>
      <a:accent6>
        <a:srgbClr val="70AD47"/>
      </a:accent6>
      <a:hlink>
        <a:srgbClr val="0000FF"/>
      </a:hlink>
      <a:folHlink>
        <a:srgbClr val="FF00FF"/>
      </a:folHlink>
    </a:clrScheme>
    <a:fontScheme name="Office Theme">
      <a:majorFont>
        <a:latin typeface="Calibri"/>
        <a:ea typeface="Calibri"/>
        <a:cs typeface="Calibri"/>
      </a:majorFont>
      <a:minorFont>
        <a:latin typeface="Helvetica"/>
        <a:ea typeface="Helvetica"/>
        <a:cs typeface="Helvetica"/>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12700" cap="flat">
          <a:solidFill>
            <a:schemeClr val="accent1"/>
          </a:solidFill>
          <a:prstDash val="solid"/>
          <a:miter lim="800000"/>
        </a:ln>
        <a:effectLst/>
        <a:sp3d/>
      </a:spPr>
      <a:bodyPr rot="0" spcFirstLastPara="1" vertOverflow="overflow" horzOverflow="overflow" vert="horz" wrap="square" lIns="45719" tIns="45719" rIns="45719" bIns="45719" numCol="1" spcCol="38100" rtlCol="0" anchor="ctr"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12700" cap="flat">
          <a:solidFill>
            <a:schemeClr val="accent1"/>
          </a:solidFill>
          <a:prstDash val="solid"/>
          <a:miter lim="800000"/>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ppt/theme/theme2.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A7A7A7"/>
      </a:dk2>
      <a:lt2>
        <a:srgbClr val="535353"/>
      </a:lt2>
      <a:accent1>
        <a:srgbClr val="4472C4"/>
      </a:accent1>
      <a:accent2>
        <a:srgbClr val="ED7D31"/>
      </a:accent2>
      <a:accent3>
        <a:srgbClr val="A5A5A5"/>
      </a:accent3>
      <a:accent4>
        <a:srgbClr val="FFC000"/>
      </a:accent4>
      <a:accent5>
        <a:srgbClr val="5B9BD5"/>
      </a:accent5>
      <a:accent6>
        <a:srgbClr val="70AD47"/>
      </a:accent6>
      <a:hlink>
        <a:srgbClr val="0000FF"/>
      </a:hlink>
      <a:folHlink>
        <a:srgbClr val="FF00FF"/>
      </a:folHlink>
    </a:clrScheme>
    <a:fontScheme name="Office Theme">
      <a:majorFont>
        <a:latin typeface="Calibri"/>
        <a:ea typeface="Calibri"/>
        <a:cs typeface="Calibri"/>
      </a:majorFont>
      <a:minorFont>
        <a:latin typeface="Helvetica"/>
        <a:ea typeface="Helvetica"/>
        <a:cs typeface="Helvetica"/>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12700" cap="flat">
          <a:solidFill>
            <a:schemeClr val="accent1"/>
          </a:solidFill>
          <a:prstDash val="solid"/>
          <a:miter lim="800000"/>
        </a:ln>
        <a:effectLst/>
        <a:sp3d/>
      </a:spPr>
      <a:bodyPr rot="0" spcFirstLastPara="1" vertOverflow="overflow" horzOverflow="overflow" vert="horz" wrap="square" lIns="45719" tIns="45719" rIns="45719" bIns="45719" numCol="1" spcCol="38100" rtlCol="0" anchor="ctr"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12700" cap="flat">
          <a:solidFill>
            <a:schemeClr val="accent1"/>
          </a:solidFill>
          <a:prstDash val="solid"/>
          <a:miter lim="800000"/>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docProps/app.xml><?xml version="1.0" encoding="utf-8"?>
<Properties xmlns="http://schemas.openxmlformats.org/officeDocument/2006/extended-properties" xmlns:vt="http://schemas.openxmlformats.org/officeDocument/2006/docPropsVTypes"/>
</file>

<file path=docProps/core.xml><?xml version="1.0" encoding="utf-8"?>
<cp:coreProperties xmlns:cp="http://schemas.openxmlformats.org/package/2006/metadata/core-properties" xmlns:dc="http://purl.org/dc/elements/1.1/" xmlns:dcterms="http://purl.org/dc/terms/" xmlns:xsi="http://www.w3.org/2001/XMLSchema-instance"/>
</file>